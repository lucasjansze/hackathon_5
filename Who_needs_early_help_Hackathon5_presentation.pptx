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52" d="100"/>
          <a:sy n="152" d="100"/>
        </p:scale>
        <p:origin x="7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c:style val="2"/>
  <c:chart>
    <c:autoTitleDeleted val="1"/>
    <c:plotArea>
      <c:layout/>
      <c:barChart>
        <c:barDir val="col"/>
        <c:grouping val="clustered"/>
        <c:varyColors val="0"/>
        <c:ser>
          <c:idx val="0"/>
          <c:order val="0"/>
          <c:tx>
            <c:strRef>
              <c:f>Sheet1!$B$1</c:f>
              <c:strCache>
                <c:ptCount val="1"/>
                <c:pt idx="0">
                  <c:v>Still without work after a year</c:v>
                </c:pt>
              </c:strCache>
            </c:strRef>
          </c:tx>
          <c:spPr>
            <a:solidFill>
              <a:srgbClr val="1F4E79"/>
            </a:solidFill>
            <a:effectLst/>
          </c:spPr>
          <c:invertIfNegative val="0"/>
          <c:dLbls>
            <c:numFmt formatCode="0&quot;%&quot;" sourceLinked="0"/>
            <c:spPr>
              <a:noFill/>
              <a:ln>
                <a:noFill/>
              </a:ln>
              <a:effectLst/>
            </c:spPr>
            <c:txPr>
              <a:bodyPr/>
              <a:lstStyle/>
              <a:p>
                <a:pPr>
                  <a:defRPr sz="1200" b="1" i="0" u="none" strike="noStrike">
                    <a:solidFill>
                      <a:srgbClr val="1F4E79"/>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18-29</c:v>
                </c:pt>
                <c:pt idx="1">
                  <c:v>30-49</c:v>
                </c:pt>
                <c:pt idx="2">
                  <c:v>50-66</c:v>
                </c:pt>
              </c:strCache>
            </c:strRef>
          </c:cat>
          <c:val>
            <c:numRef>
              <c:f>Sheet1!$B$2:$B$4</c:f>
              <c:numCache>
                <c:formatCode>General</c:formatCode>
                <c:ptCount val="3"/>
                <c:pt idx="0">
                  <c:v>25</c:v>
                </c:pt>
                <c:pt idx="1">
                  <c:v>36</c:v>
                </c:pt>
                <c:pt idx="2">
                  <c:v>53</c:v>
                </c:pt>
              </c:numCache>
            </c:numRef>
          </c:val>
          <c:extLst>
            <c:ext xmlns:c16="http://schemas.microsoft.com/office/drawing/2014/chart" uri="{C3380CC4-5D6E-409C-BE32-E72D297353CC}">
              <c16:uniqueId val="{00000000-DA19-4351-8ADA-D91D3DE2BEF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6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c:style val="2"/>
  <c:chart>
    <c:autoTitleDeleted val="1"/>
    <c:plotArea>
      <c:layout/>
      <c:barChart>
        <c:barDir val="col"/>
        <c:grouping val="clustered"/>
        <c:varyColors val="0"/>
        <c:ser>
          <c:idx val="0"/>
          <c:order val="0"/>
          <c:tx>
            <c:strRef>
              <c:f>Sheet1!$B$1</c:f>
              <c:strCache>
                <c:ptCount val="1"/>
                <c:pt idx="0">
                  <c:v>Test set</c:v>
                </c:pt>
              </c:strCache>
            </c:strRef>
          </c:tx>
          <c:spPr>
            <a:solidFill>
              <a:srgbClr val="1F4E79"/>
            </a:solidFill>
            <a:effectLst/>
          </c:spPr>
          <c:invertIfNegative val="0"/>
          <c:dLbls>
            <c:numFmt formatCode="0.00" sourceLinked="0"/>
            <c:spPr>
              <a:noFill/>
              <a:ln>
                <a:noFill/>
              </a:ln>
              <a:effectLst/>
            </c:spPr>
            <c:txPr>
              <a:bodyPr/>
              <a:lstStyle/>
              <a:p>
                <a:pPr>
                  <a:defRPr sz="105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18-29</c:v>
                </c:pt>
                <c:pt idx="1">
                  <c:v>30-49</c:v>
                </c:pt>
                <c:pt idx="2">
                  <c:v>50-66</c:v>
                </c:pt>
              </c:strCache>
            </c:strRef>
          </c:cat>
          <c:val>
            <c:numRef>
              <c:f>Sheet1!$B$2:$B$4</c:f>
              <c:numCache>
                <c:formatCode>General</c:formatCode>
                <c:ptCount val="3"/>
                <c:pt idx="0">
                  <c:v>0.28999999999999998</c:v>
                </c:pt>
                <c:pt idx="1">
                  <c:v>0.5</c:v>
                </c:pt>
                <c:pt idx="2">
                  <c:v>0.85</c:v>
                </c:pt>
              </c:numCache>
            </c:numRef>
          </c:val>
          <c:extLst>
            <c:ext xmlns:c16="http://schemas.microsoft.com/office/drawing/2014/chart" uri="{C3380CC4-5D6E-409C-BE32-E72D297353CC}">
              <c16:uniqueId val="{00000000-7727-431F-A65D-F2AE7839B36D}"/>
            </c:ext>
          </c:extLst>
        </c:ser>
        <c:ser>
          <c:idx val="1"/>
          <c:order val="1"/>
          <c:tx>
            <c:strRef>
              <c:f>Sheet1!$C$1</c:f>
              <c:strCache>
                <c:ptCount val="1"/>
                <c:pt idx="0">
                  <c:v>Cross-validation</c:v>
                </c:pt>
              </c:strCache>
            </c:strRef>
          </c:tx>
          <c:spPr>
            <a:solidFill>
              <a:srgbClr val="9DC3E6"/>
            </a:solidFill>
            <a:effectLst/>
          </c:spPr>
          <c:invertIfNegative val="0"/>
          <c:dLbls>
            <c:numFmt formatCode="0.00" sourceLinked="0"/>
            <c:spPr>
              <a:noFill/>
              <a:ln>
                <a:noFill/>
              </a:ln>
              <a:effectLst/>
            </c:spPr>
            <c:txPr>
              <a:bodyPr/>
              <a:lstStyle/>
              <a:p>
                <a:pPr>
                  <a:defRPr sz="105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18-29</c:v>
                </c:pt>
                <c:pt idx="1">
                  <c:v>30-49</c:v>
                </c:pt>
                <c:pt idx="2">
                  <c:v>50-66</c:v>
                </c:pt>
              </c:strCache>
            </c:strRef>
          </c:cat>
          <c:val>
            <c:numRef>
              <c:f>Sheet1!$C$2:$C$4</c:f>
              <c:numCache>
                <c:formatCode>General</c:formatCode>
                <c:ptCount val="3"/>
                <c:pt idx="0">
                  <c:v>0.15</c:v>
                </c:pt>
                <c:pt idx="1">
                  <c:v>0.5</c:v>
                </c:pt>
                <c:pt idx="2">
                  <c:v>0.85</c:v>
                </c:pt>
              </c:numCache>
            </c:numRef>
          </c:val>
          <c:extLst>
            <c:ext xmlns:c16="http://schemas.microsoft.com/office/drawing/2014/chart" uri="{C3380CC4-5D6E-409C-BE32-E72D297353CC}">
              <c16:uniqueId val="{00000001-7727-431F-A65D-F2AE7839B36D}"/>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00000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0404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Lucas
TARGET TIME: 0:15 (running total 0:15)
Hi, we are Lucas and Minhyeok. Our project is called Who needs early help. We built a model that predicts, at the moment someone loses their job, whether they are still without work a year later.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Lucas
TARGET TIME: 1:20 (running total 1:35)
When you lose your job in the Netherlands, you apply for WW, the unemployment benefit, at UWV. At the end of 2025 there were 191,500 running WW benefits.
UWV cannot talk to everyone in the first weeks. So an algorithm, the Werkverkenner, estimates your chance of being back at work within a year. With a low chance you get a conversation with a work coach soon. With a good chance you start online, and your first conversation is in the seventh month.
The algorithm is right for about 70 percent of people, so three in ten get the wrong prediction. If you are predicted to find work fast and you do not, you can wait half a year for help. UWV does not publish who those three in ten are. That is our problem.
This is SDG 8, target 8.5: decent work for all, including young people and people with disabilities. It is about getting people back into work. And "for all" is why we check the model per group. The people who benefit are job seekers who would otherwise be seen too late.
OUR THREE QUESTIONS (only if asked):
1. At the moment someone loses their job, and using only what is known at that moment, can we predict who will still not be back in paid work twelve months later?
2. Does the model make the same mistakes for everyone?
3. What does that tell us about sorting job seekers with a model: how accurate can it be, and is it realistic and ethical?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Minhyeok
TARGET TIME: 1:00 (running total 2:35)
Our user is the UWV work coach who handles new WW claimants. In the year UWV studied, 179,840 people started a benefit. More than 90 percent of the low scorers get a conversation, against 52 percent of the high scorers.
Coaches do not follow the score blindly. About three in ten high scorers are invited earlier, because the coach thinks their chances are worse than the score says. So a coach needs a score they can explain, and can disagree with.
The model is about people aged 18 to 66 who just lost their job. In our data 25 percent of the youngest group is still without work after a year, and 53 percent of the oldest.
It is not for employers, not for fraud teams and not for municipalities. And people who do not read Dutch well are hardly in our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Minhyeok
TARGET TIME: 0:50 (running total 3:25)
This is how we get from raw data to a prediction. LISS is a Dutch panel that asks the same people every month what their main activity is. We look for the month where someone goes from paid work to job seeker. That gives 2,019 job losses.
For each one we take 22 features, all from before the job loss. Then we split by person: 1,614 rows to train and 405 to test.
From there everything is scikit-learn. One pipeline imputes, scales and one-hot encodes. GridSearchCV tunes KNN, logistic regression and a random forest on the same five folds. We test once and check per group.
The input is what is known at intake. The output is a probability and an advice.
IF A TEACHER ASKS HOW WE USED SCIKIT-LEARN:
Everything after loading the data is scikit-learn. StratifiedGroupKFold makes the test split and the folds, so one person never ends up on both sides. The Pipeline with a ColumnTransformer learns imputing, scaling and encoding from training data only. GridSearchCV tunes all three models on the same folds and the same metric, which makes the comparison fair. DummyClassifier gives the baseline, cross_val_predict gives the probabilities for the threshold, and sklearn.metrics gives the confusion matrices and scores.
IF A TEACHER ASKS ABOUT AI ASSISTANTS:
[Fill in ourselves: which assistant we used and for what. The README and the notebook do not say, so this is not written for us.] The assignment rule we follow: every choice in the notebook is ours, and we can explain every line.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Lucas
TARGET TIME: 1:10 (running total 4:35)
Here is the comparison. Our main metric is balanced accuracy, because inviting nobody and inviting everybody both score 0.5 on it.
The first row is the dummy, which never invites anyone. Then two rules without machine learning: invite everyone aged 50 or older, and the same rule with the best cutoff from cross-validation, which is 40.
Then our three models. KNN is the weakest. On the test set it scores below both age rules. Logistic regression and random forest are equal in cross-validation: 0.640 and 0.642. That difference is much smaller than the spread over the folds. We agreed beforehand to take the model we can explain when two are equally good. So we recommend the logistic regression. It also holds up better on the test set.
But look at the age 40 row. The rule scores 0.602 and our model 0.620. So our best model is only a little better than one question about age.
MOST LIKELY QUESTION: Why the logistic regression, when the random forest has the higher cross-validation score?
ANSWER: The difference is 0.002 and the spread over the folds is about 0.02, so the two are equally good. We take the one a coach can explain, and it overfits less: 0.620 against 0.593 on the test set.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Lucas (matrix and groups, about 1:00), then Minhyeok (live prediction, about 1:30)
TARGET TIME: 2:30 (running total 7:05)
LUCAS, about 1:00:
This is the confusion matrix of the logistic regression on the 405 test cases. 153 people were correctly predicted to be back in work. 98 were correctly predicted to be long-term unemployed. 94 are extra invites: they get a conversation they did not need. 60 are missed. They wait until month seven, and that is the worse mistake.
Who are those 60? Mostly young people. Of the long-term unemployed aged 50 to 66 the model finds 85 percent. Of those aged 18 to 29 it finds 29 percent on the test set, and only 15 percent in cross-validation. The gap shows up both times, so we trust it. The gap between men and women on the test set mostly disappeared on more data.
Now Minhyeok runs one live prediction.
MINHYEOK, about 1:30 (switch to the notebook, step 10):
The job seeker in step 10 is made up, she is not a person from the data. She is 58, lives alone, worked twelve years in retail on a temporary contract, and has a long-standing disease.
I run the cell. The model gives a probability of 82 percent that she is still without work after a year. That is above the threshold of 0.35, so the advice is to invite her early.
The last two lines are the reason we chose this model. Her age, her long-standing disease and twelve years with the same employer raise the score most. Her administrative occupation, her household size and her income lower it. A coach can check these reasons in the conversation, and disagree with the score.
(If the notebook does not run: the saved output is on the slide. Then back to the slides.)
MOST LIKELY QUESTION: Why is the threshold 0.35 in the live prediction and 0.5 in the matrix?
ANSWER: 0.5 is the default and what the comparison table uses. We advise 0.35 if UWV can see about seven in ten people early: it finds 80 percent of the long-term cases instead of 62, but it invites 72 percent of everyone instead of 47.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Minhyeok
TARGET TIME: 1:00 (running total 8:05)
Why not something simpler? A coach could invite everyone aged 50 or older. At about the same workload that rule finds 65 of the 158 long-term cases, and our model finds 78. So there the model is better.
But a coach could also invite everyone aged 40 or older. That rule finds 107 and the model 114, for 18 more invitations. That is about the same.
So what does the model add? A reason a coach can discuss, and a threshold that can follow capacity in small steps.
The decision we defend hardest is splitting by person. 352 people lost a job more than once. With a normal split the model could recognise them, and the test score would be too high without any error message. Every other number we show depends on this.
MOST LIKELY QUESTION: If the age rule is about as good, why use machine learning at all?
ANSWER: On accuracy we do not have a strong case, and we say so. The model can invite a 32-year-old with a long-standing disease, which an age rule never does, and it gives reasons a coach can discuss.
ALSO IF ASKED, why balanced accuracy: a missed person waits months for help, an extra conversation costs a coach some time. Balanced accuracy stops a model from looking good by inviting nobody or everybody.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Lucas
TARGET TIME: 1:15 (running total 9:20)
Three risks, from the side of the job seeker.
One: the model misses young people who get stuck. They wait until month seven. So our rule is that a score may only add help, and a coach can always invite someone.
Two: scoring people on where they were born. We left migration background out of the model. It did not make the model better. We still check the results per origin group. By the same rule gender should come out too. We found that at the end and did not rebuild the model, so it is the first change for a next version.
Three: health is private. So answering has to be voluntary, and declining can never lower your chance of an invitation.
Would we hand this to UWV? Not as it is. A model on intake information is a weak tool. It is only a little better than a simple rule, so it may only add help.
Thank you. Are there any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4E7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91440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r>
              <a:rPr lang="en-US" sz="4800" b="1" dirty="0">
                <a:solidFill>
                  <a:schemeClr val="bg1"/>
                </a:solidFill>
              </a:rPr>
              <a:t>Title</a:t>
            </a:r>
            <a:endParaRPr lang="en-US" sz="4800" dirty="0"/>
          </a:p>
        </p:txBody>
      </p:sp>
      <p:sp>
        <p:nvSpPr>
          <p:cNvPr id="3" name="Text 0"/>
          <p:cNvSpPr>
            <a:spLocks noGrp="1"/>
          </p:cNvSpPr>
          <p:nvPr>
            <p:ph type="body" idx="101" hasCustomPrompt="1"/>
          </p:nvPr>
        </p:nvSpPr>
        <p:spPr>
          <a:xfrm>
            <a:off x="548640" y="2377440"/>
            <a:ext cx="6949440" cy="822960"/>
          </a:xfrm>
          <a:prstGeom prst="rect">
            <a:avLst/>
          </a:prstGeom>
          <a:noFill/>
          <a:ln/>
        </p:spPr>
        <p:txBody>
          <a:bodyPr wrap="square" rtlCol="0"/>
          <a:lstStyle>
            <a:lvl1pPr marL="0" indent="0" algn="l">
              <a:buNone/>
              <a:defRPr lang="en-US" sz="1800" dirty="0">
                <a:solidFill>
                  <a:schemeClr val="bg1"/>
                </a:solidFill>
              </a:defRPr>
            </a:lvl1pPr>
          </a:lstStyle>
          <a:p>
            <a:pPr marL="0" indent="0" algn="l">
              <a:buNone/>
            </a:pPr>
            <a:r>
              <a:rPr lang="en-US" sz="1800" dirty="0">
                <a:solidFill>
                  <a:schemeClr val="bg1"/>
                </a:solidFill>
              </a:rPr>
              <a:t>Subtitle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rtlCol="0"/>
          <a:lstStyle>
            <a:lvl1pPr marL="0" indent="0" algn="l">
              <a:buNone/>
              <a:defRPr lang="en-US" sz="1000" b="1" kern="0" spc="150" dirty="0">
                <a:solidFill>
                  <a:schemeClr val="accent1"/>
                </a:solidFill>
                <a:latin typeface="Arial" pitchFamily="34" charset="0"/>
                <a:ea typeface="Arial" pitchFamily="34" charset="-122"/>
                <a:cs typeface="Arial" pitchFamily="34" charset="-120"/>
              </a:defRPr>
            </a:lvl1pP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rtlCol="0"/>
          <a:lstStyle>
            <a:lvl1pPr marL="0" indent="0" algn="l">
              <a:buNone/>
              <a:defRPr lang="en-US" sz="2400" b="1" dirty="0">
                <a:solidFill>
                  <a:schemeClr val="tx1"/>
                </a:solidFill>
              </a:defRPr>
            </a:lvl1pPr>
          </a:lstStyle>
          <a:p>
            <a:pPr marL="0" indent="0" algn="l">
              <a:buNone/>
            </a:pPr>
            <a:r>
              <a:rPr lang="en-US" sz="2400" b="1" dirty="0">
                <a:solidFill>
                  <a:schemeClr val="tx1"/>
                </a:solidFill>
              </a:rPr>
              <a:t>Headline</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rtlCol="0"/>
          <a:lstStyle>
            <a:lvl1pPr marL="0" indent="0" algn="l">
              <a:buNone/>
              <a:defRPr lang="en-US" sz="900" dirty="0">
                <a:solidFill>
                  <a:schemeClr val="accent3"/>
                </a:solidFill>
              </a:defRPr>
            </a:lvl1pPr>
          </a:lstStyle>
          <a:p>
            <a:pPr marL="0" indent="0" algn="l">
              <a:buNone/>
            </a:pPr>
            <a:r>
              <a:rPr lang="en-US" sz="900" dirty="0">
                <a:solidFill>
                  <a:schemeClr val="accent3"/>
                </a:solidFill>
              </a:rPr>
              <a:t>Sources</a:t>
            </a:r>
            <a:endParaRPr lang="en-US" sz="900" dirty="0"/>
          </a:p>
        </p:txBody>
      </p:sp>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914400"/>
          </a:xfrm>
          <a:prstGeom prst="rect">
            <a:avLst/>
          </a:prstGeom>
          <a:noFill/>
          <a:ln/>
        </p:spPr>
        <p:txBody>
          <a:bodyPr wrap="square" lIns="0" tIns="0" rIns="0" bIns="0" rtlCol="0" anchor="ctr"/>
          <a:lstStyle/>
          <a:p>
            <a:pPr marL="0" indent="0" algn="l">
              <a:buNone/>
            </a:pPr>
            <a:r>
              <a:rPr lang="en-US" sz="4800" b="1" dirty="0">
                <a:solidFill>
                  <a:schemeClr val="bg1"/>
                </a:solidFill>
              </a:rPr>
              <a:t>Who needs early help?</a:t>
            </a:r>
            <a:endParaRPr lang="en-US" sz="4800" dirty="0"/>
          </a:p>
        </p:txBody>
      </p:sp>
      <p:sp>
        <p:nvSpPr>
          <p:cNvPr id="3" name="Text 0"/>
          <p:cNvSpPr>
            <a:spLocks noGrp="1"/>
          </p:cNvSpPr>
          <p:nvPr>
            <p:ph type="body" idx="101" hasCustomPrompt="1"/>
          </p:nvPr>
        </p:nvSpPr>
        <p:spPr>
          <a:xfrm>
            <a:off x="548640" y="2377440"/>
            <a:ext cx="6949440" cy="822960"/>
          </a:xfrm>
          <a:prstGeom prst="rect">
            <a:avLst/>
          </a:prstGeom>
          <a:noFill/>
          <a:ln/>
        </p:spPr>
        <p:txBody>
          <a:bodyPr wrap="square" lIns="0" tIns="0" rIns="0" bIns="0" rtlCol="0" anchor="t"/>
          <a:lstStyle/>
          <a:p>
            <a:pPr marL="0" indent="0" algn="l">
              <a:buNone/>
            </a:pPr>
            <a:r>
              <a:rPr lang="en-US" sz="1800" dirty="0">
                <a:solidFill>
                  <a:schemeClr val="bg1"/>
                </a:solidFill>
              </a:rPr>
              <a:t>A scikit-learn model that predicts, at the moment someone loses their job, whether they are still without work a year later</a:t>
            </a:r>
            <a:endParaRPr lang="en-US" sz="1800" dirty="0"/>
          </a:p>
        </p:txBody>
      </p:sp>
      <p:sp>
        <p:nvSpPr>
          <p:cNvPr id="4" name="text 1"/>
          <p:cNvSpPr txBox="1"/>
          <p:nvPr/>
        </p:nvSpPr>
        <p:spPr>
          <a:xfrm>
            <a:off x="548640" y="3840480"/>
            <a:ext cx="7315200" cy="320040"/>
          </a:xfrm>
          <a:prstGeom prst="rect">
            <a:avLst/>
          </a:prstGeom>
          <a:noFill/>
          <a:ln/>
        </p:spPr>
        <p:txBody>
          <a:bodyPr wrap="square" lIns="0" tIns="0" rIns="0" bIns="0" rtlCol="0" anchor="t"/>
          <a:lstStyle/>
          <a:p>
            <a:pPr marL="0" indent="0">
              <a:buNone/>
            </a:pPr>
            <a:r>
              <a:rPr lang="en-US" sz="1600" b="1" dirty="0">
                <a:solidFill>
                  <a:schemeClr val="bg1"/>
                </a:solidFill>
              </a:rPr>
              <a:t>Lucas Jansze  &amp;  Minhyeok Sung</a:t>
            </a:r>
            <a:endParaRPr lang="en-US" sz="1600" dirty="0"/>
          </a:p>
        </p:txBody>
      </p:sp>
      <p:sp>
        <p:nvSpPr>
          <p:cNvPr id="5" name="text 2"/>
          <p:cNvSpPr txBox="1"/>
          <p:nvPr/>
        </p:nvSpPr>
        <p:spPr>
          <a:xfrm>
            <a:off x="548640" y="4206240"/>
            <a:ext cx="8046720" cy="274320"/>
          </a:xfrm>
          <a:prstGeom prst="rect">
            <a:avLst/>
          </a:prstGeom>
          <a:noFill/>
          <a:ln/>
        </p:spPr>
        <p:txBody>
          <a:bodyPr wrap="square" lIns="0" tIns="0" rIns="0" bIns="0" rtlCol="0" anchor="t"/>
          <a:lstStyle/>
          <a:p>
            <a:pPr marL="0" indent="0">
              <a:buNone/>
            </a:pPr>
            <a:r>
              <a:rPr lang="en-US" sz="1200" dirty="0">
                <a:solidFill>
                  <a:schemeClr val="accent2"/>
                </a:solidFill>
              </a:rPr>
              <a:t>AI for Good · Hackathon 5: Model Showdown · SDG 8 · scikit-learn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1 · PROBLEM DEFINITION     K2 · SDG RELEVANCE</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Some who get stuck are not seen until month seven</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Sources: UWV (2026) · UWV (2018) · UWV (2022) · United Nations, SDG 8, target 8.5</a:t>
            </a:r>
            <a:endParaRPr lang="en-US" sz="900" dirty="0"/>
          </a:p>
        </p:txBody>
      </p:sp>
      <p:sp>
        <p:nvSpPr>
          <p:cNvPr id="5" name="text 3"/>
          <p:cNvSpPr txBox="1"/>
          <p:nvPr/>
        </p:nvSpPr>
        <p:spPr>
          <a:xfrm>
            <a:off x="457200" y="1234440"/>
            <a:ext cx="914400" cy="365760"/>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WHAT</a:t>
            </a:r>
            <a:endParaRPr lang="en-US" sz="1000" dirty="0"/>
          </a:p>
        </p:txBody>
      </p:sp>
      <p:sp>
        <p:nvSpPr>
          <p:cNvPr id="6" name="text 4"/>
          <p:cNvSpPr txBox="1"/>
          <p:nvPr/>
        </p:nvSpPr>
        <p:spPr>
          <a:xfrm>
            <a:off x="1371600" y="1234440"/>
            <a:ext cx="4526280" cy="365760"/>
          </a:xfrm>
          <a:prstGeom prst="rect">
            <a:avLst/>
          </a:prstGeom>
          <a:noFill/>
          <a:ln/>
        </p:spPr>
        <p:txBody>
          <a:bodyPr wrap="square" lIns="0" tIns="0" rIns="0" bIns="0" rtlCol="0" anchor="ctr"/>
          <a:lstStyle/>
          <a:p>
            <a:pPr marL="0" indent="0">
              <a:buNone/>
            </a:pPr>
            <a:r>
              <a:rPr lang="en-US" sz="1200" dirty="0">
                <a:solidFill>
                  <a:schemeClr val="tx1"/>
                </a:solidFill>
              </a:rPr>
              <a:t>UWV's algorithm sorts new claimants. A wrong "finds work quickly" means no early conversation.</a:t>
            </a:r>
            <a:endParaRPr lang="en-US" sz="1200" dirty="0"/>
          </a:p>
        </p:txBody>
      </p:sp>
      <p:sp>
        <p:nvSpPr>
          <p:cNvPr id="7" name="text 5"/>
          <p:cNvSpPr txBox="1"/>
          <p:nvPr/>
        </p:nvSpPr>
        <p:spPr>
          <a:xfrm>
            <a:off x="457200" y="1664208"/>
            <a:ext cx="914400" cy="365760"/>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FOR WHOM</a:t>
            </a:r>
            <a:endParaRPr lang="en-US" sz="1000" dirty="0"/>
          </a:p>
        </p:txBody>
      </p:sp>
      <p:sp>
        <p:nvSpPr>
          <p:cNvPr id="8" name="text 6"/>
          <p:cNvSpPr txBox="1"/>
          <p:nvPr/>
        </p:nvSpPr>
        <p:spPr>
          <a:xfrm>
            <a:off x="1371600" y="1664208"/>
            <a:ext cx="4526280" cy="365760"/>
          </a:xfrm>
          <a:prstGeom prst="rect">
            <a:avLst/>
          </a:prstGeom>
          <a:noFill/>
          <a:ln/>
        </p:spPr>
        <p:txBody>
          <a:bodyPr wrap="square" lIns="0" tIns="0" rIns="0" bIns="0" rtlCol="0" anchor="ctr"/>
          <a:lstStyle/>
          <a:p>
            <a:pPr marL="0" indent="0">
              <a:buNone/>
            </a:pPr>
            <a:r>
              <a:rPr lang="en-US" sz="1200" dirty="0">
                <a:solidFill>
                  <a:schemeClr val="tx1"/>
                </a:solidFill>
              </a:rPr>
              <a:t>People who just lost their job and are still without work a year later.</a:t>
            </a:r>
            <a:endParaRPr lang="en-US" sz="1200" dirty="0"/>
          </a:p>
        </p:txBody>
      </p:sp>
      <p:sp>
        <p:nvSpPr>
          <p:cNvPr id="9" name="text 7"/>
          <p:cNvSpPr txBox="1"/>
          <p:nvPr/>
        </p:nvSpPr>
        <p:spPr>
          <a:xfrm>
            <a:off x="457200" y="2093976"/>
            <a:ext cx="914400" cy="365760"/>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WHERE</a:t>
            </a:r>
            <a:endParaRPr lang="en-US" sz="1000" dirty="0"/>
          </a:p>
        </p:txBody>
      </p:sp>
      <p:sp>
        <p:nvSpPr>
          <p:cNvPr id="10" name="text 8"/>
          <p:cNvSpPr txBox="1"/>
          <p:nvPr/>
        </p:nvSpPr>
        <p:spPr>
          <a:xfrm>
            <a:off x="1371600" y="2093976"/>
            <a:ext cx="4526280" cy="365760"/>
          </a:xfrm>
          <a:prstGeom prst="rect">
            <a:avLst/>
          </a:prstGeom>
          <a:noFill/>
          <a:ln/>
        </p:spPr>
        <p:txBody>
          <a:bodyPr wrap="square" lIns="0" tIns="0" rIns="0" bIns="0" rtlCol="0" anchor="ctr"/>
          <a:lstStyle/>
          <a:p>
            <a:pPr marL="0" indent="0">
              <a:buNone/>
            </a:pPr>
            <a:r>
              <a:rPr lang="en-US" sz="1200" dirty="0">
                <a:solidFill>
                  <a:schemeClr val="tx1"/>
                </a:solidFill>
              </a:rPr>
              <a:t>The Netherlands: UWV and its unemployment benefit (WW).</a:t>
            </a:r>
            <a:endParaRPr lang="en-US" sz="1200" dirty="0"/>
          </a:p>
        </p:txBody>
      </p:sp>
      <p:sp>
        <p:nvSpPr>
          <p:cNvPr id="11" name="text 9"/>
          <p:cNvSpPr txBox="1"/>
          <p:nvPr/>
        </p:nvSpPr>
        <p:spPr>
          <a:xfrm>
            <a:off x="457200" y="2523744"/>
            <a:ext cx="914400" cy="365760"/>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WHEN</a:t>
            </a:r>
            <a:endParaRPr lang="en-US" sz="1000" dirty="0"/>
          </a:p>
        </p:txBody>
      </p:sp>
      <p:sp>
        <p:nvSpPr>
          <p:cNvPr id="12" name="text 10"/>
          <p:cNvSpPr txBox="1"/>
          <p:nvPr/>
        </p:nvSpPr>
        <p:spPr>
          <a:xfrm>
            <a:off x="1371600" y="2523744"/>
            <a:ext cx="4526280" cy="365760"/>
          </a:xfrm>
          <a:prstGeom prst="rect">
            <a:avLst/>
          </a:prstGeom>
          <a:noFill/>
          <a:ln/>
        </p:spPr>
        <p:txBody>
          <a:bodyPr wrap="square" lIns="0" tIns="0" rIns="0" bIns="0" rtlCol="0" anchor="ctr"/>
          <a:lstStyle/>
          <a:p>
            <a:pPr marL="0" indent="0">
              <a:buNone/>
            </a:pPr>
            <a:r>
              <a:rPr lang="en-US" sz="1200" dirty="0">
                <a:solidFill>
                  <a:schemeClr val="tx1"/>
                </a:solidFill>
              </a:rPr>
              <a:t>The first weeks of a WW benefit, when UWV decides who gets a conversation.</a:t>
            </a:r>
            <a:endParaRPr lang="en-US" sz="1200" dirty="0"/>
          </a:p>
        </p:txBody>
      </p:sp>
      <p:sp>
        <p:nvSpPr>
          <p:cNvPr id="13" name="card 11"/>
          <p:cNvSpPr/>
          <p:nvPr/>
        </p:nvSpPr>
        <p:spPr>
          <a:xfrm>
            <a:off x="457200" y="3063240"/>
            <a:ext cx="1719072" cy="1417320"/>
          </a:xfrm>
          <a:prstGeom prst="rect">
            <a:avLst/>
          </a:prstGeom>
          <a:solidFill>
            <a:schemeClr val="accent2">
              <a:alpha val="30000"/>
            </a:schemeClr>
          </a:solidFill>
          <a:ln/>
        </p:spPr>
        <p:txBody>
          <a:bodyPr/>
          <a:lstStyle/>
          <a:p>
            <a:endParaRPr lang="en-US"/>
          </a:p>
        </p:txBody>
      </p:sp>
      <p:sp>
        <p:nvSpPr>
          <p:cNvPr id="14" name="text 12"/>
          <p:cNvSpPr txBox="1"/>
          <p:nvPr/>
        </p:nvSpPr>
        <p:spPr>
          <a:xfrm>
            <a:off x="585216" y="3127248"/>
            <a:ext cx="1536192" cy="438912"/>
          </a:xfrm>
          <a:prstGeom prst="rect">
            <a:avLst/>
          </a:prstGeom>
          <a:noFill/>
          <a:ln/>
        </p:spPr>
        <p:txBody>
          <a:bodyPr wrap="square" lIns="0" tIns="0" rIns="0" bIns="0" rtlCol="0" anchor="ctr"/>
          <a:lstStyle/>
          <a:p>
            <a:pPr marL="0" indent="0">
              <a:buNone/>
            </a:pPr>
            <a:r>
              <a:rPr lang="en-US" sz="2400" b="1" dirty="0">
                <a:solidFill>
                  <a:schemeClr val="accent1"/>
                </a:solidFill>
                <a:latin typeface="Arial" pitchFamily="34" charset="0"/>
                <a:ea typeface="Arial" pitchFamily="34" charset="-122"/>
                <a:cs typeface="Arial" pitchFamily="34" charset="-120"/>
              </a:rPr>
              <a:t>191,500</a:t>
            </a:r>
            <a:endParaRPr lang="en-US" sz="2400" dirty="0"/>
          </a:p>
        </p:txBody>
      </p:sp>
      <p:sp>
        <p:nvSpPr>
          <p:cNvPr id="15" name="text 13"/>
          <p:cNvSpPr txBox="1"/>
          <p:nvPr/>
        </p:nvSpPr>
        <p:spPr>
          <a:xfrm>
            <a:off x="585216" y="3566160"/>
            <a:ext cx="1481328" cy="603504"/>
          </a:xfrm>
          <a:prstGeom prst="rect">
            <a:avLst/>
          </a:prstGeom>
          <a:noFill/>
          <a:ln/>
        </p:spPr>
        <p:txBody>
          <a:bodyPr wrap="square" lIns="0" tIns="0" rIns="0" bIns="0" rtlCol="0" anchor="t"/>
          <a:lstStyle/>
          <a:p>
            <a:pPr marL="0" indent="0">
              <a:buNone/>
            </a:pPr>
            <a:r>
              <a:rPr lang="en-US" sz="1100" dirty="0">
                <a:solidFill>
                  <a:schemeClr val="tx1"/>
                </a:solidFill>
              </a:rPr>
              <a:t>running WW benefits at the end of 2025</a:t>
            </a:r>
            <a:endParaRPr lang="en-US" sz="1100" dirty="0"/>
          </a:p>
        </p:txBody>
      </p:sp>
      <p:sp>
        <p:nvSpPr>
          <p:cNvPr id="16" name="text 14"/>
          <p:cNvSpPr txBox="1"/>
          <p:nvPr/>
        </p:nvSpPr>
        <p:spPr>
          <a:xfrm>
            <a:off x="585216" y="4206240"/>
            <a:ext cx="1481328" cy="201168"/>
          </a:xfrm>
          <a:prstGeom prst="rect">
            <a:avLst/>
          </a:prstGeom>
          <a:noFill/>
          <a:ln/>
        </p:spPr>
        <p:txBody>
          <a:bodyPr wrap="square" lIns="0" tIns="0" rIns="0" bIns="0" rtlCol="0" anchor="ctr"/>
          <a:lstStyle/>
          <a:p>
            <a:pPr marL="0" indent="0">
              <a:buNone/>
            </a:pPr>
            <a:r>
              <a:rPr lang="en-US" sz="950" dirty="0">
                <a:solidFill>
                  <a:schemeClr val="accent3"/>
                </a:solidFill>
              </a:rPr>
              <a:t>UWV (2026)</a:t>
            </a:r>
            <a:endParaRPr lang="en-US" sz="950" dirty="0"/>
          </a:p>
        </p:txBody>
      </p:sp>
      <p:sp>
        <p:nvSpPr>
          <p:cNvPr id="17" name="card 15"/>
          <p:cNvSpPr/>
          <p:nvPr/>
        </p:nvSpPr>
        <p:spPr>
          <a:xfrm>
            <a:off x="2313432" y="3063240"/>
            <a:ext cx="1719072" cy="1417320"/>
          </a:xfrm>
          <a:prstGeom prst="rect">
            <a:avLst/>
          </a:prstGeom>
          <a:solidFill>
            <a:schemeClr val="accent2">
              <a:alpha val="30000"/>
            </a:schemeClr>
          </a:solidFill>
          <a:ln/>
        </p:spPr>
        <p:txBody>
          <a:bodyPr/>
          <a:lstStyle/>
          <a:p>
            <a:endParaRPr lang="en-US"/>
          </a:p>
        </p:txBody>
      </p:sp>
      <p:sp>
        <p:nvSpPr>
          <p:cNvPr id="18" name="text 16"/>
          <p:cNvSpPr txBox="1"/>
          <p:nvPr/>
        </p:nvSpPr>
        <p:spPr>
          <a:xfrm>
            <a:off x="2441448" y="3127248"/>
            <a:ext cx="1536192" cy="438912"/>
          </a:xfrm>
          <a:prstGeom prst="rect">
            <a:avLst/>
          </a:prstGeom>
          <a:noFill/>
          <a:ln/>
        </p:spPr>
        <p:txBody>
          <a:bodyPr wrap="square" lIns="0" tIns="0" rIns="0" bIns="0" rtlCol="0" anchor="ctr"/>
          <a:lstStyle/>
          <a:p>
            <a:pPr marL="0" indent="0">
              <a:buNone/>
            </a:pPr>
            <a:r>
              <a:rPr lang="en-US" sz="2400" b="1" dirty="0">
                <a:solidFill>
                  <a:schemeClr val="accent1"/>
                </a:solidFill>
                <a:latin typeface="Arial" pitchFamily="34" charset="0"/>
                <a:ea typeface="Arial" pitchFamily="34" charset="-122"/>
                <a:cs typeface="Arial" pitchFamily="34" charset="-120"/>
              </a:rPr>
              <a:t>about 70%</a:t>
            </a:r>
            <a:endParaRPr lang="en-US" sz="2400" dirty="0"/>
          </a:p>
        </p:txBody>
      </p:sp>
      <p:sp>
        <p:nvSpPr>
          <p:cNvPr id="19" name="text 17"/>
          <p:cNvSpPr txBox="1"/>
          <p:nvPr/>
        </p:nvSpPr>
        <p:spPr>
          <a:xfrm>
            <a:off x="2441448" y="3566160"/>
            <a:ext cx="1481328" cy="603504"/>
          </a:xfrm>
          <a:prstGeom prst="rect">
            <a:avLst/>
          </a:prstGeom>
          <a:noFill/>
          <a:ln/>
        </p:spPr>
        <p:txBody>
          <a:bodyPr wrap="square" lIns="0" tIns="0" rIns="0" bIns="0" rtlCol="0" anchor="t"/>
          <a:lstStyle/>
          <a:p>
            <a:pPr marL="0" indent="0">
              <a:buNone/>
            </a:pPr>
            <a:r>
              <a:rPr lang="en-US" sz="1100" dirty="0">
                <a:solidFill>
                  <a:schemeClr val="tx1"/>
                </a:solidFill>
              </a:rPr>
              <a:t>predicted correctly by UWV's Werkverkenner, so three in ten are not</a:t>
            </a:r>
            <a:endParaRPr lang="en-US" sz="1100" dirty="0"/>
          </a:p>
        </p:txBody>
      </p:sp>
      <p:sp>
        <p:nvSpPr>
          <p:cNvPr id="20" name="text 18"/>
          <p:cNvSpPr txBox="1"/>
          <p:nvPr/>
        </p:nvSpPr>
        <p:spPr>
          <a:xfrm>
            <a:off x="2441448" y="4206240"/>
            <a:ext cx="1481328" cy="201168"/>
          </a:xfrm>
          <a:prstGeom prst="rect">
            <a:avLst/>
          </a:prstGeom>
          <a:noFill/>
          <a:ln/>
        </p:spPr>
        <p:txBody>
          <a:bodyPr wrap="square" lIns="0" tIns="0" rIns="0" bIns="0" rtlCol="0" anchor="ctr"/>
          <a:lstStyle/>
          <a:p>
            <a:pPr marL="0" indent="0">
              <a:buNone/>
            </a:pPr>
            <a:r>
              <a:rPr lang="en-US" sz="950" dirty="0">
                <a:solidFill>
                  <a:schemeClr val="accent3"/>
                </a:solidFill>
              </a:rPr>
              <a:t>UWV (2018)</a:t>
            </a:r>
            <a:endParaRPr lang="en-US" sz="950" dirty="0"/>
          </a:p>
        </p:txBody>
      </p:sp>
      <p:sp>
        <p:nvSpPr>
          <p:cNvPr id="21" name="card 19"/>
          <p:cNvSpPr/>
          <p:nvPr/>
        </p:nvSpPr>
        <p:spPr>
          <a:xfrm>
            <a:off x="4169664" y="3063240"/>
            <a:ext cx="1719072" cy="1417320"/>
          </a:xfrm>
          <a:prstGeom prst="rect">
            <a:avLst/>
          </a:prstGeom>
          <a:solidFill>
            <a:schemeClr val="accent2">
              <a:alpha val="30000"/>
            </a:schemeClr>
          </a:solidFill>
          <a:ln/>
        </p:spPr>
        <p:txBody>
          <a:bodyPr/>
          <a:lstStyle/>
          <a:p>
            <a:endParaRPr lang="en-US"/>
          </a:p>
        </p:txBody>
      </p:sp>
      <p:sp>
        <p:nvSpPr>
          <p:cNvPr id="22" name="text 20"/>
          <p:cNvSpPr txBox="1"/>
          <p:nvPr/>
        </p:nvSpPr>
        <p:spPr>
          <a:xfrm>
            <a:off x="4297680" y="3127248"/>
            <a:ext cx="1536192" cy="438912"/>
          </a:xfrm>
          <a:prstGeom prst="rect">
            <a:avLst/>
          </a:prstGeom>
          <a:noFill/>
          <a:ln/>
        </p:spPr>
        <p:txBody>
          <a:bodyPr wrap="square" lIns="0" tIns="0" rIns="0" bIns="0" rtlCol="0" anchor="ctr"/>
          <a:lstStyle/>
          <a:p>
            <a:pPr marL="0" indent="0">
              <a:buNone/>
            </a:pPr>
            <a:r>
              <a:rPr lang="en-US" sz="2400" b="1" dirty="0">
                <a:solidFill>
                  <a:schemeClr val="accent1"/>
                </a:solidFill>
                <a:latin typeface="Arial" pitchFamily="34" charset="0"/>
                <a:ea typeface="Arial" pitchFamily="34" charset="-122"/>
                <a:cs typeface="Arial" pitchFamily="34" charset="-120"/>
              </a:rPr>
              <a:t>month 7</a:t>
            </a:r>
            <a:endParaRPr lang="en-US" sz="2400" dirty="0"/>
          </a:p>
        </p:txBody>
      </p:sp>
      <p:sp>
        <p:nvSpPr>
          <p:cNvPr id="23" name="text 21"/>
          <p:cNvSpPr txBox="1"/>
          <p:nvPr/>
        </p:nvSpPr>
        <p:spPr>
          <a:xfrm>
            <a:off x="4297680" y="3566160"/>
            <a:ext cx="1481328" cy="603504"/>
          </a:xfrm>
          <a:prstGeom prst="rect">
            <a:avLst/>
          </a:prstGeom>
          <a:noFill/>
          <a:ln/>
        </p:spPr>
        <p:txBody>
          <a:bodyPr wrap="square" lIns="0" tIns="0" rIns="0" bIns="0" rtlCol="0" anchor="t"/>
          <a:lstStyle/>
          <a:p>
            <a:pPr marL="0" indent="0">
              <a:buNone/>
            </a:pPr>
            <a:r>
              <a:rPr lang="en-US" sz="1100" dirty="0">
                <a:solidFill>
                  <a:schemeClr val="tx1"/>
                </a:solidFill>
              </a:rPr>
              <a:t>first conversation for people with a good score</a:t>
            </a:r>
            <a:endParaRPr lang="en-US" sz="1100" dirty="0"/>
          </a:p>
        </p:txBody>
      </p:sp>
      <p:sp>
        <p:nvSpPr>
          <p:cNvPr id="24" name="text 22"/>
          <p:cNvSpPr txBox="1"/>
          <p:nvPr/>
        </p:nvSpPr>
        <p:spPr>
          <a:xfrm>
            <a:off x="4297680" y="4206240"/>
            <a:ext cx="1481328" cy="201168"/>
          </a:xfrm>
          <a:prstGeom prst="rect">
            <a:avLst/>
          </a:prstGeom>
          <a:noFill/>
          <a:ln/>
        </p:spPr>
        <p:txBody>
          <a:bodyPr wrap="square" lIns="0" tIns="0" rIns="0" bIns="0" rtlCol="0" anchor="ctr"/>
          <a:lstStyle/>
          <a:p>
            <a:pPr marL="0" indent="0">
              <a:buNone/>
            </a:pPr>
            <a:r>
              <a:rPr lang="en-US" sz="950" dirty="0">
                <a:solidFill>
                  <a:schemeClr val="accent3"/>
                </a:solidFill>
              </a:rPr>
              <a:t>UWV (2022)</a:t>
            </a:r>
            <a:endParaRPr lang="en-US" sz="950" dirty="0"/>
          </a:p>
        </p:txBody>
      </p:sp>
      <p:sp>
        <p:nvSpPr>
          <p:cNvPr id="25" name="card 23"/>
          <p:cNvSpPr/>
          <p:nvPr/>
        </p:nvSpPr>
        <p:spPr>
          <a:xfrm>
            <a:off x="6172200" y="1234440"/>
            <a:ext cx="2514600" cy="3246120"/>
          </a:xfrm>
          <a:prstGeom prst="rect">
            <a:avLst/>
          </a:prstGeom>
          <a:solidFill>
            <a:schemeClr val="accent1"/>
          </a:solidFill>
          <a:ln/>
        </p:spPr>
        <p:txBody>
          <a:bodyPr/>
          <a:lstStyle/>
          <a:p>
            <a:endParaRPr lang="en-US"/>
          </a:p>
        </p:txBody>
      </p:sp>
      <p:sp>
        <p:nvSpPr>
          <p:cNvPr id="26" name="text 24"/>
          <p:cNvSpPr txBox="1"/>
          <p:nvPr/>
        </p:nvSpPr>
        <p:spPr>
          <a:xfrm>
            <a:off x="6336792" y="1298448"/>
            <a:ext cx="548640" cy="566928"/>
          </a:xfrm>
          <a:prstGeom prst="rect">
            <a:avLst/>
          </a:prstGeom>
          <a:noFill/>
          <a:ln/>
        </p:spPr>
        <p:txBody>
          <a:bodyPr wrap="square" lIns="0" tIns="0" rIns="0" bIns="0" rtlCol="0" anchor="ctr"/>
          <a:lstStyle/>
          <a:p>
            <a:pPr marL="0" indent="0">
              <a:buNone/>
            </a:pPr>
            <a:r>
              <a:rPr lang="en-US" sz="4000" b="1" dirty="0">
                <a:solidFill>
                  <a:schemeClr val="bg1"/>
                </a:solidFill>
                <a:latin typeface="Arial" pitchFamily="34" charset="0"/>
                <a:ea typeface="Arial" pitchFamily="34" charset="-122"/>
                <a:cs typeface="Arial" pitchFamily="34" charset="-120"/>
              </a:rPr>
              <a:t>8</a:t>
            </a:r>
            <a:endParaRPr lang="en-US" sz="4000" dirty="0"/>
          </a:p>
        </p:txBody>
      </p:sp>
      <p:sp>
        <p:nvSpPr>
          <p:cNvPr id="27" name="text 25"/>
          <p:cNvSpPr txBox="1"/>
          <p:nvPr/>
        </p:nvSpPr>
        <p:spPr>
          <a:xfrm>
            <a:off x="6903720" y="1353312"/>
            <a:ext cx="1618488" cy="457200"/>
          </a:xfrm>
          <a:prstGeom prst="rect">
            <a:avLst/>
          </a:prstGeom>
          <a:noFill/>
          <a:ln/>
        </p:spPr>
        <p:txBody>
          <a:bodyPr wrap="square" lIns="0" tIns="0" rIns="0" bIns="0" rtlCol="0" anchor="ctr"/>
          <a:lstStyle/>
          <a:p>
            <a:pPr marL="0" indent="0">
              <a:buNone/>
            </a:pPr>
            <a:r>
              <a:rPr lang="en-US" sz="1000" b="1" dirty="0">
                <a:solidFill>
                  <a:schemeClr val="bg1"/>
                </a:solidFill>
                <a:latin typeface="Arial" pitchFamily="34" charset="0"/>
                <a:ea typeface="Arial" pitchFamily="34" charset="-122"/>
                <a:cs typeface="Arial" pitchFamily="34" charset="-120"/>
              </a:rPr>
              <a:t>DECENT WORK AND ECONOMIC GROWTH</a:t>
            </a:r>
            <a:endParaRPr lang="en-US" sz="1000" dirty="0"/>
          </a:p>
        </p:txBody>
      </p:sp>
      <p:sp>
        <p:nvSpPr>
          <p:cNvPr id="28" name="text 26"/>
          <p:cNvSpPr txBox="1"/>
          <p:nvPr/>
        </p:nvSpPr>
        <p:spPr>
          <a:xfrm>
            <a:off x="6336792" y="1956816"/>
            <a:ext cx="2185416" cy="201168"/>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Arial" pitchFamily="34" charset="0"/>
                <a:ea typeface="Arial" pitchFamily="34" charset="-122"/>
                <a:cs typeface="Arial" pitchFamily="34" charset="-120"/>
              </a:rPr>
              <a:t>TARGET 8.5</a:t>
            </a:r>
            <a:endParaRPr lang="en-US" sz="1000" dirty="0"/>
          </a:p>
        </p:txBody>
      </p:sp>
      <p:sp>
        <p:nvSpPr>
          <p:cNvPr id="29" name="text 27"/>
          <p:cNvSpPr txBox="1"/>
          <p:nvPr/>
        </p:nvSpPr>
        <p:spPr>
          <a:xfrm>
            <a:off x="6336792" y="2167128"/>
            <a:ext cx="2185416" cy="658368"/>
          </a:xfrm>
          <a:prstGeom prst="rect">
            <a:avLst/>
          </a:prstGeom>
          <a:noFill/>
          <a:ln/>
        </p:spPr>
        <p:txBody>
          <a:bodyPr wrap="square" lIns="0" tIns="0" rIns="0" bIns="0" rtlCol="0" anchor="t"/>
          <a:lstStyle/>
          <a:p>
            <a:pPr marL="0" indent="0">
              <a:buNone/>
            </a:pPr>
            <a:r>
              <a:rPr lang="en-US" sz="1050" i="1" dirty="0">
                <a:solidFill>
                  <a:schemeClr val="bg1"/>
                </a:solidFill>
              </a:rPr>
              <a:t>"Full and productive employment and decent work for all women and men, including young people and persons with disabilities"</a:t>
            </a:r>
            <a:endParaRPr lang="en-US" sz="1050" dirty="0"/>
          </a:p>
        </p:txBody>
      </p:sp>
      <p:sp>
        <p:nvSpPr>
          <p:cNvPr id="30" name="text 28"/>
          <p:cNvSpPr txBox="1"/>
          <p:nvPr/>
        </p:nvSpPr>
        <p:spPr>
          <a:xfrm>
            <a:off x="6336792" y="2871216"/>
            <a:ext cx="2185416" cy="201168"/>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Arial" pitchFamily="34" charset="0"/>
                <a:ea typeface="Arial" pitchFamily="34" charset="-122"/>
                <a:cs typeface="Arial" pitchFamily="34" charset="-120"/>
              </a:rPr>
              <a:t>WHY WE FIT</a:t>
            </a:r>
            <a:endParaRPr lang="en-US" sz="1000" dirty="0"/>
          </a:p>
        </p:txBody>
      </p:sp>
      <p:sp>
        <p:nvSpPr>
          <p:cNvPr id="31" name="text 29"/>
          <p:cNvSpPr txBox="1"/>
          <p:nvPr/>
        </p:nvSpPr>
        <p:spPr>
          <a:xfrm>
            <a:off x="6336792" y="3081528"/>
            <a:ext cx="2185416" cy="658368"/>
          </a:xfrm>
          <a:prstGeom prst="rect">
            <a:avLst/>
          </a:prstGeom>
          <a:noFill/>
          <a:ln/>
        </p:spPr>
        <p:txBody>
          <a:bodyPr wrap="square" lIns="0" tIns="0" rIns="0" bIns="0" rtlCol="0" anchor="t"/>
          <a:lstStyle/>
          <a:p>
            <a:pPr marL="0" indent="0">
              <a:spcAft>
                <a:spcPts val="300"/>
              </a:spcAft>
              <a:buNone/>
            </a:pPr>
            <a:r>
              <a:rPr lang="en-US" sz="1100" b="1" dirty="0">
                <a:solidFill>
                  <a:schemeClr val="bg1"/>
                </a:solidFill>
              </a:rPr>
              <a:t>Back into work: </a:t>
            </a:r>
            <a:r>
              <a:rPr lang="en-US" sz="1100" dirty="0">
                <a:solidFill>
                  <a:schemeClr val="bg1"/>
                </a:solidFill>
              </a:rPr>
              <a:t>who needs help first</a:t>
            </a:r>
            <a:endParaRPr lang="en-US" sz="1100" dirty="0"/>
          </a:p>
          <a:p>
            <a:pPr marL="0" indent="0">
              <a:spcAft>
                <a:spcPts val="300"/>
              </a:spcAft>
              <a:buNone/>
            </a:pPr>
            <a:r>
              <a:rPr lang="en-US" sz="1100" b="1" dirty="0">
                <a:solidFill>
                  <a:schemeClr val="bg1"/>
                </a:solidFill>
              </a:rPr>
              <a:t>"For all": </a:t>
            </a:r>
            <a:r>
              <a:rPr lang="en-US" sz="1100" dirty="0">
                <a:solidFill>
                  <a:schemeClr val="bg1"/>
                </a:solidFill>
              </a:rPr>
              <a:t>we check the model per group</a:t>
            </a:r>
            <a:endParaRPr lang="en-US" sz="1100" dirty="0"/>
          </a:p>
        </p:txBody>
      </p:sp>
      <p:sp>
        <p:nvSpPr>
          <p:cNvPr id="32" name="text 30"/>
          <p:cNvSpPr txBox="1"/>
          <p:nvPr/>
        </p:nvSpPr>
        <p:spPr>
          <a:xfrm>
            <a:off x="6336792" y="3767328"/>
            <a:ext cx="2185416" cy="201168"/>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Arial" pitchFamily="34" charset="0"/>
                <a:ea typeface="Arial" pitchFamily="34" charset="-122"/>
                <a:cs typeface="Arial" pitchFamily="34" charset="-120"/>
              </a:rPr>
              <a:t>WHO BENEFITS</a:t>
            </a:r>
            <a:endParaRPr lang="en-US" sz="1000" dirty="0"/>
          </a:p>
        </p:txBody>
      </p:sp>
      <p:sp>
        <p:nvSpPr>
          <p:cNvPr id="33" name="text 31"/>
          <p:cNvSpPr txBox="1"/>
          <p:nvPr/>
        </p:nvSpPr>
        <p:spPr>
          <a:xfrm>
            <a:off x="6336792" y="3977640"/>
            <a:ext cx="2185416" cy="411480"/>
          </a:xfrm>
          <a:prstGeom prst="rect">
            <a:avLst/>
          </a:prstGeom>
          <a:noFill/>
          <a:ln/>
        </p:spPr>
        <p:txBody>
          <a:bodyPr wrap="square" lIns="0" tIns="0" rIns="0" bIns="0" rtlCol="0" anchor="t"/>
          <a:lstStyle/>
          <a:p>
            <a:pPr marL="0" indent="0">
              <a:buNone/>
            </a:pPr>
            <a:r>
              <a:rPr lang="en-US" sz="1100" dirty="0">
                <a:solidFill>
                  <a:schemeClr val="bg1"/>
                </a:solidFill>
              </a:rPr>
              <a:t>Job seekers who would otherwise be seen too late</a:t>
            </a:r>
            <a:endParaRPr lang="en-US" sz="1100" dirty="0"/>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2 · USER GROUP</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For the work coach, about people who just lost a job</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Sources: UWV (2022) · share per age group: our notebook, 2,019 job losses in the LISS panel · README</a:t>
            </a:r>
            <a:endParaRPr lang="en-US" sz="900" dirty="0"/>
          </a:p>
        </p:txBody>
      </p:sp>
      <p:sp>
        <p:nvSpPr>
          <p:cNvPr id="5" name="card 32"/>
          <p:cNvSpPr/>
          <p:nvPr/>
        </p:nvSpPr>
        <p:spPr>
          <a:xfrm>
            <a:off x="457200" y="1234440"/>
            <a:ext cx="2615184" cy="2697480"/>
          </a:xfrm>
          <a:prstGeom prst="rect">
            <a:avLst/>
          </a:prstGeom>
          <a:solidFill>
            <a:schemeClr val="accent2">
              <a:alpha val="30000"/>
            </a:schemeClr>
          </a:solidFill>
          <a:ln/>
        </p:spPr>
        <p:txBody>
          <a:bodyPr/>
          <a:lstStyle/>
          <a:p>
            <a:endParaRPr lang="en-US"/>
          </a:p>
        </p:txBody>
      </p:sp>
      <p:sp>
        <p:nvSpPr>
          <p:cNvPr id="6" name="card 33"/>
          <p:cNvSpPr/>
          <p:nvPr/>
        </p:nvSpPr>
        <p:spPr>
          <a:xfrm>
            <a:off x="3264408" y="1234440"/>
            <a:ext cx="2615184" cy="2697480"/>
          </a:xfrm>
          <a:prstGeom prst="rect">
            <a:avLst/>
          </a:prstGeom>
          <a:solidFill>
            <a:schemeClr val="accent2">
              <a:alpha val="30000"/>
            </a:schemeClr>
          </a:solidFill>
          <a:ln/>
        </p:spPr>
        <p:txBody>
          <a:bodyPr/>
          <a:lstStyle/>
          <a:p>
            <a:endParaRPr lang="en-US"/>
          </a:p>
        </p:txBody>
      </p:sp>
      <p:sp>
        <p:nvSpPr>
          <p:cNvPr id="7" name="card 34"/>
          <p:cNvSpPr/>
          <p:nvPr/>
        </p:nvSpPr>
        <p:spPr>
          <a:xfrm>
            <a:off x="6071616" y="1234440"/>
            <a:ext cx="2615184" cy="2697480"/>
          </a:xfrm>
          <a:prstGeom prst="rect">
            <a:avLst/>
          </a:prstGeom>
          <a:solidFill>
            <a:schemeClr val="accent2">
              <a:alpha val="30000"/>
            </a:schemeClr>
          </a:solidFill>
          <a:ln/>
        </p:spPr>
        <p:txBody>
          <a:bodyPr/>
          <a:lstStyle/>
          <a:p>
            <a:endParaRPr lang="en-US"/>
          </a:p>
        </p:txBody>
      </p:sp>
      <p:sp>
        <p:nvSpPr>
          <p:cNvPr id="8" name="text 35"/>
          <p:cNvSpPr txBox="1"/>
          <p:nvPr/>
        </p:nvSpPr>
        <p:spPr>
          <a:xfrm>
            <a:off x="603504" y="132588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WHO USES IT</a:t>
            </a:r>
            <a:endParaRPr lang="en-US" sz="1000" dirty="0"/>
          </a:p>
        </p:txBody>
      </p:sp>
      <p:sp>
        <p:nvSpPr>
          <p:cNvPr id="9" name="text 36"/>
          <p:cNvSpPr txBox="1"/>
          <p:nvPr/>
        </p:nvSpPr>
        <p:spPr>
          <a:xfrm>
            <a:off x="603504" y="1563624"/>
            <a:ext cx="2322576" cy="402336"/>
          </a:xfrm>
          <a:prstGeom prst="rect">
            <a:avLst/>
          </a:prstGeom>
          <a:noFill/>
          <a:ln/>
        </p:spPr>
        <p:txBody>
          <a:bodyPr wrap="square" lIns="0" tIns="0" rIns="0" bIns="0" rtlCol="0" anchor="t"/>
          <a:lstStyle/>
          <a:p>
            <a:pPr marL="0" indent="0">
              <a:buNone/>
            </a:pPr>
            <a:r>
              <a:rPr lang="en-US" sz="1200" b="1" dirty="0">
                <a:solidFill>
                  <a:schemeClr val="tx1"/>
                </a:solidFill>
              </a:rPr>
              <a:t>The UWV work coach who handles new WW claimants</a:t>
            </a:r>
            <a:endParaRPr lang="en-US" sz="1200" dirty="0"/>
          </a:p>
        </p:txBody>
      </p:sp>
      <p:sp>
        <p:nvSpPr>
          <p:cNvPr id="10" name="text 37"/>
          <p:cNvSpPr txBox="1"/>
          <p:nvPr/>
        </p:nvSpPr>
        <p:spPr>
          <a:xfrm>
            <a:off x="603504" y="1984248"/>
            <a:ext cx="804672" cy="402336"/>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179,840</a:t>
            </a:r>
            <a:endParaRPr lang="en-US" sz="1400" dirty="0"/>
          </a:p>
        </p:txBody>
      </p:sp>
      <p:sp>
        <p:nvSpPr>
          <p:cNvPr id="11" name="text 38"/>
          <p:cNvSpPr txBox="1"/>
          <p:nvPr/>
        </p:nvSpPr>
        <p:spPr>
          <a:xfrm>
            <a:off x="1426464" y="1984248"/>
            <a:ext cx="1499616" cy="402336"/>
          </a:xfrm>
          <a:prstGeom prst="rect">
            <a:avLst/>
          </a:prstGeom>
          <a:noFill/>
          <a:ln/>
        </p:spPr>
        <p:txBody>
          <a:bodyPr wrap="square" lIns="0" tIns="0" rIns="0" bIns="0" rtlCol="0" anchor="ctr"/>
          <a:lstStyle/>
          <a:p>
            <a:pPr marL="0" indent="0">
              <a:buNone/>
            </a:pPr>
            <a:r>
              <a:rPr lang="en-US" sz="1000" dirty="0">
                <a:solidFill>
                  <a:schemeClr val="tx1"/>
                </a:solidFill>
              </a:rPr>
              <a:t>new claimants in the year UWV studied</a:t>
            </a:r>
            <a:endParaRPr lang="en-US" sz="1000" dirty="0"/>
          </a:p>
        </p:txBody>
      </p:sp>
      <p:sp>
        <p:nvSpPr>
          <p:cNvPr id="12" name="text 39"/>
          <p:cNvSpPr txBox="1"/>
          <p:nvPr/>
        </p:nvSpPr>
        <p:spPr>
          <a:xfrm>
            <a:off x="603504" y="2478024"/>
            <a:ext cx="804672" cy="402336"/>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41,202</a:t>
            </a:r>
            <a:endParaRPr lang="en-US" sz="1400" dirty="0"/>
          </a:p>
        </p:txBody>
      </p:sp>
      <p:sp>
        <p:nvSpPr>
          <p:cNvPr id="13" name="text 40"/>
          <p:cNvSpPr txBox="1"/>
          <p:nvPr/>
        </p:nvSpPr>
        <p:spPr>
          <a:xfrm>
            <a:off x="1426464" y="2478024"/>
            <a:ext cx="1499616" cy="402336"/>
          </a:xfrm>
          <a:prstGeom prst="rect">
            <a:avLst/>
          </a:prstGeom>
          <a:noFill/>
          <a:ln/>
        </p:spPr>
        <p:txBody>
          <a:bodyPr wrap="square" lIns="0" tIns="0" rIns="0" bIns="0" rtlCol="0" anchor="ctr"/>
          <a:lstStyle/>
          <a:p>
            <a:pPr marL="0" indent="0">
              <a:buNone/>
            </a:pPr>
            <a:r>
              <a:rPr lang="en-US" sz="1000" dirty="0">
                <a:solidFill>
                  <a:schemeClr val="tx1"/>
                </a:solidFill>
              </a:rPr>
              <a:t>got a low score, 90,689 a high score</a:t>
            </a:r>
            <a:endParaRPr lang="en-US" sz="1000" dirty="0"/>
          </a:p>
        </p:txBody>
      </p:sp>
      <p:sp>
        <p:nvSpPr>
          <p:cNvPr id="14" name="text 41"/>
          <p:cNvSpPr txBox="1"/>
          <p:nvPr/>
        </p:nvSpPr>
        <p:spPr>
          <a:xfrm>
            <a:off x="603504" y="2971800"/>
            <a:ext cx="804672" cy="402336"/>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&gt;90%</a:t>
            </a:r>
            <a:endParaRPr lang="en-US" sz="1400" dirty="0"/>
          </a:p>
        </p:txBody>
      </p:sp>
      <p:sp>
        <p:nvSpPr>
          <p:cNvPr id="15" name="text 42"/>
          <p:cNvSpPr txBox="1"/>
          <p:nvPr/>
        </p:nvSpPr>
        <p:spPr>
          <a:xfrm>
            <a:off x="1426464" y="2971800"/>
            <a:ext cx="1499616" cy="402336"/>
          </a:xfrm>
          <a:prstGeom prst="rect">
            <a:avLst/>
          </a:prstGeom>
          <a:noFill/>
          <a:ln/>
        </p:spPr>
        <p:txBody>
          <a:bodyPr wrap="square" lIns="0" tIns="0" rIns="0" bIns="0" rtlCol="0" anchor="ctr"/>
          <a:lstStyle/>
          <a:p>
            <a:pPr marL="0" indent="0">
              <a:buNone/>
            </a:pPr>
            <a:r>
              <a:rPr lang="en-US" sz="1000" dirty="0">
                <a:solidFill>
                  <a:schemeClr val="tx1"/>
                </a:solidFill>
              </a:rPr>
              <a:t>of low scorers get a conversation, 52% of high scorers</a:t>
            </a:r>
            <a:endParaRPr lang="en-US" sz="1000" dirty="0"/>
          </a:p>
        </p:txBody>
      </p:sp>
      <p:sp>
        <p:nvSpPr>
          <p:cNvPr id="16" name="text 43"/>
          <p:cNvSpPr txBox="1"/>
          <p:nvPr/>
        </p:nvSpPr>
        <p:spPr>
          <a:xfrm>
            <a:off x="603504" y="3465576"/>
            <a:ext cx="804672" cy="402336"/>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3 in 10</a:t>
            </a:r>
            <a:endParaRPr lang="en-US" sz="1400" dirty="0"/>
          </a:p>
        </p:txBody>
      </p:sp>
      <p:sp>
        <p:nvSpPr>
          <p:cNvPr id="17" name="text 44"/>
          <p:cNvSpPr txBox="1"/>
          <p:nvPr/>
        </p:nvSpPr>
        <p:spPr>
          <a:xfrm>
            <a:off x="1426464" y="3465576"/>
            <a:ext cx="1499616" cy="402336"/>
          </a:xfrm>
          <a:prstGeom prst="rect">
            <a:avLst/>
          </a:prstGeom>
          <a:noFill/>
          <a:ln/>
        </p:spPr>
        <p:txBody>
          <a:bodyPr wrap="square" lIns="0" tIns="0" rIns="0" bIns="0" rtlCol="0" anchor="ctr"/>
          <a:lstStyle/>
          <a:p>
            <a:pPr marL="0" indent="0">
              <a:buNone/>
            </a:pPr>
            <a:r>
              <a:rPr lang="en-US" sz="1000" dirty="0">
                <a:solidFill>
                  <a:schemeClr val="tx1"/>
                </a:solidFill>
              </a:rPr>
              <a:t>high scorers are invited earlier on the coach's own judgement</a:t>
            </a:r>
            <a:endParaRPr lang="en-US" sz="1000" dirty="0"/>
          </a:p>
        </p:txBody>
      </p:sp>
      <p:sp>
        <p:nvSpPr>
          <p:cNvPr id="18" name="text 45"/>
          <p:cNvSpPr txBox="1"/>
          <p:nvPr/>
        </p:nvSpPr>
        <p:spPr>
          <a:xfrm>
            <a:off x="3410712" y="132588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WHO IT IS ABOUT</a:t>
            </a:r>
            <a:endParaRPr lang="en-US" sz="1000" dirty="0"/>
          </a:p>
        </p:txBody>
      </p:sp>
      <p:sp>
        <p:nvSpPr>
          <p:cNvPr id="19" name="text 46"/>
          <p:cNvSpPr txBox="1"/>
          <p:nvPr/>
        </p:nvSpPr>
        <p:spPr>
          <a:xfrm>
            <a:off x="3410712" y="1563624"/>
            <a:ext cx="2322576" cy="402336"/>
          </a:xfrm>
          <a:prstGeom prst="rect">
            <a:avLst/>
          </a:prstGeom>
          <a:noFill/>
          <a:ln/>
        </p:spPr>
        <p:txBody>
          <a:bodyPr wrap="square" lIns="0" tIns="0" rIns="0" bIns="0" rtlCol="0" anchor="t"/>
          <a:lstStyle/>
          <a:p>
            <a:pPr marL="0" indent="0">
              <a:buNone/>
            </a:pPr>
            <a:r>
              <a:rPr lang="en-US" sz="1200" b="1" dirty="0">
                <a:solidFill>
                  <a:schemeClr val="tx1"/>
                </a:solidFill>
              </a:rPr>
              <a:t>People aged 18 to 66 who just lost their job</a:t>
            </a:r>
            <a:endParaRPr lang="en-US" sz="1200" dirty="0"/>
          </a:p>
        </p:txBody>
      </p:sp>
      <p:sp>
        <p:nvSpPr>
          <p:cNvPr id="20" name="text 47"/>
          <p:cNvSpPr txBox="1"/>
          <p:nvPr/>
        </p:nvSpPr>
        <p:spPr>
          <a:xfrm>
            <a:off x="3410712" y="2020824"/>
            <a:ext cx="2322576" cy="219456"/>
          </a:xfrm>
          <a:prstGeom prst="rect">
            <a:avLst/>
          </a:prstGeom>
          <a:noFill/>
          <a:ln/>
        </p:spPr>
        <p:txBody>
          <a:bodyPr wrap="square" lIns="0" tIns="0" rIns="0" bIns="0" rtlCol="0" anchor="ctr"/>
          <a:lstStyle/>
          <a:p>
            <a:pPr marL="0" indent="0">
              <a:buNone/>
            </a:pPr>
            <a:r>
              <a:rPr lang="en-US" sz="1050" dirty="0">
                <a:solidFill>
                  <a:schemeClr val="tx1"/>
                </a:solidFill>
              </a:rPr>
              <a:t>Still without work after a year, per age group</a:t>
            </a:r>
            <a:endParaRPr lang="en-US" sz="1050" dirty="0"/>
          </a:p>
        </p:txBody>
      </p:sp>
      <p:graphicFrame>
        <p:nvGraphicFramePr>
          <p:cNvPr id="21" name="chart share long-term per age group"/>
          <p:cNvGraphicFramePr/>
          <p:nvPr/>
        </p:nvGraphicFramePr>
        <p:xfrm>
          <a:off x="3310128" y="2240280"/>
          <a:ext cx="2523744" cy="1627632"/>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48"/>
          <p:cNvSpPr txBox="1"/>
          <p:nvPr/>
        </p:nvSpPr>
        <p:spPr>
          <a:xfrm>
            <a:off x="6217920" y="132588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NOT FOR</a:t>
            </a:r>
            <a:endParaRPr lang="en-US" sz="1000" dirty="0"/>
          </a:p>
        </p:txBody>
      </p:sp>
      <p:sp>
        <p:nvSpPr>
          <p:cNvPr id="23" name="text 49"/>
          <p:cNvSpPr txBox="1"/>
          <p:nvPr/>
        </p:nvSpPr>
        <p:spPr>
          <a:xfrm>
            <a:off x="6217920" y="1563624"/>
            <a:ext cx="2322576" cy="8686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Employers and recruiters</a:t>
            </a:r>
            <a:endParaRPr lang="en-US" sz="1200" dirty="0"/>
          </a:p>
          <a:p>
            <a:pPr marL="342900" indent="-342900">
              <a:spcAft>
                <a:spcPts val="400"/>
              </a:spcAft>
              <a:buSzPct val="100000"/>
              <a:buChar char="•"/>
            </a:pPr>
            <a:r>
              <a:rPr lang="en-US" sz="1200" dirty="0">
                <a:solidFill>
                  <a:schemeClr val="tx1"/>
                </a:solidFill>
              </a:rPr>
              <a:t>Fraud and enforcement teams</a:t>
            </a:r>
            <a:endParaRPr lang="en-US" sz="1200" dirty="0"/>
          </a:p>
          <a:p>
            <a:pPr marL="342900" indent="-342900">
              <a:spcAft>
                <a:spcPts val="400"/>
              </a:spcAft>
              <a:buSzPct val="100000"/>
              <a:buChar char="•"/>
            </a:pPr>
            <a:r>
              <a:rPr lang="en-US" sz="1200" dirty="0">
                <a:solidFill>
                  <a:schemeClr val="tx1"/>
                </a:solidFill>
              </a:rPr>
              <a:t>Municipalities (bijstand)</a:t>
            </a:r>
            <a:endParaRPr lang="en-US" sz="1200" dirty="0"/>
          </a:p>
        </p:txBody>
      </p:sp>
      <p:sp>
        <p:nvSpPr>
          <p:cNvPr id="24" name="text 50"/>
          <p:cNvSpPr txBox="1"/>
          <p:nvPr/>
        </p:nvSpPr>
        <p:spPr>
          <a:xfrm>
            <a:off x="6217920" y="260604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MISSING FROM THE DATA</a:t>
            </a:r>
            <a:endParaRPr lang="en-US" sz="1000" dirty="0"/>
          </a:p>
        </p:txBody>
      </p:sp>
      <p:sp>
        <p:nvSpPr>
          <p:cNvPr id="25" name="text 51"/>
          <p:cNvSpPr txBox="1"/>
          <p:nvPr/>
        </p:nvSpPr>
        <p:spPr>
          <a:xfrm>
            <a:off x="6217920" y="2843784"/>
            <a:ext cx="2322576" cy="685800"/>
          </a:xfrm>
          <a:prstGeom prst="rect">
            <a:avLst/>
          </a:prstGeom>
          <a:noFill/>
          <a:ln/>
        </p:spPr>
        <p:txBody>
          <a:bodyPr wrap="square" lIns="0" tIns="0" rIns="0" bIns="0" rtlCol="0" anchor="t"/>
          <a:lstStyle/>
          <a:p>
            <a:pPr marL="0" indent="0">
              <a:buNone/>
            </a:pPr>
            <a:r>
              <a:rPr lang="en-US" sz="1200" dirty="0">
                <a:solidFill>
                  <a:schemeClr val="tx1"/>
                </a:solidFill>
              </a:rPr>
              <a:t>People who do not read Dutch well. The LISS questionnaires are in Dutch.</a:t>
            </a:r>
            <a:endParaRPr lang="en-US" sz="1200" dirty="0"/>
          </a:p>
        </p:txBody>
      </p:sp>
      <p:sp>
        <p:nvSpPr>
          <p:cNvPr id="26" name="card 52"/>
          <p:cNvSpPr/>
          <p:nvPr/>
        </p:nvSpPr>
        <p:spPr>
          <a:xfrm>
            <a:off x="457200" y="4069080"/>
            <a:ext cx="8229600" cy="411480"/>
          </a:xfrm>
          <a:prstGeom prst="rect">
            <a:avLst/>
          </a:prstGeom>
          <a:solidFill>
            <a:schemeClr val="accent1"/>
          </a:solidFill>
          <a:ln/>
        </p:spPr>
        <p:txBody>
          <a:bodyPr/>
          <a:lstStyle/>
          <a:p>
            <a:endParaRPr lang="en-US"/>
          </a:p>
        </p:txBody>
      </p:sp>
      <p:sp>
        <p:nvSpPr>
          <p:cNvPr id="27" name="text 53"/>
          <p:cNvSpPr txBox="1"/>
          <p:nvPr/>
        </p:nvSpPr>
        <p:spPr>
          <a:xfrm>
            <a:off x="640080" y="4069080"/>
            <a:ext cx="7863840" cy="411480"/>
          </a:xfrm>
          <a:prstGeom prst="rect">
            <a:avLst/>
          </a:prstGeom>
          <a:noFill/>
          <a:ln/>
        </p:spPr>
        <p:txBody>
          <a:bodyPr wrap="square" lIns="0" tIns="0" rIns="0" bIns="0" rtlCol="0" anchor="ctr"/>
          <a:lstStyle/>
          <a:p>
            <a:pPr marL="0" indent="0">
              <a:buNone/>
            </a:pPr>
            <a:r>
              <a:rPr lang="en-US" sz="1300" b="1" dirty="0">
                <a:solidFill>
                  <a:schemeClr val="accent2"/>
                </a:solidFill>
              </a:rPr>
              <a:t>Why this kind of model:  </a:t>
            </a:r>
            <a:r>
              <a:rPr lang="en-US" sz="1300" dirty="0">
                <a:solidFill>
                  <a:schemeClr val="bg1"/>
                </a:solidFill>
              </a:rPr>
              <a:t>a coach has to be able to explain a score, and to disagree with it.</a:t>
            </a:r>
            <a:endParaRPr lang="en-US" sz="1300" dirty="0"/>
          </a:p>
        </p:txBody>
      </p:sp>
      <p:sp>
        <p:nvSpPr>
          <p:cNvPr id="28"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3 · SOLUTION DESCRIPTION     K1 · AI TOOL</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From monthly files to one prediction, in seven steps</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 our notebook (uwv_long_term_unemployment.ipynb), steps 2 to 8 · LISS panel · scikit-learn 1.9</a:t>
            </a:r>
            <a:endParaRPr lang="en-US" sz="900" dirty="0"/>
          </a:p>
        </p:txBody>
      </p:sp>
      <p:sp>
        <p:nvSpPr>
          <p:cNvPr id="5" name="scikit-learn zone"/>
          <p:cNvSpPr/>
          <p:nvPr/>
        </p:nvSpPr>
        <p:spPr>
          <a:xfrm>
            <a:off x="3977640" y="1234440"/>
            <a:ext cx="4800600" cy="1920240"/>
          </a:xfrm>
          <a:prstGeom prst="rect">
            <a:avLst/>
          </a:prstGeom>
          <a:solidFill>
            <a:schemeClr val="accent2">
              <a:alpha val="45000"/>
            </a:schemeClr>
          </a:solidFill>
          <a:ln/>
        </p:spPr>
        <p:txBody>
          <a:bodyPr/>
          <a:lstStyle/>
          <a:p>
            <a:endParaRPr lang="en-US"/>
          </a:p>
        </p:txBody>
      </p:sp>
      <p:sp>
        <p:nvSpPr>
          <p:cNvPr id="6" name="text 54"/>
          <p:cNvSpPr txBox="1"/>
          <p:nvPr/>
        </p:nvSpPr>
        <p:spPr>
          <a:xfrm>
            <a:off x="4069080" y="1298448"/>
            <a:ext cx="365760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DONE WITH SCIKIT-LEARN</a:t>
            </a:r>
            <a:endParaRPr lang="en-US" sz="1000" dirty="0"/>
          </a:p>
        </p:txBody>
      </p:sp>
      <p:sp>
        <p:nvSpPr>
          <p:cNvPr id="7" name="step 1"/>
          <p:cNvSpPr/>
          <p:nvPr/>
        </p:nvSpPr>
        <p:spPr>
          <a:xfrm>
            <a:off x="457200" y="1572768"/>
            <a:ext cx="1005840" cy="1463040"/>
          </a:xfrm>
          <a:prstGeom prst="rect">
            <a:avLst/>
          </a:prstGeom>
          <a:solidFill>
            <a:schemeClr val="bg1"/>
          </a:solidFill>
          <a:ln w="12700">
            <a:solidFill>
              <a:srgbClr val="1F4E79"/>
            </a:solidFill>
            <a:prstDash val="solid"/>
          </a:ln>
        </p:spPr>
        <p:txBody>
          <a:bodyPr/>
          <a:lstStyle/>
          <a:p>
            <a:endParaRPr lang="en-US"/>
          </a:p>
        </p:txBody>
      </p:sp>
      <p:sp>
        <p:nvSpPr>
          <p:cNvPr id="8" name="text 55"/>
          <p:cNvSpPr txBox="1"/>
          <p:nvPr/>
        </p:nvSpPr>
        <p:spPr>
          <a:xfrm>
            <a:off x="548640" y="1645920"/>
            <a:ext cx="365760" cy="310896"/>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1</a:t>
            </a:r>
            <a:endParaRPr lang="en-US" sz="1800" dirty="0"/>
          </a:p>
        </p:txBody>
      </p:sp>
      <p:sp>
        <p:nvSpPr>
          <p:cNvPr id="9" name="text 56"/>
          <p:cNvSpPr txBox="1"/>
          <p:nvPr/>
        </p:nvSpPr>
        <p:spPr>
          <a:xfrm>
            <a:off x="548640" y="1975104"/>
            <a:ext cx="877824" cy="365760"/>
          </a:xfrm>
          <a:prstGeom prst="rect">
            <a:avLst/>
          </a:prstGeom>
          <a:noFill/>
          <a:ln/>
        </p:spPr>
        <p:txBody>
          <a:bodyPr wrap="square" lIns="0" tIns="0" rIns="0" bIns="0" rtlCol="0" anchor="ctr"/>
          <a:lstStyle/>
          <a:p>
            <a:pPr marL="0" indent="0">
              <a:buNone/>
            </a:pPr>
            <a:r>
              <a:rPr lang="en-US" sz="1050" b="1" dirty="0">
                <a:solidFill>
                  <a:schemeClr val="tx1"/>
                </a:solidFill>
              </a:rPr>
              <a:t>LISS monthly files</a:t>
            </a:r>
            <a:endParaRPr lang="en-US" sz="1050" dirty="0"/>
          </a:p>
        </p:txBody>
      </p:sp>
      <p:sp>
        <p:nvSpPr>
          <p:cNvPr id="10" name="text 57"/>
          <p:cNvSpPr txBox="1"/>
          <p:nvPr/>
        </p:nvSpPr>
        <p:spPr>
          <a:xfrm>
            <a:off x="548640" y="2359152"/>
            <a:ext cx="859536" cy="640080"/>
          </a:xfrm>
          <a:prstGeom prst="rect">
            <a:avLst/>
          </a:prstGeom>
          <a:noFill/>
          <a:ln/>
        </p:spPr>
        <p:txBody>
          <a:bodyPr wrap="square" lIns="0" tIns="0" rIns="0" bIns="0" rtlCol="0" anchor="t"/>
          <a:lstStyle/>
          <a:p>
            <a:pPr marL="0" indent="0">
              <a:buNone/>
            </a:pPr>
            <a:r>
              <a:rPr lang="en-US" sz="1000" dirty="0">
                <a:solidFill>
                  <a:schemeClr val="tx1"/>
                </a:solidFill>
              </a:rPr>
              <a:t>220 files: who works, who is looking</a:t>
            </a:r>
            <a:endParaRPr lang="en-US" sz="1000" dirty="0"/>
          </a:p>
        </p:txBody>
      </p:sp>
      <p:sp>
        <p:nvSpPr>
          <p:cNvPr id="11" name="text 58"/>
          <p:cNvSpPr txBox="1"/>
          <p:nvPr/>
        </p:nvSpPr>
        <p:spPr>
          <a:xfrm>
            <a:off x="146304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12" name="step 2"/>
          <p:cNvSpPr/>
          <p:nvPr/>
        </p:nvSpPr>
        <p:spPr>
          <a:xfrm>
            <a:off x="1661160" y="1572768"/>
            <a:ext cx="1005840" cy="1463040"/>
          </a:xfrm>
          <a:prstGeom prst="rect">
            <a:avLst/>
          </a:prstGeom>
          <a:solidFill>
            <a:schemeClr val="bg1"/>
          </a:solidFill>
          <a:ln w="12700">
            <a:solidFill>
              <a:srgbClr val="1F4E79"/>
            </a:solidFill>
            <a:prstDash val="solid"/>
          </a:ln>
        </p:spPr>
        <p:txBody>
          <a:bodyPr/>
          <a:lstStyle/>
          <a:p>
            <a:endParaRPr lang="en-US"/>
          </a:p>
        </p:txBody>
      </p:sp>
      <p:sp>
        <p:nvSpPr>
          <p:cNvPr id="13" name="text 59"/>
          <p:cNvSpPr txBox="1"/>
          <p:nvPr/>
        </p:nvSpPr>
        <p:spPr>
          <a:xfrm>
            <a:off x="1752600" y="1645920"/>
            <a:ext cx="365760" cy="310896"/>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2</a:t>
            </a:r>
            <a:endParaRPr lang="en-US" sz="1800" dirty="0"/>
          </a:p>
        </p:txBody>
      </p:sp>
      <p:sp>
        <p:nvSpPr>
          <p:cNvPr id="14" name="text 60"/>
          <p:cNvSpPr txBox="1"/>
          <p:nvPr/>
        </p:nvSpPr>
        <p:spPr>
          <a:xfrm>
            <a:off x="1752600" y="1975104"/>
            <a:ext cx="877824" cy="365760"/>
          </a:xfrm>
          <a:prstGeom prst="rect">
            <a:avLst/>
          </a:prstGeom>
          <a:noFill/>
          <a:ln/>
        </p:spPr>
        <p:txBody>
          <a:bodyPr wrap="square" lIns="0" tIns="0" rIns="0" bIns="0" rtlCol="0" anchor="ctr"/>
          <a:lstStyle/>
          <a:p>
            <a:pPr marL="0" indent="0">
              <a:buNone/>
            </a:pPr>
            <a:r>
              <a:rPr lang="en-US" sz="1050" b="1" dirty="0">
                <a:solidFill>
                  <a:schemeClr val="tx1"/>
                </a:solidFill>
              </a:rPr>
              <a:t>Find job losses</a:t>
            </a:r>
            <a:endParaRPr lang="en-US" sz="1050" dirty="0"/>
          </a:p>
        </p:txBody>
      </p:sp>
      <p:sp>
        <p:nvSpPr>
          <p:cNvPr id="15" name="text 61"/>
          <p:cNvSpPr txBox="1"/>
          <p:nvPr/>
        </p:nvSpPr>
        <p:spPr>
          <a:xfrm>
            <a:off x="1752600" y="2359152"/>
            <a:ext cx="859536" cy="640080"/>
          </a:xfrm>
          <a:prstGeom prst="rect">
            <a:avLst/>
          </a:prstGeom>
          <a:noFill/>
          <a:ln/>
        </p:spPr>
        <p:txBody>
          <a:bodyPr wrap="square" lIns="0" tIns="0" rIns="0" bIns="0" rtlCol="0" anchor="t"/>
          <a:lstStyle/>
          <a:p>
            <a:pPr marL="0" indent="0">
              <a:buNone/>
            </a:pPr>
            <a:r>
              <a:rPr lang="en-US" sz="1000" dirty="0">
                <a:solidFill>
                  <a:schemeClr val="tx1"/>
                </a:solidFill>
              </a:rPr>
              <a:t>2,019 rows, one per job loss</a:t>
            </a:r>
            <a:endParaRPr lang="en-US" sz="1000" dirty="0"/>
          </a:p>
        </p:txBody>
      </p:sp>
      <p:sp>
        <p:nvSpPr>
          <p:cNvPr id="16" name="text 62"/>
          <p:cNvSpPr txBox="1"/>
          <p:nvPr/>
        </p:nvSpPr>
        <p:spPr>
          <a:xfrm>
            <a:off x="266700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17" name="step 3"/>
          <p:cNvSpPr/>
          <p:nvPr/>
        </p:nvSpPr>
        <p:spPr>
          <a:xfrm>
            <a:off x="2865120" y="1572768"/>
            <a:ext cx="1005840" cy="1463040"/>
          </a:xfrm>
          <a:prstGeom prst="rect">
            <a:avLst/>
          </a:prstGeom>
          <a:solidFill>
            <a:schemeClr val="bg1"/>
          </a:solidFill>
          <a:ln w="12700">
            <a:solidFill>
              <a:srgbClr val="1F4E79"/>
            </a:solidFill>
            <a:prstDash val="solid"/>
          </a:ln>
        </p:spPr>
        <p:txBody>
          <a:bodyPr/>
          <a:lstStyle/>
          <a:p>
            <a:endParaRPr lang="en-US"/>
          </a:p>
        </p:txBody>
      </p:sp>
      <p:sp>
        <p:nvSpPr>
          <p:cNvPr id="18" name="text 63"/>
          <p:cNvSpPr txBox="1"/>
          <p:nvPr/>
        </p:nvSpPr>
        <p:spPr>
          <a:xfrm>
            <a:off x="2956560" y="1645920"/>
            <a:ext cx="365760" cy="310896"/>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3</a:t>
            </a:r>
            <a:endParaRPr lang="en-US" sz="1800" dirty="0"/>
          </a:p>
        </p:txBody>
      </p:sp>
      <p:sp>
        <p:nvSpPr>
          <p:cNvPr id="19" name="text 64"/>
          <p:cNvSpPr txBox="1"/>
          <p:nvPr/>
        </p:nvSpPr>
        <p:spPr>
          <a:xfrm>
            <a:off x="2956560" y="1975104"/>
            <a:ext cx="877824" cy="365760"/>
          </a:xfrm>
          <a:prstGeom prst="rect">
            <a:avLst/>
          </a:prstGeom>
          <a:noFill/>
          <a:ln/>
        </p:spPr>
        <p:txBody>
          <a:bodyPr wrap="square" lIns="0" tIns="0" rIns="0" bIns="0" rtlCol="0" anchor="ctr"/>
          <a:lstStyle/>
          <a:p>
            <a:pPr marL="0" indent="0">
              <a:buNone/>
            </a:pPr>
            <a:r>
              <a:rPr lang="en-US" sz="1050" b="1" dirty="0">
                <a:solidFill>
                  <a:schemeClr val="tx1"/>
                </a:solidFill>
              </a:rPr>
              <a:t>Features</a:t>
            </a:r>
            <a:endParaRPr lang="en-US" sz="1050" dirty="0"/>
          </a:p>
        </p:txBody>
      </p:sp>
      <p:sp>
        <p:nvSpPr>
          <p:cNvPr id="20" name="text 65"/>
          <p:cNvSpPr txBox="1"/>
          <p:nvPr/>
        </p:nvSpPr>
        <p:spPr>
          <a:xfrm>
            <a:off x="2956560" y="2359152"/>
            <a:ext cx="859536" cy="640080"/>
          </a:xfrm>
          <a:prstGeom prst="rect">
            <a:avLst/>
          </a:prstGeom>
          <a:noFill/>
          <a:ln/>
        </p:spPr>
        <p:txBody>
          <a:bodyPr wrap="square" lIns="0" tIns="0" rIns="0" bIns="0" rtlCol="0" anchor="t"/>
          <a:lstStyle/>
          <a:p>
            <a:pPr marL="0" indent="0">
              <a:buNone/>
            </a:pPr>
            <a:r>
              <a:rPr lang="en-US" sz="1000" dirty="0">
                <a:solidFill>
                  <a:schemeClr val="tx1"/>
                </a:solidFill>
              </a:rPr>
              <a:t>22, all from before the job loss</a:t>
            </a:r>
            <a:endParaRPr lang="en-US" sz="1000" dirty="0"/>
          </a:p>
        </p:txBody>
      </p:sp>
      <p:sp>
        <p:nvSpPr>
          <p:cNvPr id="21" name="text 66"/>
          <p:cNvSpPr txBox="1"/>
          <p:nvPr/>
        </p:nvSpPr>
        <p:spPr>
          <a:xfrm>
            <a:off x="387096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22" name="step 4"/>
          <p:cNvSpPr/>
          <p:nvPr/>
        </p:nvSpPr>
        <p:spPr>
          <a:xfrm>
            <a:off x="4069080" y="1572768"/>
            <a:ext cx="1005840" cy="1463040"/>
          </a:xfrm>
          <a:prstGeom prst="rect">
            <a:avLst/>
          </a:prstGeom>
          <a:solidFill>
            <a:schemeClr val="accent1"/>
          </a:solidFill>
          <a:ln/>
        </p:spPr>
        <p:txBody>
          <a:bodyPr/>
          <a:lstStyle/>
          <a:p>
            <a:endParaRPr lang="en-US"/>
          </a:p>
        </p:txBody>
      </p:sp>
      <p:sp>
        <p:nvSpPr>
          <p:cNvPr id="23" name="text 67"/>
          <p:cNvSpPr txBox="1"/>
          <p:nvPr/>
        </p:nvSpPr>
        <p:spPr>
          <a:xfrm>
            <a:off x="416052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4</a:t>
            </a:r>
            <a:endParaRPr lang="en-US" sz="1800" dirty="0"/>
          </a:p>
        </p:txBody>
      </p:sp>
      <p:sp>
        <p:nvSpPr>
          <p:cNvPr id="24" name="text 68"/>
          <p:cNvSpPr txBox="1"/>
          <p:nvPr/>
        </p:nvSpPr>
        <p:spPr>
          <a:xfrm>
            <a:off x="416052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Split by person</a:t>
            </a:r>
            <a:endParaRPr lang="en-US" sz="1050" dirty="0"/>
          </a:p>
        </p:txBody>
      </p:sp>
      <p:sp>
        <p:nvSpPr>
          <p:cNvPr id="25" name="text 69"/>
          <p:cNvSpPr txBox="1"/>
          <p:nvPr/>
        </p:nvSpPr>
        <p:spPr>
          <a:xfrm>
            <a:off x="416052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1,614 train, 405 test</a:t>
            </a:r>
            <a:endParaRPr lang="en-US" sz="1000" dirty="0"/>
          </a:p>
        </p:txBody>
      </p:sp>
      <p:sp>
        <p:nvSpPr>
          <p:cNvPr id="26" name="text 70"/>
          <p:cNvSpPr txBox="1"/>
          <p:nvPr/>
        </p:nvSpPr>
        <p:spPr>
          <a:xfrm>
            <a:off x="507492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27" name="step 5"/>
          <p:cNvSpPr/>
          <p:nvPr/>
        </p:nvSpPr>
        <p:spPr>
          <a:xfrm>
            <a:off x="5273040" y="1572768"/>
            <a:ext cx="1005840" cy="1463040"/>
          </a:xfrm>
          <a:prstGeom prst="rect">
            <a:avLst/>
          </a:prstGeom>
          <a:solidFill>
            <a:schemeClr val="accent1"/>
          </a:solidFill>
          <a:ln/>
        </p:spPr>
        <p:txBody>
          <a:bodyPr/>
          <a:lstStyle/>
          <a:p>
            <a:endParaRPr lang="en-US"/>
          </a:p>
        </p:txBody>
      </p:sp>
      <p:sp>
        <p:nvSpPr>
          <p:cNvPr id="28" name="text 71"/>
          <p:cNvSpPr txBox="1"/>
          <p:nvPr/>
        </p:nvSpPr>
        <p:spPr>
          <a:xfrm>
            <a:off x="536448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5</a:t>
            </a:r>
            <a:endParaRPr lang="en-US" sz="1800" dirty="0"/>
          </a:p>
        </p:txBody>
      </p:sp>
      <p:sp>
        <p:nvSpPr>
          <p:cNvPr id="29" name="text 72"/>
          <p:cNvSpPr txBox="1"/>
          <p:nvPr/>
        </p:nvSpPr>
        <p:spPr>
          <a:xfrm>
            <a:off x="536448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Pipeline</a:t>
            </a:r>
            <a:endParaRPr lang="en-US" sz="1050" dirty="0"/>
          </a:p>
        </p:txBody>
      </p:sp>
      <p:sp>
        <p:nvSpPr>
          <p:cNvPr id="30" name="text 73"/>
          <p:cNvSpPr txBox="1"/>
          <p:nvPr/>
        </p:nvSpPr>
        <p:spPr>
          <a:xfrm>
            <a:off x="536448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impute, scale, one-hot</a:t>
            </a:r>
            <a:endParaRPr lang="en-US" sz="1000" dirty="0"/>
          </a:p>
        </p:txBody>
      </p:sp>
      <p:sp>
        <p:nvSpPr>
          <p:cNvPr id="31" name="text 74"/>
          <p:cNvSpPr txBox="1"/>
          <p:nvPr/>
        </p:nvSpPr>
        <p:spPr>
          <a:xfrm>
            <a:off x="627888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32" name="step 6"/>
          <p:cNvSpPr/>
          <p:nvPr/>
        </p:nvSpPr>
        <p:spPr>
          <a:xfrm>
            <a:off x="6477000" y="1572768"/>
            <a:ext cx="1005840" cy="1463040"/>
          </a:xfrm>
          <a:prstGeom prst="rect">
            <a:avLst/>
          </a:prstGeom>
          <a:solidFill>
            <a:schemeClr val="accent1"/>
          </a:solidFill>
          <a:ln/>
        </p:spPr>
        <p:txBody>
          <a:bodyPr/>
          <a:lstStyle/>
          <a:p>
            <a:endParaRPr lang="en-US"/>
          </a:p>
        </p:txBody>
      </p:sp>
      <p:sp>
        <p:nvSpPr>
          <p:cNvPr id="33" name="text 75"/>
          <p:cNvSpPr txBox="1"/>
          <p:nvPr/>
        </p:nvSpPr>
        <p:spPr>
          <a:xfrm>
            <a:off x="656844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6</a:t>
            </a:r>
            <a:endParaRPr lang="en-US" sz="1800" dirty="0"/>
          </a:p>
        </p:txBody>
      </p:sp>
      <p:sp>
        <p:nvSpPr>
          <p:cNvPr id="34" name="text 76"/>
          <p:cNvSpPr txBox="1"/>
          <p:nvPr/>
        </p:nvSpPr>
        <p:spPr>
          <a:xfrm>
            <a:off x="656844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GridSearchCV</a:t>
            </a:r>
            <a:endParaRPr lang="en-US" sz="1050" dirty="0"/>
          </a:p>
        </p:txBody>
      </p:sp>
      <p:sp>
        <p:nvSpPr>
          <p:cNvPr id="35" name="text 77"/>
          <p:cNvSpPr txBox="1"/>
          <p:nvPr/>
        </p:nvSpPr>
        <p:spPr>
          <a:xfrm>
            <a:off x="656844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same 5 folds: KNN, logistic regression, random forest</a:t>
            </a:r>
            <a:endParaRPr lang="en-US" sz="1000" dirty="0"/>
          </a:p>
        </p:txBody>
      </p:sp>
      <p:sp>
        <p:nvSpPr>
          <p:cNvPr id="36" name="text 78"/>
          <p:cNvSpPr txBox="1"/>
          <p:nvPr/>
        </p:nvSpPr>
        <p:spPr>
          <a:xfrm>
            <a:off x="748284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37" name="step 7"/>
          <p:cNvSpPr/>
          <p:nvPr/>
        </p:nvSpPr>
        <p:spPr>
          <a:xfrm>
            <a:off x="7680960" y="1572768"/>
            <a:ext cx="1005840" cy="1463040"/>
          </a:xfrm>
          <a:prstGeom prst="rect">
            <a:avLst/>
          </a:prstGeom>
          <a:solidFill>
            <a:schemeClr val="accent1"/>
          </a:solidFill>
          <a:ln/>
        </p:spPr>
        <p:txBody>
          <a:bodyPr/>
          <a:lstStyle/>
          <a:p>
            <a:endParaRPr lang="en-US"/>
          </a:p>
        </p:txBody>
      </p:sp>
      <p:sp>
        <p:nvSpPr>
          <p:cNvPr id="38" name="text 79"/>
          <p:cNvSpPr txBox="1"/>
          <p:nvPr/>
        </p:nvSpPr>
        <p:spPr>
          <a:xfrm>
            <a:off x="777240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7</a:t>
            </a:r>
            <a:endParaRPr lang="en-US" sz="1800" dirty="0"/>
          </a:p>
        </p:txBody>
      </p:sp>
      <p:sp>
        <p:nvSpPr>
          <p:cNvPr id="39" name="text 80"/>
          <p:cNvSpPr txBox="1"/>
          <p:nvPr/>
        </p:nvSpPr>
        <p:spPr>
          <a:xfrm>
            <a:off x="777240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Test once</a:t>
            </a:r>
            <a:endParaRPr lang="en-US" sz="1050" dirty="0"/>
          </a:p>
        </p:txBody>
      </p:sp>
      <p:sp>
        <p:nvSpPr>
          <p:cNvPr id="40" name="text 81"/>
          <p:cNvSpPr txBox="1"/>
          <p:nvPr/>
        </p:nvSpPr>
        <p:spPr>
          <a:xfrm>
            <a:off x="777240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and check per group</a:t>
            </a:r>
            <a:endParaRPr lang="en-US" sz="1000" dirty="0"/>
          </a:p>
        </p:txBody>
      </p:sp>
      <p:sp>
        <p:nvSpPr>
          <p:cNvPr id="41" name="card 82"/>
          <p:cNvSpPr/>
          <p:nvPr/>
        </p:nvSpPr>
        <p:spPr>
          <a:xfrm>
            <a:off x="457200" y="3337560"/>
            <a:ext cx="4023360" cy="731520"/>
          </a:xfrm>
          <a:prstGeom prst="rect">
            <a:avLst/>
          </a:prstGeom>
          <a:solidFill>
            <a:schemeClr val="accent2">
              <a:alpha val="30000"/>
            </a:schemeClr>
          </a:solidFill>
          <a:ln/>
        </p:spPr>
        <p:txBody>
          <a:bodyPr/>
          <a:lstStyle/>
          <a:p>
            <a:endParaRPr lang="en-US"/>
          </a:p>
        </p:txBody>
      </p:sp>
      <p:sp>
        <p:nvSpPr>
          <p:cNvPr id="42" name="card 83"/>
          <p:cNvSpPr/>
          <p:nvPr/>
        </p:nvSpPr>
        <p:spPr>
          <a:xfrm>
            <a:off x="4663440" y="3337560"/>
            <a:ext cx="4023360" cy="731520"/>
          </a:xfrm>
          <a:prstGeom prst="rect">
            <a:avLst/>
          </a:prstGeom>
          <a:solidFill>
            <a:schemeClr val="accent2">
              <a:alpha val="30000"/>
            </a:schemeClr>
          </a:solidFill>
          <a:ln/>
        </p:spPr>
        <p:txBody>
          <a:bodyPr/>
          <a:lstStyle/>
          <a:p>
            <a:endParaRPr lang="en-US"/>
          </a:p>
        </p:txBody>
      </p:sp>
      <p:sp>
        <p:nvSpPr>
          <p:cNvPr id="43" name="text 84"/>
          <p:cNvSpPr txBox="1"/>
          <p:nvPr/>
        </p:nvSpPr>
        <p:spPr>
          <a:xfrm>
            <a:off x="603504" y="3337560"/>
            <a:ext cx="3749040" cy="731520"/>
          </a:xfrm>
          <a:prstGeom prst="rect">
            <a:avLst/>
          </a:prstGeom>
          <a:noFill/>
          <a:ln/>
        </p:spPr>
        <p:txBody>
          <a:bodyPr wrap="square" lIns="0" tIns="0" rIns="0" bIns="0" rtlCol="0" anchor="ctr"/>
          <a:lstStyle/>
          <a:p>
            <a:pPr marL="0" indent="0">
              <a:buNone/>
            </a:pPr>
            <a:r>
              <a:rPr lang="en-US" sz="1000" b="1" dirty="0">
                <a:solidFill>
                  <a:schemeClr val="accent1"/>
                </a:solidFill>
                <a:latin typeface="Arial" pitchFamily="34" charset="0"/>
                <a:ea typeface="Arial" pitchFamily="34" charset="-122"/>
                <a:cs typeface="Arial" pitchFamily="34" charset="-120"/>
              </a:rPr>
              <a:t>INPUT  </a:t>
            </a:r>
            <a:r>
              <a:rPr lang="en-US" sz="1150" dirty="0">
                <a:solidFill>
                  <a:schemeClr val="tx1"/>
                </a:solidFill>
              </a:rPr>
              <a:t>What is known about one job seeker at intake: age, education, household, the job they lost, health.</a:t>
            </a:r>
            <a:endParaRPr lang="en-US" sz="1150" dirty="0"/>
          </a:p>
        </p:txBody>
      </p:sp>
      <p:sp>
        <p:nvSpPr>
          <p:cNvPr id="44" name="text 85"/>
          <p:cNvSpPr txBox="1"/>
          <p:nvPr/>
        </p:nvSpPr>
        <p:spPr>
          <a:xfrm>
            <a:off x="4809744" y="3337560"/>
            <a:ext cx="3749040" cy="731520"/>
          </a:xfrm>
          <a:prstGeom prst="rect">
            <a:avLst/>
          </a:prstGeom>
          <a:noFill/>
          <a:ln/>
        </p:spPr>
        <p:txBody>
          <a:bodyPr wrap="square" lIns="0" tIns="0" rIns="0" bIns="0" rtlCol="0" anchor="ctr"/>
          <a:lstStyle/>
          <a:p>
            <a:pPr marL="0" indent="0">
              <a:buNone/>
            </a:pPr>
            <a:r>
              <a:rPr lang="en-US" sz="1000" b="1" dirty="0">
                <a:solidFill>
                  <a:schemeClr val="accent1"/>
                </a:solidFill>
                <a:latin typeface="Arial" pitchFamily="34" charset="0"/>
                <a:ea typeface="Arial" pitchFamily="34" charset="-122"/>
                <a:cs typeface="Arial" pitchFamily="34" charset="-120"/>
              </a:rPr>
              <a:t>OUTPUT  </a:t>
            </a:r>
            <a:r>
              <a:rPr lang="en-US" sz="1150" dirty="0">
                <a:solidFill>
                  <a:schemeClr val="tx1"/>
                </a:solidFill>
              </a:rPr>
              <a:t>The probability of still being without work after 12 months, and an advice: invite early or start online.</a:t>
            </a:r>
            <a:endParaRPr lang="en-US" sz="1150" dirty="0"/>
          </a:p>
        </p:txBody>
      </p:sp>
      <p:sp>
        <p:nvSpPr>
          <p:cNvPr id="45" name="text 86"/>
          <p:cNvSpPr txBox="1"/>
          <p:nvPr/>
        </p:nvSpPr>
        <p:spPr>
          <a:xfrm>
            <a:off x="457200" y="4187952"/>
            <a:ext cx="8229600" cy="274320"/>
          </a:xfrm>
          <a:prstGeom prst="rect">
            <a:avLst/>
          </a:prstGeom>
          <a:noFill/>
          <a:ln/>
        </p:spPr>
        <p:txBody>
          <a:bodyPr wrap="square" lIns="0" tIns="0" rIns="0" bIns="0" rtlCol="0" anchor="ctr"/>
          <a:lstStyle/>
          <a:p>
            <a:pPr marL="0" indent="0">
              <a:buNone/>
            </a:pPr>
            <a:r>
              <a:rPr lang="en-US" sz="1050" b="1" dirty="0">
                <a:solidFill>
                  <a:schemeClr val="accent1"/>
                </a:solidFill>
              </a:rPr>
              <a:t>StratifiedGroupKFold · Pipeline + ColumnTransformer · GridSearchCV · DummyClassifier · cross_val_predict · sklearn.metrics</a:t>
            </a:r>
            <a:endParaRPr lang="en-US" sz="1050" dirty="0"/>
          </a:p>
        </p:txBody>
      </p:sp>
      <p:sp>
        <p:nvSpPr>
          <p:cNvPr id="46"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3 · SOLUTION DESCRIPTION     RUBRIC 5 · WORKING PROTOTYPE</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The best model barely beats one question about age</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 our notebook, steps 5 to 7 · CV: the same 5 person-grouped folds on 1,614 training rows · test set: 405 job losses, scored once</a:t>
            </a:r>
            <a:endParaRPr lang="en-US" sz="900" dirty="0"/>
          </a:p>
        </p:txBody>
      </p:sp>
      <p:graphicFrame>
        <p:nvGraphicFramePr>
          <p:cNvPr id="6" name="comparison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743200"/>
        </p:xfrm>
        <a:graphic>
          <a:graphicData uri="http://schemas.openxmlformats.org/drawingml/2006/table">
            <a:tbl>
              <a:tblPr/>
              <a:tblGrid>
                <a:gridCol w="214884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tblGrid>
              <a:tr h="457200">
                <a:tc>
                  <a:txBody>
                    <a:bodyPr/>
                    <a:lstStyle/>
                    <a:p>
                      <a:pPr marL="0" indent="0" algn="l">
                        <a:buNone/>
                      </a:pPr>
                      <a:r>
                        <a:rPr lang="en-US" sz="950" b="1" dirty="0">
                          <a:solidFill>
                            <a:srgbClr val="1F4E79"/>
                          </a:solidFill>
                        </a:rPr>
                        <a:t>Model</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l">
                        <a:buNone/>
                      </a:pPr>
                      <a:r>
                        <a:rPr lang="en-US" sz="950" b="1" dirty="0">
                          <a:solidFill>
                            <a:srgbClr val="1F4E79"/>
                          </a:solidFill>
                        </a:rPr>
                        <a:t>Best hyperparameters</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CV balanced accuracy (mean ± std)</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precision</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recall</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F1</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balanced accuracy</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lgn="l">
                        <a:buNone/>
                      </a:pPr>
                      <a:r>
                        <a:rPr lang="en-US" sz="1100" dirty="0">
                          <a:solidFill>
                            <a:srgbClr val="000000"/>
                          </a:solidFill>
                        </a:rPr>
                        <a:t>Baseline: most frequent</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none</a:t>
                      </a:r>
                      <a:endParaRPr lang="en-US" sz="95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0.500 ± 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100" dirty="0">
                          <a:solidFill>
                            <a:srgbClr val="000000"/>
                          </a:solidFill>
                        </a:rPr>
                        <a:t>Baseline: age ≥ 50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threshold 50</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0.603 ± 0.020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0.492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0.411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0.448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0.570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100" b="1" dirty="0">
                          <a:solidFill>
                            <a:srgbClr val="000000"/>
                          </a:solidFill>
                        </a:rPr>
                        <a:t>Baseline: best age cutoff</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l">
                        <a:buNone/>
                      </a:pPr>
                      <a:r>
                        <a:rPr lang="en-US" sz="950" b="1" dirty="0">
                          <a:solidFill>
                            <a:srgbClr val="000000"/>
                          </a:solidFill>
                        </a:rPr>
                        <a:t>threshold 40</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0.609 ± 0.018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0.478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0.677</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0.560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0.602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extLst>
                  <a:ext uri="{0D108BD9-81ED-4DB2-BD59-A6C34878D82A}">
                    <a16:rowId xmlns:a16="http://schemas.microsoft.com/office/drawing/2014/main" val="10003"/>
                  </a:ext>
                </a:extLst>
              </a:tr>
              <a:tr h="365760">
                <a:tc>
                  <a:txBody>
                    <a:bodyPr/>
                    <a:lstStyle/>
                    <a:p>
                      <a:pPr marL="0" indent="0" algn="l">
                        <a:buNone/>
                      </a:pPr>
                      <a:r>
                        <a:rPr lang="en-US" sz="1100" dirty="0">
                          <a:solidFill>
                            <a:srgbClr val="000000"/>
                          </a:solidFill>
                        </a:rPr>
                        <a:t>KNN</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n_neighbors=7, weights=distance</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0.590 ± 0.019</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0.467</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0.310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0.373</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0.542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l">
                        <a:buNone/>
                      </a:pPr>
                      <a:r>
                        <a:rPr lang="en-US" sz="1100" b="1" dirty="0">
                          <a:solidFill>
                            <a:srgbClr val="FFFFFF"/>
                          </a:solidFill>
                        </a:rPr>
                        <a:t>Logistic regression (recommended)</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l">
                        <a:buNone/>
                      </a:pPr>
                      <a:r>
                        <a:rPr lang="en-US" sz="950" b="1" dirty="0">
                          <a:solidFill>
                            <a:srgbClr val="FFFFFF"/>
                          </a:solidFill>
                        </a:rPr>
                        <a:t>C=10, class_weight=balanced</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0.640 ± 0.018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0.510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0.620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0.560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0.620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extLst>
                  <a:ext uri="{0D108BD9-81ED-4DB2-BD59-A6C34878D82A}">
                    <a16:rowId xmlns:a16="http://schemas.microsoft.com/office/drawing/2014/main" val="10005"/>
                  </a:ext>
                </a:extLst>
              </a:tr>
              <a:tr h="457200">
                <a:tc>
                  <a:txBody>
                    <a:bodyPr/>
                    <a:lstStyle/>
                    <a:p>
                      <a:pPr marL="0" indent="0" algn="l">
                        <a:buNone/>
                      </a:pPr>
                      <a:r>
                        <a:rPr lang="en-US" sz="1100" dirty="0">
                          <a:solidFill>
                            <a:srgbClr val="000000"/>
                          </a:solidFill>
                        </a:rPr>
                        <a:t>Random forest</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max_depth=12, min_samples_leaf=5, class_weight=balanced</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0.642 ± 0.022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0.494</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0.538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0.515</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0.593</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87"/>
          <p:cNvSpPr txBox="1"/>
          <p:nvPr/>
        </p:nvSpPr>
        <p:spPr>
          <a:xfrm>
            <a:off x="457200" y="4069080"/>
            <a:ext cx="8229600" cy="411480"/>
          </a:xfrm>
          <a:prstGeom prst="rect">
            <a:avLst/>
          </a:prstGeom>
          <a:noFill/>
          <a:ln/>
        </p:spPr>
        <p:txBody>
          <a:bodyPr wrap="square" lIns="0" tIns="0" rIns="0" bIns="0" rtlCol="0" anchor="ctr"/>
          <a:lstStyle/>
          <a:p>
            <a:pPr marL="0" indent="0">
              <a:buNone/>
            </a:pPr>
            <a:r>
              <a:rPr lang="en-US" sz="1400" b="1" dirty="0">
                <a:solidFill>
                  <a:schemeClr val="accent1"/>
                </a:solidFill>
              </a:rPr>
              <a:t>Logistic regression 0.620</a:t>
            </a:r>
            <a:r>
              <a:rPr lang="en-US" sz="1400" dirty="0">
                <a:solidFill>
                  <a:schemeClr val="tx1"/>
                </a:solidFill>
              </a:rPr>
              <a:t>  against  </a:t>
            </a:r>
            <a:r>
              <a:rPr lang="en-US" sz="1400" b="1" dirty="0">
                <a:solidFill>
                  <a:schemeClr val="accent1"/>
                </a:solidFill>
              </a:rPr>
              <a:t>"invite everyone aged 40 or older" 0.602</a:t>
            </a:r>
            <a:r>
              <a:rPr lang="en-US" sz="1400" dirty="0">
                <a:solidFill>
                  <a:schemeClr val="tx1"/>
                </a:solidFill>
              </a:rPr>
              <a:t>  on the test set. Only a little better.</a:t>
            </a:r>
            <a:endParaRPr lang="en-US" sz="1400" dirty="0"/>
          </a:p>
        </p:txBody>
      </p:sp>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5 · WORKING PROTOTYPE     RUBRIC 6 · ETHICAL REASONING</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It finds 98 of the 158, and it misses young people most</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 our notebook, steps 7, 8 and 10 · logistic regression at threshold 0.5 · test set of 405 job losses · CV on 1,614 training rows</a:t>
            </a:r>
            <a:endParaRPr lang="en-US" sz="900" dirty="0"/>
          </a:p>
        </p:txBody>
      </p:sp>
      <p:sp>
        <p:nvSpPr>
          <p:cNvPr id="5" name="text 88"/>
          <p:cNvSpPr txBox="1"/>
          <p:nvPr/>
        </p:nvSpPr>
        <p:spPr>
          <a:xfrm>
            <a:off x="457200" y="1188720"/>
            <a:ext cx="265176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CONFUSION MATRIX</a:t>
            </a:r>
            <a:endParaRPr lang="en-US" sz="1000" dirty="0"/>
          </a:p>
        </p:txBody>
      </p:sp>
      <p:sp>
        <p:nvSpPr>
          <p:cNvPr id="6" name="text 89"/>
          <p:cNvSpPr txBox="1"/>
          <p:nvPr/>
        </p:nvSpPr>
        <p:spPr>
          <a:xfrm>
            <a:off x="1115568" y="1444752"/>
            <a:ext cx="987552" cy="329184"/>
          </a:xfrm>
          <a:prstGeom prst="rect">
            <a:avLst/>
          </a:prstGeom>
          <a:noFill/>
          <a:ln/>
        </p:spPr>
        <p:txBody>
          <a:bodyPr wrap="square" lIns="0" tIns="0" rIns="0" bIns="0" rtlCol="0" anchor="b"/>
          <a:lstStyle/>
          <a:p>
            <a:pPr marL="0" indent="0" algn="ctr">
              <a:buNone/>
            </a:pPr>
            <a:r>
              <a:rPr lang="en-US" sz="950" dirty="0">
                <a:solidFill>
                  <a:schemeClr val="tx1"/>
                </a:solidFill>
              </a:rPr>
              <a:t>predicted: back in work</a:t>
            </a:r>
            <a:endParaRPr lang="en-US" sz="950" dirty="0"/>
          </a:p>
        </p:txBody>
      </p:sp>
      <p:sp>
        <p:nvSpPr>
          <p:cNvPr id="7" name="text 90"/>
          <p:cNvSpPr txBox="1"/>
          <p:nvPr/>
        </p:nvSpPr>
        <p:spPr>
          <a:xfrm>
            <a:off x="2139696" y="1444752"/>
            <a:ext cx="987552" cy="329184"/>
          </a:xfrm>
          <a:prstGeom prst="rect">
            <a:avLst/>
          </a:prstGeom>
          <a:noFill/>
          <a:ln/>
        </p:spPr>
        <p:txBody>
          <a:bodyPr wrap="square" lIns="0" tIns="0" rIns="0" bIns="0" rtlCol="0" anchor="b"/>
          <a:lstStyle/>
          <a:p>
            <a:pPr marL="0" indent="0" algn="ctr">
              <a:buNone/>
            </a:pPr>
            <a:r>
              <a:rPr lang="en-US" sz="950" dirty="0">
                <a:solidFill>
                  <a:schemeClr val="tx1"/>
                </a:solidFill>
              </a:rPr>
              <a:t>predicted: long-term</a:t>
            </a:r>
            <a:endParaRPr lang="en-US" sz="950" dirty="0"/>
          </a:p>
        </p:txBody>
      </p:sp>
      <p:sp>
        <p:nvSpPr>
          <p:cNvPr id="8" name="text 91"/>
          <p:cNvSpPr txBox="1"/>
          <p:nvPr/>
        </p:nvSpPr>
        <p:spPr>
          <a:xfrm>
            <a:off x="457200" y="1783080"/>
            <a:ext cx="603504" cy="987552"/>
          </a:xfrm>
          <a:prstGeom prst="rect">
            <a:avLst/>
          </a:prstGeom>
          <a:noFill/>
          <a:ln/>
        </p:spPr>
        <p:txBody>
          <a:bodyPr wrap="square" lIns="0" tIns="0" rIns="0" bIns="0" rtlCol="0" anchor="ctr"/>
          <a:lstStyle/>
          <a:p>
            <a:pPr marL="0" indent="0" algn="r">
              <a:buNone/>
            </a:pPr>
            <a:r>
              <a:rPr lang="en-US" sz="950" dirty="0">
                <a:solidFill>
                  <a:schemeClr val="tx1"/>
                </a:solidFill>
              </a:rPr>
              <a:t>actual: back &lt; 12 months</a:t>
            </a:r>
            <a:endParaRPr lang="en-US" sz="950" dirty="0"/>
          </a:p>
        </p:txBody>
      </p:sp>
      <p:sp>
        <p:nvSpPr>
          <p:cNvPr id="9" name="text 92"/>
          <p:cNvSpPr txBox="1"/>
          <p:nvPr/>
        </p:nvSpPr>
        <p:spPr>
          <a:xfrm>
            <a:off x="457200" y="2807208"/>
            <a:ext cx="603504" cy="987552"/>
          </a:xfrm>
          <a:prstGeom prst="rect">
            <a:avLst/>
          </a:prstGeom>
          <a:noFill/>
          <a:ln/>
        </p:spPr>
        <p:txBody>
          <a:bodyPr wrap="square" lIns="0" tIns="0" rIns="0" bIns="0" rtlCol="0" anchor="ctr"/>
          <a:lstStyle/>
          <a:p>
            <a:pPr marL="0" indent="0" algn="r">
              <a:buNone/>
            </a:pPr>
            <a:r>
              <a:rPr lang="en-US" sz="950" dirty="0">
                <a:solidFill>
                  <a:schemeClr val="tx1"/>
                </a:solidFill>
              </a:rPr>
              <a:t>actual: 12+ months</a:t>
            </a:r>
            <a:endParaRPr lang="en-US" sz="950" dirty="0"/>
          </a:p>
        </p:txBody>
      </p:sp>
      <p:sp>
        <p:nvSpPr>
          <p:cNvPr id="10" name="matrix cell 153"/>
          <p:cNvSpPr/>
          <p:nvPr/>
        </p:nvSpPr>
        <p:spPr>
          <a:xfrm>
            <a:off x="1115568" y="1783080"/>
            <a:ext cx="987552" cy="987552"/>
          </a:xfrm>
          <a:prstGeom prst="rect">
            <a:avLst/>
          </a:prstGeom>
          <a:solidFill>
            <a:schemeClr val="accent1"/>
          </a:solidFill>
          <a:ln/>
        </p:spPr>
        <p:txBody>
          <a:bodyPr/>
          <a:lstStyle/>
          <a:p>
            <a:endParaRPr lang="en-US"/>
          </a:p>
        </p:txBody>
      </p:sp>
      <p:sp>
        <p:nvSpPr>
          <p:cNvPr id="11" name="text 93"/>
          <p:cNvSpPr txBox="1"/>
          <p:nvPr/>
        </p:nvSpPr>
        <p:spPr>
          <a:xfrm>
            <a:off x="1115568" y="1929384"/>
            <a:ext cx="987552" cy="457200"/>
          </a:xfrm>
          <a:prstGeom prst="rect">
            <a:avLst/>
          </a:prstGeom>
          <a:noFill/>
          <a:ln/>
        </p:spPr>
        <p:txBody>
          <a:bodyPr wrap="square" lIns="0" tIns="0" rIns="0" bIns="0" rtlCol="0" anchor="ctr"/>
          <a:lstStyle/>
          <a:p>
            <a:pPr marL="0" indent="0" algn="ctr">
              <a:buNone/>
            </a:pPr>
            <a:r>
              <a:rPr lang="en-US" sz="2800" b="1" dirty="0">
                <a:solidFill>
                  <a:schemeClr val="bg1"/>
                </a:solidFill>
                <a:latin typeface="Arial" pitchFamily="34" charset="0"/>
                <a:ea typeface="Arial" pitchFamily="34" charset="-122"/>
                <a:cs typeface="Arial" pitchFamily="34" charset="-120"/>
              </a:rPr>
              <a:t>153</a:t>
            </a:r>
            <a:endParaRPr lang="en-US" sz="2800" dirty="0"/>
          </a:p>
        </p:txBody>
      </p:sp>
      <p:sp>
        <p:nvSpPr>
          <p:cNvPr id="12" name="text 94"/>
          <p:cNvSpPr txBox="1"/>
          <p:nvPr/>
        </p:nvSpPr>
        <p:spPr>
          <a:xfrm>
            <a:off x="1152144" y="2386584"/>
            <a:ext cx="914400" cy="292608"/>
          </a:xfrm>
          <a:prstGeom prst="rect">
            <a:avLst/>
          </a:prstGeom>
          <a:noFill/>
          <a:ln/>
        </p:spPr>
        <p:txBody>
          <a:bodyPr wrap="square" lIns="0" tIns="0" rIns="0" bIns="0" rtlCol="0" anchor="ctr"/>
          <a:lstStyle/>
          <a:p>
            <a:pPr marL="0" indent="0" algn="ctr">
              <a:buNone/>
            </a:pPr>
            <a:r>
              <a:rPr lang="en-US" sz="950" dirty="0">
                <a:solidFill>
                  <a:schemeClr val="bg1"/>
                </a:solidFill>
              </a:rPr>
              <a:t>correct: back in work</a:t>
            </a:r>
            <a:endParaRPr lang="en-US" sz="950" dirty="0"/>
          </a:p>
        </p:txBody>
      </p:sp>
      <p:sp>
        <p:nvSpPr>
          <p:cNvPr id="13" name="matrix cell 94"/>
          <p:cNvSpPr/>
          <p:nvPr/>
        </p:nvSpPr>
        <p:spPr>
          <a:xfrm>
            <a:off x="2139696" y="1783080"/>
            <a:ext cx="987552" cy="987552"/>
          </a:xfrm>
          <a:prstGeom prst="rect">
            <a:avLst/>
          </a:prstGeom>
          <a:solidFill>
            <a:schemeClr val="accent2"/>
          </a:solidFill>
          <a:ln/>
        </p:spPr>
        <p:txBody>
          <a:bodyPr/>
          <a:lstStyle/>
          <a:p>
            <a:endParaRPr lang="en-US"/>
          </a:p>
        </p:txBody>
      </p:sp>
      <p:sp>
        <p:nvSpPr>
          <p:cNvPr id="14" name="text 95"/>
          <p:cNvSpPr txBox="1"/>
          <p:nvPr/>
        </p:nvSpPr>
        <p:spPr>
          <a:xfrm>
            <a:off x="2139696" y="1929384"/>
            <a:ext cx="987552" cy="457200"/>
          </a:xfrm>
          <a:prstGeom prst="rect">
            <a:avLst/>
          </a:prstGeom>
          <a:noFill/>
          <a:ln/>
        </p:spPr>
        <p:txBody>
          <a:bodyPr wrap="square" lIns="0" tIns="0" rIns="0" bIns="0" rtlCol="0" anchor="ctr"/>
          <a:lstStyle/>
          <a:p>
            <a:pPr marL="0" indent="0" algn="ctr">
              <a:buNone/>
            </a:pPr>
            <a:r>
              <a:rPr lang="en-US" sz="2800" b="1" dirty="0">
                <a:solidFill>
                  <a:schemeClr val="tx1"/>
                </a:solidFill>
                <a:latin typeface="Arial" pitchFamily="34" charset="0"/>
                <a:ea typeface="Arial" pitchFamily="34" charset="-122"/>
                <a:cs typeface="Arial" pitchFamily="34" charset="-120"/>
              </a:rPr>
              <a:t>94</a:t>
            </a:r>
            <a:endParaRPr lang="en-US" sz="2800" dirty="0"/>
          </a:p>
        </p:txBody>
      </p:sp>
      <p:sp>
        <p:nvSpPr>
          <p:cNvPr id="15" name="text 96"/>
          <p:cNvSpPr txBox="1"/>
          <p:nvPr/>
        </p:nvSpPr>
        <p:spPr>
          <a:xfrm>
            <a:off x="2176272" y="2386584"/>
            <a:ext cx="914400" cy="292608"/>
          </a:xfrm>
          <a:prstGeom prst="rect">
            <a:avLst/>
          </a:prstGeom>
          <a:noFill/>
          <a:ln/>
        </p:spPr>
        <p:txBody>
          <a:bodyPr wrap="square" lIns="0" tIns="0" rIns="0" bIns="0" rtlCol="0" anchor="ctr"/>
          <a:lstStyle/>
          <a:p>
            <a:pPr marL="0" indent="0" algn="ctr">
              <a:buNone/>
            </a:pPr>
            <a:r>
              <a:rPr lang="en-US" sz="950" dirty="0">
                <a:solidFill>
                  <a:schemeClr val="tx1"/>
                </a:solidFill>
              </a:rPr>
              <a:t>extra invites</a:t>
            </a:r>
            <a:endParaRPr lang="en-US" sz="950" dirty="0"/>
          </a:p>
        </p:txBody>
      </p:sp>
      <p:sp>
        <p:nvSpPr>
          <p:cNvPr id="16" name="matrix cell 60"/>
          <p:cNvSpPr/>
          <p:nvPr/>
        </p:nvSpPr>
        <p:spPr>
          <a:xfrm>
            <a:off x="1115568" y="2807208"/>
            <a:ext cx="987552" cy="987552"/>
          </a:xfrm>
          <a:prstGeom prst="rect">
            <a:avLst/>
          </a:prstGeom>
          <a:solidFill>
            <a:schemeClr val="bg1"/>
          </a:solidFill>
          <a:ln w="25400">
            <a:solidFill>
              <a:srgbClr val="000000"/>
            </a:solidFill>
            <a:prstDash val="solid"/>
          </a:ln>
        </p:spPr>
        <p:txBody>
          <a:bodyPr/>
          <a:lstStyle/>
          <a:p>
            <a:endParaRPr lang="en-US"/>
          </a:p>
        </p:txBody>
      </p:sp>
      <p:sp>
        <p:nvSpPr>
          <p:cNvPr id="17" name="text 97"/>
          <p:cNvSpPr txBox="1"/>
          <p:nvPr/>
        </p:nvSpPr>
        <p:spPr>
          <a:xfrm>
            <a:off x="1115568" y="2953512"/>
            <a:ext cx="987552" cy="457200"/>
          </a:xfrm>
          <a:prstGeom prst="rect">
            <a:avLst/>
          </a:prstGeom>
          <a:noFill/>
          <a:ln/>
        </p:spPr>
        <p:txBody>
          <a:bodyPr wrap="square" lIns="0" tIns="0" rIns="0" bIns="0" rtlCol="0" anchor="ctr"/>
          <a:lstStyle/>
          <a:p>
            <a:pPr marL="0" indent="0" algn="ctr">
              <a:buNone/>
            </a:pPr>
            <a:r>
              <a:rPr lang="en-US" sz="2800" b="1" dirty="0">
                <a:solidFill>
                  <a:schemeClr val="tx1"/>
                </a:solidFill>
                <a:latin typeface="Arial" pitchFamily="34" charset="0"/>
                <a:ea typeface="Arial" pitchFamily="34" charset="-122"/>
                <a:cs typeface="Arial" pitchFamily="34" charset="-120"/>
              </a:rPr>
              <a:t>60</a:t>
            </a:r>
            <a:endParaRPr lang="en-US" sz="2800" dirty="0"/>
          </a:p>
        </p:txBody>
      </p:sp>
      <p:sp>
        <p:nvSpPr>
          <p:cNvPr id="18" name="text 98"/>
          <p:cNvSpPr txBox="1"/>
          <p:nvPr/>
        </p:nvSpPr>
        <p:spPr>
          <a:xfrm>
            <a:off x="1152144" y="3410712"/>
            <a:ext cx="914400" cy="292608"/>
          </a:xfrm>
          <a:prstGeom prst="rect">
            <a:avLst/>
          </a:prstGeom>
          <a:noFill/>
          <a:ln/>
        </p:spPr>
        <p:txBody>
          <a:bodyPr wrap="square" lIns="0" tIns="0" rIns="0" bIns="0" rtlCol="0" anchor="ctr"/>
          <a:lstStyle/>
          <a:p>
            <a:pPr marL="0" indent="0" algn="ctr">
              <a:buNone/>
            </a:pPr>
            <a:r>
              <a:rPr lang="en-US" sz="950" b="1" dirty="0">
                <a:solidFill>
                  <a:schemeClr val="tx1"/>
                </a:solidFill>
              </a:rPr>
              <a:t>missed</a:t>
            </a:r>
            <a:endParaRPr lang="en-US" sz="950" dirty="0"/>
          </a:p>
        </p:txBody>
      </p:sp>
      <p:sp>
        <p:nvSpPr>
          <p:cNvPr id="19" name="matrix cell 98"/>
          <p:cNvSpPr/>
          <p:nvPr/>
        </p:nvSpPr>
        <p:spPr>
          <a:xfrm>
            <a:off x="2139696" y="2807208"/>
            <a:ext cx="987552" cy="987552"/>
          </a:xfrm>
          <a:prstGeom prst="rect">
            <a:avLst/>
          </a:prstGeom>
          <a:solidFill>
            <a:schemeClr val="accent1"/>
          </a:solidFill>
          <a:ln/>
        </p:spPr>
        <p:txBody>
          <a:bodyPr/>
          <a:lstStyle/>
          <a:p>
            <a:endParaRPr lang="en-US"/>
          </a:p>
        </p:txBody>
      </p:sp>
      <p:sp>
        <p:nvSpPr>
          <p:cNvPr id="20" name="text 99"/>
          <p:cNvSpPr txBox="1"/>
          <p:nvPr/>
        </p:nvSpPr>
        <p:spPr>
          <a:xfrm>
            <a:off x="2139696" y="2953512"/>
            <a:ext cx="987552" cy="457200"/>
          </a:xfrm>
          <a:prstGeom prst="rect">
            <a:avLst/>
          </a:prstGeom>
          <a:noFill/>
          <a:ln/>
        </p:spPr>
        <p:txBody>
          <a:bodyPr wrap="square" lIns="0" tIns="0" rIns="0" bIns="0" rtlCol="0" anchor="ctr"/>
          <a:lstStyle/>
          <a:p>
            <a:pPr marL="0" indent="0" algn="ctr">
              <a:buNone/>
            </a:pPr>
            <a:r>
              <a:rPr lang="en-US" sz="2800" b="1" dirty="0">
                <a:solidFill>
                  <a:schemeClr val="bg1"/>
                </a:solidFill>
                <a:latin typeface="Arial" pitchFamily="34" charset="0"/>
                <a:ea typeface="Arial" pitchFamily="34" charset="-122"/>
                <a:cs typeface="Arial" pitchFamily="34" charset="-120"/>
              </a:rPr>
              <a:t>98</a:t>
            </a:r>
            <a:endParaRPr lang="en-US" sz="2800" dirty="0"/>
          </a:p>
        </p:txBody>
      </p:sp>
      <p:sp>
        <p:nvSpPr>
          <p:cNvPr id="21" name="text 100"/>
          <p:cNvSpPr txBox="1"/>
          <p:nvPr/>
        </p:nvSpPr>
        <p:spPr>
          <a:xfrm>
            <a:off x="2176272" y="3410712"/>
            <a:ext cx="914400" cy="292608"/>
          </a:xfrm>
          <a:prstGeom prst="rect">
            <a:avLst/>
          </a:prstGeom>
          <a:noFill/>
          <a:ln/>
        </p:spPr>
        <p:txBody>
          <a:bodyPr wrap="square" lIns="0" tIns="0" rIns="0" bIns="0" rtlCol="0" anchor="ctr"/>
          <a:lstStyle/>
          <a:p>
            <a:pPr marL="0" indent="0" algn="ctr">
              <a:buNone/>
            </a:pPr>
            <a:r>
              <a:rPr lang="en-US" sz="950" dirty="0">
                <a:solidFill>
                  <a:schemeClr val="bg1"/>
                </a:solidFill>
              </a:rPr>
              <a:t>correct: long-term</a:t>
            </a:r>
            <a:endParaRPr lang="en-US" sz="950" dirty="0"/>
          </a:p>
        </p:txBody>
      </p:sp>
      <p:sp>
        <p:nvSpPr>
          <p:cNvPr id="22" name="text 101"/>
          <p:cNvSpPr txBox="1"/>
          <p:nvPr/>
        </p:nvSpPr>
        <p:spPr>
          <a:xfrm>
            <a:off x="457200" y="3931920"/>
            <a:ext cx="2651760" cy="457200"/>
          </a:xfrm>
          <a:prstGeom prst="rect">
            <a:avLst/>
          </a:prstGeom>
          <a:noFill/>
          <a:ln/>
        </p:spPr>
        <p:txBody>
          <a:bodyPr wrap="square" lIns="0" tIns="0" rIns="0" bIns="0" rtlCol="0" anchor="t"/>
          <a:lstStyle/>
          <a:p>
            <a:pPr marL="0" indent="0">
              <a:buNone/>
            </a:pPr>
            <a:r>
              <a:rPr lang="en-US" sz="1100" b="1" dirty="0">
                <a:solidFill>
                  <a:schemeClr val="tx1"/>
                </a:solidFill>
              </a:rPr>
              <a:t>The 60 missed people wait until month seven.</a:t>
            </a:r>
            <a:endParaRPr lang="en-US" sz="1100" dirty="0"/>
          </a:p>
        </p:txBody>
      </p:sp>
      <p:sp>
        <p:nvSpPr>
          <p:cNvPr id="23" name="text 102"/>
          <p:cNvSpPr txBox="1"/>
          <p:nvPr/>
        </p:nvSpPr>
        <p:spPr>
          <a:xfrm>
            <a:off x="3337560" y="1188720"/>
            <a:ext cx="265176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RECALL PER AGE GROUP</a:t>
            </a:r>
            <a:endParaRPr lang="en-US" sz="1000" dirty="0"/>
          </a:p>
        </p:txBody>
      </p:sp>
      <p:sp>
        <p:nvSpPr>
          <p:cNvPr id="24" name="text 103"/>
          <p:cNvSpPr txBox="1"/>
          <p:nvPr/>
        </p:nvSpPr>
        <p:spPr>
          <a:xfrm>
            <a:off x="3337560" y="1389888"/>
            <a:ext cx="2651760" cy="201168"/>
          </a:xfrm>
          <a:prstGeom prst="rect">
            <a:avLst/>
          </a:prstGeom>
          <a:noFill/>
          <a:ln/>
        </p:spPr>
        <p:txBody>
          <a:bodyPr wrap="square" lIns="0" tIns="0" rIns="0" bIns="0" rtlCol="0" anchor="ctr"/>
          <a:lstStyle/>
          <a:p>
            <a:pPr marL="0" indent="0">
              <a:buNone/>
            </a:pPr>
            <a:r>
              <a:rPr lang="en-US" sz="1000" dirty="0">
                <a:solidFill>
                  <a:schemeClr val="tx1"/>
                </a:solidFill>
              </a:rPr>
              <a:t>Share of long-term cases the model finds</a:t>
            </a:r>
            <a:endParaRPr lang="en-US" sz="1000" dirty="0"/>
          </a:p>
        </p:txBody>
      </p:sp>
      <p:graphicFrame>
        <p:nvGraphicFramePr>
          <p:cNvPr id="25" name="chart recall per age group"/>
          <p:cNvGraphicFramePr/>
          <p:nvPr/>
        </p:nvGraphicFramePr>
        <p:xfrm>
          <a:off x="3264408" y="1600200"/>
          <a:ext cx="274320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 104"/>
          <p:cNvSpPr txBox="1"/>
          <p:nvPr/>
        </p:nvSpPr>
        <p:spPr>
          <a:xfrm>
            <a:off x="3337560" y="3840480"/>
            <a:ext cx="2651760" cy="566928"/>
          </a:xfrm>
          <a:prstGeom prst="rect">
            <a:avLst/>
          </a:prstGeom>
          <a:noFill/>
          <a:ln/>
        </p:spPr>
        <p:txBody>
          <a:bodyPr wrap="square" lIns="0" tIns="0" rIns="0" bIns="0" rtlCol="0" anchor="t"/>
          <a:lstStyle/>
          <a:p>
            <a:pPr marL="0" indent="0">
              <a:buNone/>
            </a:pPr>
            <a:r>
              <a:rPr lang="en-US" sz="1100" b="1" dirty="0">
                <a:solidFill>
                  <a:schemeClr val="tx1"/>
                </a:solidFill>
              </a:rPr>
              <a:t>Men and women: </a:t>
            </a:r>
            <a:r>
              <a:rPr lang="en-US" sz="1100" dirty="0">
                <a:solidFill>
                  <a:schemeClr val="tx1"/>
                </a:solidFill>
              </a:rPr>
              <a:t>0.46 and 0.77 on the test set, 0.59 and 0.62 on more data. Mostly chance.</a:t>
            </a:r>
            <a:endParaRPr lang="en-US" sz="1100" dirty="0"/>
          </a:p>
        </p:txBody>
      </p:sp>
      <p:sp>
        <p:nvSpPr>
          <p:cNvPr id="27" name="card 105"/>
          <p:cNvSpPr/>
          <p:nvPr/>
        </p:nvSpPr>
        <p:spPr>
          <a:xfrm>
            <a:off x="6217920" y="1188720"/>
            <a:ext cx="2468880" cy="3291840"/>
          </a:xfrm>
          <a:prstGeom prst="rect">
            <a:avLst/>
          </a:prstGeom>
          <a:solidFill>
            <a:schemeClr val="accent1"/>
          </a:solidFill>
          <a:ln/>
        </p:spPr>
        <p:txBody>
          <a:bodyPr/>
          <a:lstStyle/>
          <a:p>
            <a:endParaRPr lang="en-US"/>
          </a:p>
        </p:txBody>
      </p:sp>
      <p:sp>
        <p:nvSpPr>
          <p:cNvPr id="28" name="text 106"/>
          <p:cNvSpPr txBox="1"/>
          <p:nvPr/>
        </p:nvSpPr>
        <p:spPr>
          <a:xfrm>
            <a:off x="6345936" y="1243584"/>
            <a:ext cx="2212848" cy="274320"/>
          </a:xfrm>
          <a:prstGeom prst="rect">
            <a:avLst/>
          </a:prstGeom>
          <a:noFill/>
          <a:ln/>
        </p:spPr>
        <p:txBody>
          <a:bodyPr wrap="square" lIns="0" tIns="0" rIns="0" bIns="0" rtlCol="0" anchor="ctr"/>
          <a:lstStyle/>
          <a:p>
            <a:pPr marL="0" indent="0">
              <a:buNone/>
            </a:pPr>
            <a:r>
              <a:rPr lang="en-US" sz="1200" b="1" kern="0" spc="100" dirty="0">
                <a:solidFill>
                  <a:schemeClr val="bg1"/>
                </a:solidFill>
                <a:latin typeface="Arial" pitchFamily="34" charset="0"/>
                <a:ea typeface="Arial" pitchFamily="34" charset="-122"/>
                <a:cs typeface="Arial" pitchFamily="34" charset="-120"/>
              </a:rPr>
              <a:t>LIVE PREDICTION</a:t>
            </a:r>
            <a:endParaRPr lang="en-US" sz="1200" dirty="0"/>
          </a:p>
        </p:txBody>
      </p:sp>
      <p:sp>
        <p:nvSpPr>
          <p:cNvPr id="29" name="text 107"/>
          <p:cNvSpPr txBox="1"/>
          <p:nvPr/>
        </p:nvSpPr>
        <p:spPr>
          <a:xfrm>
            <a:off x="6345936" y="1517904"/>
            <a:ext cx="2212848" cy="329184"/>
          </a:xfrm>
          <a:prstGeom prst="rect">
            <a:avLst/>
          </a:prstGeom>
          <a:noFill/>
          <a:ln/>
        </p:spPr>
        <p:txBody>
          <a:bodyPr wrap="square" lIns="0" tIns="0" rIns="0" bIns="0" rtlCol="0" anchor="ctr"/>
          <a:lstStyle/>
          <a:p>
            <a:pPr marL="0" indent="0">
              <a:buNone/>
            </a:pPr>
            <a:r>
              <a:rPr lang="en-US" sz="950" dirty="0">
                <a:solidFill>
                  <a:schemeClr val="accent2"/>
                </a:solidFill>
              </a:rPr>
              <a:t>Notebook step 10, a made-up job seeker. Saved output as backup:</a:t>
            </a:r>
            <a:endParaRPr lang="en-US" sz="950" dirty="0"/>
          </a:p>
        </p:txBody>
      </p:sp>
      <p:sp>
        <p:nvSpPr>
          <p:cNvPr id="30" name="saved output panel"/>
          <p:cNvSpPr/>
          <p:nvPr/>
        </p:nvSpPr>
        <p:spPr>
          <a:xfrm>
            <a:off x="6309360" y="1883664"/>
            <a:ext cx="2286000" cy="1591056"/>
          </a:xfrm>
          <a:prstGeom prst="rect">
            <a:avLst/>
          </a:prstGeom>
          <a:solidFill>
            <a:schemeClr val="bg1"/>
          </a:solidFill>
          <a:ln/>
        </p:spPr>
        <p:txBody>
          <a:bodyPr/>
          <a:lstStyle/>
          <a:p>
            <a:endParaRPr lang="en-US"/>
          </a:p>
        </p:txBody>
      </p:sp>
      <p:sp>
        <p:nvSpPr>
          <p:cNvPr id="31" name="text 108"/>
          <p:cNvSpPr txBox="1"/>
          <p:nvPr/>
        </p:nvSpPr>
        <p:spPr>
          <a:xfrm>
            <a:off x="6364224" y="1920240"/>
            <a:ext cx="2176272" cy="1517904"/>
          </a:xfrm>
          <a:prstGeom prst="rect">
            <a:avLst/>
          </a:prstGeom>
          <a:noFill/>
          <a:ln/>
        </p:spPr>
        <p:txBody>
          <a:bodyPr wrap="square" lIns="0" tIns="0" rIns="0" bIns="0" rtlCol="0" anchor="t"/>
          <a:lstStyle/>
          <a:p>
            <a:pPr marL="0" indent="0">
              <a:spcAft>
                <a:spcPts val="200"/>
              </a:spcAft>
              <a:buNone/>
            </a:pPr>
            <a:r>
              <a:rPr lang="en-US" sz="700" dirty="0">
                <a:solidFill>
                  <a:schemeClr val="tx1"/>
                </a:solidFill>
                <a:latin typeface="Courier New" pitchFamily="34" charset="0"/>
                <a:ea typeface="Courier New" pitchFamily="34" charset="-122"/>
                <a:cs typeface="Courier New" pitchFamily="34" charset="-120"/>
              </a:rPr>
              <a:t>Model: Logistic regression, threshold 0.35</a:t>
            </a:r>
            <a:endParaRPr lang="en-US" sz="700" dirty="0"/>
          </a:p>
          <a:p>
            <a:pPr marL="0" indent="0">
              <a:spcAft>
                <a:spcPts val="200"/>
              </a:spcAft>
              <a:buNone/>
            </a:pPr>
            <a:r>
              <a:rPr lang="en-US" sz="700" dirty="0">
                <a:solidFill>
                  <a:schemeClr val="tx1"/>
                </a:solidFill>
                <a:latin typeface="Courier New" pitchFamily="34" charset="0"/>
                <a:ea typeface="Courier New" pitchFamily="34" charset="-122"/>
                <a:cs typeface="Courier New" pitchFamily="34" charset="-120"/>
              </a:rPr>
              <a:t>Probability of still being without work after 12 months: 82%</a:t>
            </a:r>
            <a:endParaRPr lang="en-US" sz="700" dirty="0"/>
          </a:p>
          <a:p>
            <a:pPr marL="0" indent="0">
              <a:spcAft>
                <a:spcPts val="200"/>
              </a:spcAft>
              <a:buNone/>
            </a:pPr>
            <a:r>
              <a:rPr lang="en-US" sz="700" dirty="0">
                <a:solidFill>
                  <a:schemeClr val="tx1"/>
                </a:solidFill>
                <a:latin typeface="Courier New" pitchFamily="34" charset="0"/>
                <a:ea typeface="Courier New" pitchFamily="34" charset="-122"/>
                <a:cs typeface="Courier New" pitchFamily="34" charset="-120"/>
              </a:rPr>
              <a:t>Advice: invite early for a face-to-face conversation</a:t>
            </a:r>
            <a:endParaRPr lang="en-US" sz="700" dirty="0"/>
          </a:p>
          <a:p>
            <a:pPr marL="0" indent="0">
              <a:spcAft>
                <a:spcPts val="200"/>
              </a:spcAft>
              <a:buNone/>
            </a:pPr>
            <a:r>
              <a:rPr lang="en-US" sz="700" dirty="0">
                <a:solidFill>
                  <a:schemeClr val="tx1"/>
                </a:solidFill>
                <a:latin typeface="Courier New" pitchFamily="34" charset="0"/>
                <a:ea typeface="Courier New" pitchFamily="34" charset="-122"/>
                <a:cs typeface="Courier New" pitchFamily="34" charset="-120"/>
              </a:rPr>
              <a:t>Raises the risk most: age (+0.75), longstanding_disease_yes (+0.72), years_with_employer (+0.27)</a:t>
            </a:r>
            <a:endParaRPr lang="en-US" sz="700" dirty="0"/>
          </a:p>
          <a:p>
            <a:pPr marL="0" indent="0">
              <a:spcAft>
                <a:spcPts val="200"/>
              </a:spcAft>
              <a:buNone/>
            </a:pPr>
            <a:r>
              <a:rPr lang="en-US" sz="700" dirty="0">
                <a:solidFill>
                  <a:schemeClr val="tx1"/>
                </a:solidFill>
                <a:latin typeface="Courier New" pitchFamily="34" charset="0"/>
                <a:ea typeface="Courier New" pitchFamily="34" charset="-122"/>
                <a:cs typeface="Courier New" pitchFamily="34" charset="-120"/>
              </a:rPr>
              <a:t>Lowers the risk most: occupation_other mental work (administrative, sales) (-0.26), household_size (-0.16), net_income (-0.12)</a:t>
            </a:r>
            <a:endParaRPr lang="en-US" sz="700" dirty="0"/>
          </a:p>
        </p:txBody>
      </p:sp>
      <p:sp>
        <p:nvSpPr>
          <p:cNvPr id="32" name="text 109"/>
          <p:cNvSpPr txBox="1"/>
          <p:nvPr/>
        </p:nvSpPr>
        <p:spPr>
          <a:xfrm>
            <a:off x="6345936" y="3529584"/>
            <a:ext cx="2212848" cy="201168"/>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Arial" pitchFamily="34" charset="0"/>
                <a:ea typeface="Arial" pitchFamily="34" charset="-122"/>
                <a:cs typeface="Arial" pitchFamily="34" charset="-120"/>
              </a:rPr>
              <a:t>WATCH FOR</a:t>
            </a:r>
            <a:endParaRPr lang="en-US" sz="1000" dirty="0"/>
          </a:p>
        </p:txBody>
      </p:sp>
      <p:sp>
        <p:nvSpPr>
          <p:cNvPr id="33" name="text 110"/>
          <p:cNvSpPr txBox="1"/>
          <p:nvPr/>
        </p:nvSpPr>
        <p:spPr>
          <a:xfrm>
            <a:off x="6345936" y="3730752"/>
            <a:ext cx="2212848" cy="713232"/>
          </a:xfrm>
          <a:prstGeom prst="rect">
            <a:avLst/>
          </a:prstGeom>
          <a:noFill/>
          <a:ln/>
        </p:spPr>
        <p:txBody>
          <a:bodyPr wrap="square" lIns="0" tIns="0" rIns="0" bIns="0" rtlCol="0" anchor="t"/>
          <a:lstStyle/>
          <a:p>
            <a:pPr marL="0" indent="0">
              <a:buNone/>
            </a:pPr>
            <a:r>
              <a:rPr lang="en-US" sz="1050" dirty="0">
                <a:solidFill>
                  <a:schemeClr val="bg1"/>
                </a:solidFill>
              </a:rPr>
              <a:t>1  The probability</a:t>
            </a:r>
            <a:endParaRPr lang="en-US" sz="1050" dirty="0"/>
          </a:p>
          <a:p>
            <a:pPr marL="0" indent="0">
              <a:buNone/>
            </a:pPr>
            <a:r>
              <a:rPr lang="en-US" sz="1050" dirty="0">
                <a:solidFill>
                  <a:schemeClr val="bg1"/>
                </a:solidFill>
              </a:rPr>
              <a:t>2  The advice</a:t>
            </a:r>
            <a:endParaRPr lang="en-US" sz="1050" dirty="0"/>
          </a:p>
          <a:p>
            <a:pPr marL="0" indent="0">
              <a:buNone/>
            </a:pPr>
            <a:r>
              <a:rPr lang="en-US" sz="1050" dirty="0">
                <a:solidFill>
                  <a:schemeClr val="bg1"/>
                </a:solidFill>
              </a:rPr>
              <a:t>3  Three answers that raise and three that lower the score</a:t>
            </a:r>
            <a:endParaRPr lang="en-US" sz="1050" dirty="0"/>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4 · PROBLEM-SOLUTION FIT</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A reason a coach can discuss, on a split we can trust</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 our notebook, step 3 (split) and step 9 (same workload) · long-term cases found out of 158 on the test set</a:t>
            </a:r>
            <a:endParaRPr lang="en-US" sz="900" dirty="0"/>
          </a:p>
        </p:txBody>
      </p:sp>
      <p:sp>
        <p:nvSpPr>
          <p:cNvPr id="5" name="text 111"/>
          <p:cNvSpPr txBox="1"/>
          <p:nvPr/>
        </p:nvSpPr>
        <p:spPr>
          <a:xfrm>
            <a:off x="457200" y="1188720"/>
            <a:ext cx="475488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WHY NOT SOMETHING SIMPLER?</a:t>
            </a:r>
            <a:endParaRPr lang="en-US" sz="1000" dirty="0"/>
          </a:p>
        </p:txBody>
      </p:sp>
      <p:sp>
        <p:nvSpPr>
          <p:cNvPr id="6" name="card 112"/>
          <p:cNvSpPr/>
          <p:nvPr/>
        </p:nvSpPr>
        <p:spPr>
          <a:xfrm>
            <a:off x="457200" y="1463040"/>
            <a:ext cx="4754880" cy="877824"/>
          </a:xfrm>
          <a:prstGeom prst="rect">
            <a:avLst/>
          </a:prstGeom>
          <a:solidFill>
            <a:schemeClr val="accent2">
              <a:alpha val="30000"/>
            </a:schemeClr>
          </a:solidFill>
          <a:ln/>
        </p:spPr>
        <p:txBody>
          <a:bodyPr/>
          <a:lstStyle/>
          <a:p>
            <a:endParaRPr lang="en-US"/>
          </a:p>
        </p:txBody>
      </p:sp>
      <p:sp>
        <p:nvSpPr>
          <p:cNvPr id="7" name="text 113"/>
          <p:cNvSpPr txBox="1"/>
          <p:nvPr/>
        </p:nvSpPr>
        <p:spPr>
          <a:xfrm>
            <a:off x="603504" y="1463040"/>
            <a:ext cx="1325880" cy="877824"/>
          </a:xfrm>
          <a:prstGeom prst="rect">
            <a:avLst/>
          </a:prstGeom>
          <a:noFill/>
          <a:ln/>
        </p:spPr>
        <p:txBody>
          <a:bodyPr wrap="square" lIns="0" tIns="0" rIns="0" bIns="0" rtlCol="0" anchor="ctr"/>
          <a:lstStyle/>
          <a:p>
            <a:pPr marL="0" indent="0">
              <a:buNone/>
            </a:pPr>
            <a:r>
              <a:rPr lang="en-US" sz="1200" b="1" dirty="0">
                <a:solidFill>
                  <a:schemeClr val="tx1"/>
                </a:solidFill>
              </a:rPr>
              <a:t>Invite everyone aged 50 or older</a:t>
            </a:r>
            <a:endParaRPr lang="en-US" sz="1200" dirty="0"/>
          </a:p>
        </p:txBody>
      </p:sp>
      <p:sp>
        <p:nvSpPr>
          <p:cNvPr id="8" name="text 114"/>
          <p:cNvSpPr txBox="1"/>
          <p:nvPr/>
        </p:nvSpPr>
        <p:spPr>
          <a:xfrm>
            <a:off x="2011680" y="1536192"/>
            <a:ext cx="731520" cy="457200"/>
          </a:xfrm>
          <a:prstGeom prst="rect">
            <a:avLst/>
          </a:prstGeom>
          <a:noFill/>
          <a:ln/>
        </p:spPr>
        <p:txBody>
          <a:bodyPr wrap="square" lIns="0" tIns="0" rIns="0" bIns="0" rtlCol="0" anchor="ctr"/>
          <a:lstStyle/>
          <a:p>
            <a:pPr marL="0" indent="0" algn="ctr">
              <a:buNone/>
            </a:pPr>
            <a:r>
              <a:rPr lang="en-US" sz="2400" b="1" dirty="0">
                <a:solidFill>
                  <a:schemeClr val="tx1"/>
                </a:solidFill>
                <a:latin typeface="Arial" pitchFamily="34" charset="0"/>
                <a:ea typeface="Arial" pitchFamily="34" charset="-122"/>
                <a:cs typeface="Arial" pitchFamily="34" charset="-120"/>
              </a:rPr>
              <a:t>65</a:t>
            </a:r>
            <a:endParaRPr lang="en-US" sz="2400" dirty="0"/>
          </a:p>
        </p:txBody>
      </p:sp>
      <p:sp>
        <p:nvSpPr>
          <p:cNvPr id="9" name="text 115"/>
          <p:cNvSpPr txBox="1"/>
          <p:nvPr/>
        </p:nvSpPr>
        <p:spPr>
          <a:xfrm>
            <a:off x="2011680" y="2011680"/>
            <a:ext cx="731520" cy="237744"/>
          </a:xfrm>
          <a:prstGeom prst="rect">
            <a:avLst/>
          </a:prstGeom>
          <a:noFill/>
          <a:ln/>
        </p:spPr>
        <p:txBody>
          <a:bodyPr wrap="square" lIns="0" tIns="0" rIns="0" bIns="0" rtlCol="0" anchor="ctr"/>
          <a:lstStyle/>
          <a:p>
            <a:pPr marL="0" indent="0" algn="ctr">
              <a:buNone/>
            </a:pPr>
            <a:r>
              <a:rPr lang="en-US" sz="1000" dirty="0">
                <a:solidFill>
                  <a:schemeClr val="tx1"/>
                </a:solidFill>
              </a:rPr>
              <a:t>the rule</a:t>
            </a:r>
            <a:endParaRPr lang="en-US" sz="1000" dirty="0"/>
          </a:p>
        </p:txBody>
      </p:sp>
      <p:sp>
        <p:nvSpPr>
          <p:cNvPr id="10" name="text 116"/>
          <p:cNvSpPr txBox="1"/>
          <p:nvPr/>
        </p:nvSpPr>
        <p:spPr>
          <a:xfrm>
            <a:off x="2788920" y="1536192"/>
            <a:ext cx="731520" cy="457200"/>
          </a:xfrm>
          <a:prstGeom prst="rect">
            <a:avLst/>
          </a:prstGeom>
          <a:noFill/>
          <a:ln/>
        </p:spPr>
        <p:txBody>
          <a:bodyPr wrap="square" lIns="0" tIns="0" rIns="0" bIns="0" rtlCol="0" anchor="ctr"/>
          <a:lstStyle/>
          <a:p>
            <a:pPr marL="0" indent="0" algn="ctr">
              <a:buNone/>
            </a:pPr>
            <a:r>
              <a:rPr lang="en-US" sz="2400" b="1" dirty="0">
                <a:solidFill>
                  <a:schemeClr val="accent1"/>
                </a:solidFill>
                <a:latin typeface="Arial" pitchFamily="34" charset="0"/>
                <a:ea typeface="Arial" pitchFamily="34" charset="-122"/>
                <a:cs typeface="Arial" pitchFamily="34" charset="-120"/>
              </a:rPr>
              <a:t>78</a:t>
            </a:r>
            <a:endParaRPr lang="en-US" sz="2400" dirty="0"/>
          </a:p>
        </p:txBody>
      </p:sp>
      <p:sp>
        <p:nvSpPr>
          <p:cNvPr id="11" name="text 117"/>
          <p:cNvSpPr txBox="1"/>
          <p:nvPr/>
        </p:nvSpPr>
        <p:spPr>
          <a:xfrm>
            <a:off x="2788920" y="2011680"/>
            <a:ext cx="731520" cy="237744"/>
          </a:xfrm>
          <a:prstGeom prst="rect">
            <a:avLst/>
          </a:prstGeom>
          <a:noFill/>
          <a:ln/>
        </p:spPr>
        <p:txBody>
          <a:bodyPr wrap="square" lIns="0" tIns="0" rIns="0" bIns="0" rtlCol="0" anchor="ctr"/>
          <a:lstStyle/>
          <a:p>
            <a:pPr marL="0" indent="0" algn="ctr">
              <a:buNone/>
            </a:pPr>
            <a:r>
              <a:rPr lang="en-US" sz="1000" b="1" dirty="0">
                <a:solidFill>
                  <a:schemeClr val="accent1"/>
                </a:solidFill>
              </a:rPr>
              <a:t>our model</a:t>
            </a:r>
            <a:endParaRPr lang="en-US" sz="1000" dirty="0"/>
          </a:p>
        </p:txBody>
      </p:sp>
      <p:sp>
        <p:nvSpPr>
          <p:cNvPr id="12" name="text 118"/>
          <p:cNvSpPr txBox="1"/>
          <p:nvPr/>
        </p:nvSpPr>
        <p:spPr>
          <a:xfrm>
            <a:off x="3639312" y="1463040"/>
            <a:ext cx="1463040" cy="877824"/>
          </a:xfrm>
          <a:prstGeom prst="rect">
            <a:avLst/>
          </a:prstGeom>
          <a:noFill/>
          <a:ln/>
        </p:spPr>
        <p:txBody>
          <a:bodyPr wrap="square" lIns="0" tIns="0" rIns="0" bIns="0" rtlCol="0" anchor="ctr"/>
          <a:lstStyle/>
          <a:p>
            <a:pPr marL="0" indent="0">
              <a:buNone/>
            </a:pPr>
            <a:r>
              <a:rPr lang="en-US" sz="1100" dirty="0">
                <a:solidFill>
                  <a:schemeClr val="tx1"/>
                </a:solidFill>
              </a:rPr>
              <a:t>The model finds more at the same workload</a:t>
            </a:r>
            <a:endParaRPr lang="en-US" sz="1100" dirty="0"/>
          </a:p>
        </p:txBody>
      </p:sp>
      <p:sp>
        <p:nvSpPr>
          <p:cNvPr id="13" name="card 119"/>
          <p:cNvSpPr/>
          <p:nvPr/>
        </p:nvSpPr>
        <p:spPr>
          <a:xfrm>
            <a:off x="457200" y="2450592"/>
            <a:ext cx="4754880" cy="877824"/>
          </a:xfrm>
          <a:prstGeom prst="rect">
            <a:avLst/>
          </a:prstGeom>
          <a:solidFill>
            <a:schemeClr val="accent2">
              <a:alpha val="30000"/>
            </a:schemeClr>
          </a:solidFill>
          <a:ln/>
        </p:spPr>
        <p:txBody>
          <a:bodyPr/>
          <a:lstStyle/>
          <a:p>
            <a:endParaRPr lang="en-US"/>
          </a:p>
        </p:txBody>
      </p:sp>
      <p:sp>
        <p:nvSpPr>
          <p:cNvPr id="14" name="text 120"/>
          <p:cNvSpPr txBox="1"/>
          <p:nvPr/>
        </p:nvSpPr>
        <p:spPr>
          <a:xfrm>
            <a:off x="603504" y="2450592"/>
            <a:ext cx="1325880" cy="877824"/>
          </a:xfrm>
          <a:prstGeom prst="rect">
            <a:avLst/>
          </a:prstGeom>
          <a:noFill/>
          <a:ln/>
        </p:spPr>
        <p:txBody>
          <a:bodyPr wrap="square" lIns="0" tIns="0" rIns="0" bIns="0" rtlCol="0" anchor="ctr"/>
          <a:lstStyle/>
          <a:p>
            <a:pPr marL="0" indent="0">
              <a:buNone/>
            </a:pPr>
            <a:r>
              <a:rPr lang="en-US" sz="1200" b="1" dirty="0">
                <a:solidFill>
                  <a:schemeClr val="tx1"/>
                </a:solidFill>
              </a:rPr>
              <a:t>Invite everyone aged 40 or older</a:t>
            </a:r>
            <a:endParaRPr lang="en-US" sz="1200" dirty="0"/>
          </a:p>
        </p:txBody>
      </p:sp>
      <p:sp>
        <p:nvSpPr>
          <p:cNvPr id="15" name="text 121"/>
          <p:cNvSpPr txBox="1"/>
          <p:nvPr/>
        </p:nvSpPr>
        <p:spPr>
          <a:xfrm>
            <a:off x="2011680" y="2523744"/>
            <a:ext cx="731520" cy="457200"/>
          </a:xfrm>
          <a:prstGeom prst="rect">
            <a:avLst/>
          </a:prstGeom>
          <a:noFill/>
          <a:ln/>
        </p:spPr>
        <p:txBody>
          <a:bodyPr wrap="square" lIns="0" tIns="0" rIns="0" bIns="0" rtlCol="0" anchor="ctr"/>
          <a:lstStyle/>
          <a:p>
            <a:pPr marL="0" indent="0" algn="ctr">
              <a:buNone/>
            </a:pPr>
            <a:r>
              <a:rPr lang="en-US" sz="2400" b="1" dirty="0">
                <a:solidFill>
                  <a:schemeClr val="tx1"/>
                </a:solidFill>
                <a:latin typeface="Arial" pitchFamily="34" charset="0"/>
                <a:ea typeface="Arial" pitchFamily="34" charset="-122"/>
                <a:cs typeface="Arial" pitchFamily="34" charset="-120"/>
              </a:rPr>
              <a:t>107</a:t>
            </a:r>
            <a:endParaRPr lang="en-US" sz="2400" dirty="0"/>
          </a:p>
        </p:txBody>
      </p:sp>
      <p:sp>
        <p:nvSpPr>
          <p:cNvPr id="16" name="text 122"/>
          <p:cNvSpPr txBox="1"/>
          <p:nvPr/>
        </p:nvSpPr>
        <p:spPr>
          <a:xfrm>
            <a:off x="2011680" y="2999232"/>
            <a:ext cx="731520" cy="237744"/>
          </a:xfrm>
          <a:prstGeom prst="rect">
            <a:avLst/>
          </a:prstGeom>
          <a:noFill/>
          <a:ln/>
        </p:spPr>
        <p:txBody>
          <a:bodyPr wrap="square" lIns="0" tIns="0" rIns="0" bIns="0" rtlCol="0" anchor="ctr"/>
          <a:lstStyle/>
          <a:p>
            <a:pPr marL="0" indent="0" algn="ctr">
              <a:buNone/>
            </a:pPr>
            <a:r>
              <a:rPr lang="en-US" sz="1000" dirty="0">
                <a:solidFill>
                  <a:schemeClr val="tx1"/>
                </a:solidFill>
              </a:rPr>
              <a:t>the rule</a:t>
            </a:r>
            <a:endParaRPr lang="en-US" sz="1000" dirty="0"/>
          </a:p>
        </p:txBody>
      </p:sp>
      <p:sp>
        <p:nvSpPr>
          <p:cNvPr id="17" name="text 123"/>
          <p:cNvSpPr txBox="1"/>
          <p:nvPr/>
        </p:nvSpPr>
        <p:spPr>
          <a:xfrm>
            <a:off x="2788920" y="2523744"/>
            <a:ext cx="731520" cy="457200"/>
          </a:xfrm>
          <a:prstGeom prst="rect">
            <a:avLst/>
          </a:prstGeom>
          <a:noFill/>
          <a:ln/>
        </p:spPr>
        <p:txBody>
          <a:bodyPr wrap="square" lIns="0" tIns="0" rIns="0" bIns="0" rtlCol="0" anchor="ctr"/>
          <a:lstStyle/>
          <a:p>
            <a:pPr marL="0" indent="0" algn="ctr">
              <a:buNone/>
            </a:pPr>
            <a:r>
              <a:rPr lang="en-US" sz="2400" b="1" dirty="0">
                <a:solidFill>
                  <a:schemeClr val="accent1"/>
                </a:solidFill>
                <a:latin typeface="Arial" pitchFamily="34" charset="0"/>
                <a:ea typeface="Arial" pitchFamily="34" charset="-122"/>
                <a:cs typeface="Arial" pitchFamily="34" charset="-120"/>
              </a:rPr>
              <a:t>114</a:t>
            </a:r>
            <a:endParaRPr lang="en-US" sz="2400" dirty="0"/>
          </a:p>
        </p:txBody>
      </p:sp>
      <p:sp>
        <p:nvSpPr>
          <p:cNvPr id="18" name="text 124"/>
          <p:cNvSpPr txBox="1"/>
          <p:nvPr/>
        </p:nvSpPr>
        <p:spPr>
          <a:xfrm>
            <a:off x="2788920" y="2999232"/>
            <a:ext cx="731520" cy="237744"/>
          </a:xfrm>
          <a:prstGeom prst="rect">
            <a:avLst/>
          </a:prstGeom>
          <a:noFill/>
          <a:ln/>
        </p:spPr>
        <p:txBody>
          <a:bodyPr wrap="square" lIns="0" tIns="0" rIns="0" bIns="0" rtlCol="0" anchor="ctr"/>
          <a:lstStyle/>
          <a:p>
            <a:pPr marL="0" indent="0" algn="ctr">
              <a:buNone/>
            </a:pPr>
            <a:r>
              <a:rPr lang="en-US" sz="1000" b="1" dirty="0">
                <a:solidFill>
                  <a:schemeClr val="accent1"/>
                </a:solidFill>
              </a:rPr>
              <a:t>our model</a:t>
            </a:r>
            <a:endParaRPr lang="en-US" sz="1000" dirty="0"/>
          </a:p>
        </p:txBody>
      </p:sp>
      <p:sp>
        <p:nvSpPr>
          <p:cNvPr id="19" name="text 125"/>
          <p:cNvSpPr txBox="1"/>
          <p:nvPr/>
        </p:nvSpPr>
        <p:spPr>
          <a:xfrm>
            <a:off x="3639312" y="2450592"/>
            <a:ext cx="1463040" cy="877824"/>
          </a:xfrm>
          <a:prstGeom prst="rect">
            <a:avLst/>
          </a:prstGeom>
          <a:noFill/>
          <a:ln/>
        </p:spPr>
        <p:txBody>
          <a:bodyPr wrap="square" lIns="0" tIns="0" rIns="0" bIns="0" rtlCol="0" anchor="ctr"/>
          <a:lstStyle/>
          <a:p>
            <a:pPr marL="0" indent="0">
              <a:buNone/>
            </a:pPr>
            <a:r>
              <a:rPr lang="en-US" sz="1100" dirty="0">
                <a:solidFill>
                  <a:schemeClr val="tx1"/>
                </a:solidFill>
              </a:rPr>
              <a:t>About as good, for 18 more invitations</a:t>
            </a:r>
            <a:endParaRPr lang="en-US" sz="1100" dirty="0"/>
          </a:p>
        </p:txBody>
      </p:sp>
      <p:sp>
        <p:nvSpPr>
          <p:cNvPr id="20" name="text 126"/>
          <p:cNvSpPr txBox="1"/>
          <p:nvPr/>
        </p:nvSpPr>
        <p:spPr>
          <a:xfrm>
            <a:off x="457200" y="3493008"/>
            <a:ext cx="475488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WHAT THE MODEL ADDS</a:t>
            </a:r>
            <a:endParaRPr lang="en-US" sz="1000" dirty="0"/>
          </a:p>
        </p:txBody>
      </p:sp>
      <p:sp>
        <p:nvSpPr>
          <p:cNvPr id="21" name="text 127"/>
          <p:cNvSpPr txBox="1"/>
          <p:nvPr/>
        </p:nvSpPr>
        <p:spPr>
          <a:xfrm>
            <a:off x="457200" y="3730752"/>
            <a:ext cx="4754880" cy="74980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A reason a coach can discuss with the job seeker</a:t>
            </a:r>
            <a:endParaRPr lang="en-US" sz="1200" dirty="0"/>
          </a:p>
          <a:p>
            <a:pPr marL="342900" indent="-342900">
              <a:spcAft>
                <a:spcPts val="300"/>
              </a:spcAft>
              <a:buSzPct val="100000"/>
              <a:buChar char="•"/>
            </a:pPr>
            <a:r>
              <a:rPr lang="en-US" sz="1200" dirty="0">
                <a:solidFill>
                  <a:schemeClr val="tx1"/>
                </a:solidFill>
              </a:rPr>
              <a:t>A threshold that follows UWV's capacity</a:t>
            </a:r>
            <a:endParaRPr lang="en-US" sz="1200" dirty="0"/>
          </a:p>
          <a:p>
            <a:pPr marL="342900" indent="-342900">
              <a:spcAft>
                <a:spcPts val="300"/>
              </a:spcAft>
              <a:buSzPct val="100000"/>
              <a:buChar char="•"/>
            </a:pPr>
            <a:r>
              <a:rPr lang="en-US" sz="1200" b="1" dirty="0">
                <a:solidFill>
                  <a:schemeClr val="tx1"/>
                </a:solidFill>
              </a:rPr>
              <a:t>Honest answer: these are reasons of fit, not of accuracy</a:t>
            </a:r>
            <a:endParaRPr lang="en-US" sz="1200" dirty="0"/>
          </a:p>
        </p:txBody>
      </p:sp>
      <p:sp>
        <p:nvSpPr>
          <p:cNvPr id="22" name="card 128"/>
          <p:cNvSpPr/>
          <p:nvPr/>
        </p:nvSpPr>
        <p:spPr>
          <a:xfrm>
            <a:off x="5440680" y="1188720"/>
            <a:ext cx="3246120" cy="3291840"/>
          </a:xfrm>
          <a:prstGeom prst="rect">
            <a:avLst/>
          </a:prstGeom>
          <a:solidFill>
            <a:schemeClr val="accent1"/>
          </a:solidFill>
          <a:ln/>
        </p:spPr>
        <p:txBody>
          <a:bodyPr/>
          <a:lstStyle/>
          <a:p>
            <a:endParaRPr lang="en-US"/>
          </a:p>
        </p:txBody>
      </p:sp>
      <p:sp>
        <p:nvSpPr>
          <p:cNvPr id="23" name="text 129"/>
          <p:cNvSpPr txBox="1"/>
          <p:nvPr/>
        </p:nvSpPr>
        <p:spPr>
          <a:xfrm>
            <a:off x="5623560" y="1298448"/>
            <a:ext cx="2880360" cy="201168"/>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Arial" pitchFamily="34" charset="0"/>
                <a:ea typeface="Arial" pitchFamily="34" charset="-122"/>
                <a:cs typeface="Arial" pitchFamily="34" charset="-120"/>
              </a:rPr>
              <a:t>THE DECISION WE DEFEND HARDEST</a:t>
            </a:r>
            <a:endParaRPr lang="en-US" sz="1000" dirty="0"/>
          </a:p>
        </p:txBody>
      </p:sp>
      <p:sp>
        <p:nvSpPr>
          <p:cNvPr id="24" name="text 130"/>
          <p:cNvSpPr txBox="1"/>
          <p:nvPr/>
        </p:nvSpPr>
        <p:spPr>
          <a:xfrm>
            <a:off x="5623560" y="1536192"/>
            <a:ext cx="2880360" cy="384048"/>
          </a:xfrm>
          <a:prstGeom prst="rect">
            <a:avLst/>
          </a:prstGeom>
          <a:noFill/>
          <a:ln/>
        </p:spPr>
        <p:txBody>
          <a:bodyPr wrap="square" lIns="0" tIns="0" rIns="0" bIns="0" rtlCol="0" anchor="ctr"/>
          <a:lstStyle/>
          <a:p>
            <a:pPr marL="0" indent="0">
              <a:buNone/>
            </a:pPr>
            <a:r>
              <a:rPr lang="en-US" sz="2000" b="1" dirty="0">
                <a:solidFill>
                  <a:schemeClr val="bg1"/>
                </a:solidFill>
                <a:latin typeface="Arial" pitchFamily="34" charset="0"/>
                <a:ea typeface="Arial" pitchFamily="34" charset="-122"/>
                <a:cs typeface="Arial" pitchFamily="34" charset="-120"/>
              </a:rPr>
              <a:t>Splitting by person</a:t>
            </a:r>
            <a:endParaRPr lang="en-US" sz="2000" dirty="0"/>
          </a:p>
        </p:txBody>
      </p:sp>
      <p:sp>
        <p:nvSpPr>
          <p:cNvPr id="25" name="text 131"/>
          <p:cNvSpPr txBox="1"/>
          <p:nvPr/>
        </p:nvSpPr>
        <p:spPr>
          <a:xfrm>
            <a:off x="5623560" y="2011680"/>
            <a:ext cx="2880360" cy="685800"/>
          </a:xfrm>
          <a:prstGeom prst="rect">
            <a:avLst/>
          </a:prstGeom>
          <a:noFill/>
          <a:ln/>
        </p:spPr>
        <p:txBody>
          <a:bodyPr wrap="square" lIns="0" tIns="0" rIns="0" bIns="0" rtlCol="0" anchor="ctr"/>
          <a:lstStyle/>
          <a:p>
            <a:pPr marL="0" indent="0">
              <a:buNone/>
            </a:pPr>
            <a:r>
              <a:rPr lang="en-US" sz="4800" b="1" dirty="0">
                <a:solidFill>
                  <a:schemeClr val="accent2"/>
                </a:solidFill>
                <a:latin typeface="Arial" pitchFamily="34" charset="0"/>
                <a:ea typeface="Arial" pitchFamily="34" charset="-122"/>
                <a:cs typeface="Arial" pitchFamily="34" charset="-120"/>
              </a:rPr>
              <a:t>352</a:t>
            </a:r>
            <a:endParaRPr lang="en-US" sz="4800" dirty="0"/>
          </a:p>
        </p:txBody>
      </p:sp>
      <p:sp>
        <p:nvSpPr>
          <p:cNvPr id="26" name="text 132"/>
          <p:cNvSpPr txBox="1"/>
          <p:nvPr/>
        </p:nvSpPr>
        <p:spPr>
          <a:xfrm>
            <a:off x="5623560" y="2697480"/>
            <a:ext cx="2880360" cy="274320"/>
          </a:xfrm>
          <a:prstGeom prst="rect">
            <a:avLst/>
          </a:prstGeom>
          <a:noFill/>
          <a:ln/>
        </p:spPr>
        <p:txBody>
          <a:bodyPr wrap="square" lIns="0" tIns="0" rIns="0" bIns="0" rtlCol="0" anchor="ctr"/>
          <a:lstStyle/>
          <a:p>
            <a:pPr marL="0" indent="0">
              <a:buNone/>
            </a:pPr>
            <a:r>
              <a:rPr lang="en-US" sz="1300" b="1" dirty="0">
                <a:solidFill>
                  <a:schemeClr val="bg1"/>
                </a:solidFill>
              </a:rPr>
              <a:t>people lost a job more than once</a:t>
            </a:r>
            <a:endParaRPr lang="en-US" sz="1300" dirty="0"/>
          </a:p>
        </p:txBody>
      </p:sp>
      <p:sp>
        <p:nvSpPr>
          <p:cNvPr id="27" name="text 133"/>
          <p:cNvSpPr txBox="1"/>
          <p:nvPr/>
        </p:nvSpPr>
        <p:spPr>
          <a:xfrm>
            <a:off x="5623560" y="3108960"/>
            <a:ext cx="2880360" cy="1234440"/>
          </a:xfrm>
          <a:prstGeom prst="rect">
            <a:avLst/>
          </a:prstGeom>
          <a:noFill/>
          <a:ln/>
        </p:spPr>
        <p:txBody>
          <a:bodyPr wrap="square" lIns="0" tIns="0" rIns="0" bIns="0" rtlCol="0" anchor="t"/>
          <a:lstStyle/>
          <a:p>
            <a:pPr marL="0" indent="0">
              <a:spcAft>
                <a:spcPts val="600"/>
              </a:spcAft>
              <a:buNone/>
            </a:pPr>
            <a:r>
              <a:rPr lang="en-US" sz="1200" dirty="0">
                <a:solidFill>
                  <a:schemeClr val="bg1"/>
                </a:solidFill>
              </a:rPr>
              <a:t>A normal split would let the model recognise them.</a:t>
            </a:r>
            <a:endParaRPr lang="en-US" sz="1200" dirty="0"/>
          </a:p>
          <a:p>
            <a:pPr marL="0" indent="0">
              <a:spcAft>
                <a:spcPts val="600"/>
              </a:spcAft>
              <a:buNone/>
            </a:pPr>
            <a:r>
              <a:rPr lang="en-US" sz="1200" dirty="0">
                <a:solidFill>
                  <a:schemeClr val="bg1"/>
                </a:solidFill>
              </a:rPr>
              <a:t>StratifiedGroupKFold keeps each person on one side: persons in both train and test, 0.</a:t>
            </a:r>
            <a:endParaRPr lang="en-US" sz="1200" dirty="0"/>
          </a:p>
        </p:txBody>
      </p:sp>
      <p:sp>
        <p:nvSpPr>
          <p:cNvPr id="28"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6 · ETHICAL REASONING</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Three risks for the job seeker, and what we did</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Sources: ETHICS.md · our notebook, step 8 · UWV (2022)</a:t>
            </a:r>
            <a:endParaRPr lang="en-US" sz="900" dirty="0"/>
          </a:p>
        </p:txBody>
      </p:sp>
      <p:graphicFrame>
        <p:nvGraphicFramePr>
          <p:cNvPr id="9" name="risk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249424"/>
        </p:xfrm>
        <a:graphic>
          <a:graphicData uri="http://schemas.openxmlformats.org/drawingml/2006/table">
            <a:tbl>
              <a:tblPr/>
              <a:tblGrid>
                <a:gridCol w="2240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310896">
                <a:tc>
                  <a:txBody>
                    <a:bodyPr/>
                    <a:lstStyle/>
                    <a:p>
                      <a:pPr marL="0" indent="0">
                        <a:buNone/>
                      </a:pPr>
                      <a:r>
                        <a:rPr lang="en-US" sz="900" b="1" dirty="0">
                          <a:solidFill>
                            <a:srgbClr val="1F4E79"/>
                          </a:solidFill>
                          <a:latin typeface="Arial" pitchFamily="34" charset="0"/>
                          <a:ea typeface="Arial" pitchFamily="34" charset="-122"/>
                          <a:cs typeface="Arial" pitchFamily="34" charset="-120"/>
                        </a:rPr>
                        <a:t>RISK</a:t>
                      </a:r>
                      <a:endParaRPr lang="en-US" sz="9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buNone/>
                      </a:pPr>
                      <a:r>
                        <a:rPr lang="en-US" sz="900" b="1" dirty="0">
                          <a:solidFill>
                            <a:srgbClr val="1F4E79"/>
                          </a:solidFill>
                          <a:latin typeface="Arial" pitchFamily="34" charset="0"/>
                          <a:ea typeface="Arial" pitchFamily="34" charset="-122"/>
                          <a:cs typeface="Arial" pitchFamily="34" charset="-120"/>
                        </a:rPr>
                        <a:t>CONSEQUENCE FOR THE JOB SEEKER</a:t>
                      </a:r>
                      <a:endParaRPr lang="en-US" sz="9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buNone/>
                      </a:pPr>
                      <a:r>
                        <a:rPr lang="en-US" sz="900" b="1" dirty="0">
                          <a:solidFill>
                            <a:srgbClr val="1F4E79"/>
                          </a:solidFill>
                          <a:latin typeface="Arial" pitchFamily="34" charset="0"/>
                          <a:ea typeface="Arial" pitchFamily="34" charset="-122"/>
                          <a:cs typeface="Arial" pitchFamily="34" charset="-120"/>
                        </a:rPr>
                        <a:t>WHAT WE DID</a:t>
                      </a:r>
                      <a:endParaRPr lang="en-US" sz="9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extLst>
                  <a:ext uri="{0D108BD9-81ED-4DB2-BD59-A6C34878D82A}">
                    <a16:rowId xmlns:a16="http://schemas.microsoft.com/office/drawing/2014/main" val="10000"/>
                  </a:ext>
                </a:extLst>
              </a:tr>
              <a:tr h="603504">
                <a:tc>
                  <a:txBody>
                    <a:bodyPr/>
                    <a:lstStyle/>
                    <a:p>
                      <a:pPr marL="0" indent="0">
                        <a:buNone/>
                      </a:pPr>
                      <a:r>
                        <a:rPr lang="en-US" sz="1150" b="1" dirty="0">
                          <a:solidFill>
                            <a:srgbClr val="000000"/>
                          </a:solidFill>
                        </a:rPr>
                        <a:t>The model misses young people who get stuck</a:t>
                      </a:r>
                      <a:endParaRPr lang="en-US" sz="1150" dirty="0"/>
                    </a:p>
                  </a:txBody>
                  <a:tcPr marL="73152" marR="73152"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They wait until month seven for a first conversation.</a:t>
                      </a:r>
                      <a:endParaRPr lang="en-US" sz="1150" dirty="0"/>
                    </a:p>
                  </a:txBody>
                  <a:tcPr marL="73152" marR="73152"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A score may only add help. A coach can always invite.</a:t>
                      </a:r>
                      <a:endParaRPr lang="en-US" sz="1150" dirty="0"/>
                    </a:p>
                  </a:txBody>
                  <a:tcPr marL="73152" marR="73152"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150" b="1" dirty="0">
                          <a:solidFill>
                            <a:srgbClr val="000000"/>
                          </a:solidFill>
                        </a:rPr>
                        <a:t>Scoring people on where they were born</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A score for something they cannot change.</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Migration background left out, checked per origin group. By the same rule gender should come out: found at the end.</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2"/>
                  </a:ext>
                </a:extLst>
              </a:tr>
              <a:tr h="603504">
                <a:tc>
                  <a:txBody>
                    <a:bodyPr/>
                    <a:lstStyle/>
                    <a:p>
                      <a:pPr marL="0" indent="0">
                        <a:buNone/>
                      </a:pPr>
                      <a:r>
                        <a:rPr lang="en-US" sz="1150" b="1" dirty="0">
                          <a:solidFill>
                            <a:srgbClr val="000000"/>
                          </a:solidFill>
                        </a:rPr>
                        <a:t>Health is private</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Keeping it private could quietly mean less help.</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Answering is voluntary. Declining can never lower the chance of an invitation.</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card 134"/>
          <p:cNvSpPr/>
          <p:nvPr/>
        </p:nvSpPr>
        <p:spPr>
          <a:xfrm>
            <a:off x="457200" y="3611880"/>
            <a:ext cx="8229600" cy="658368"/>
          </a:xfrm>
          <a:prstGeom prst="rect">
            <a:avLst/>
          </a:prstGeom>
          <a:solidFill>
            <a:schemeClr val="accent1"/>
          </a:solidFill>
          <a:ln/>
        </p:spPr>
        <p:txBody>
          <a:bodyPr/>
          <a:lstStyle/>
          <a:p>
            <a:endParaRPr lang="en-US"/>
          </a:p>
        </p:txBody>
      </p:sp>
      <p:sp>
        <p:nvSpPr>
          <p:cNvPr id="7" name="text 135"/>
          <p:cNvSpPr txBox="1"/>
          <p:nvPr/>
        </p:nvSpPr>
        <p:spPr>
          <a:xfrm>
            <a:off x="640080" y="3611880"/>
            <a:ext cx="5943600" cy="658368"/>
          </a:xfrm>
          <a:prstGeom prst="rect">
            <a:avLst/>
          </a:prstGeom>
          <a:noFill/>
          <a:ln/>
        </p:spPr>
        <p:txBody>
          <a:bodyPr wrap="square" lIns="0" tIns="0" rIns="0" bIns="0" rtlCol="0" anchor="ctr"/>
          <a:lstStyle/>
          <a:p>
            <a:pPr marL="0" indent="0">
              <a:buNone/>
            </a:pPr>
            <a:r>
              <a:rPr lang="en-US" sz="1300" b="1" dirty="0">
                <a:solidFill>
                  <a:schemeClr val="accent2"/>
                </a:solidFill>
              </a:rPr>
              <a:t>Would we hand this to UWV?  </a:t>
            </a:r>
            <a:r>
              <a:rPr lang="en-US" sz="1300" dirty="0">
                <a:solidFill>
                  <a:schemeClr val="bg1"/>
                </a:solidFill>
              </a:rPr>
              <a:t>Not as it is. A model on intake information is a weak tool, so it may only add help.</a:t>
            </a:r>
            <a:endParaRPr lang="en-US" sz="1300" dirty="0"/>
          </a:p>
        </p:txBody>
      </p:sp>
      <p:sp>
        <p:nvSpPr>
          <p:cNvPr id="8" name="text 136"/>
          <p:cNvSpPr txBox="1"/>
          <p:nvPr/>
        </p:nvSpPr>
        <p:spPr>
          <a:xfrm>
            <a:off x="6675120" y="3611880"/>
            <a:ext cx="1828800" cy="658368"/>
          </a:xfrm>
          <a:prstGeom prst="rect">
            <a:avLst/>
          </a:prstGeom>
          <a:noFill/>
          <a:ln/>
        </p:spPr>
        <p:txBody>
          <a:bodyPr wrap="square" lIns="0" tIns="0" rIns="0" bIns="0" rtlCol="0" anchor="ctr"/>
          <a:lstStyle/>
          <a:p>
            <a:pPr marL="0" indent="0" algn="r">
              <a:buNone/>
            </a:pPr>
            <a:r>
              <a:rPr lang="en-US" sz="2200" b="1" dirty="0">
                <a:solidFill>
                  <a:schemeClr val="bg1"/>
                </a:solidFill>
                <a:latin typeface="Arial" pitchFamily="34" charset="0"/>
                <a:ea typeface="Arial" pitchFamily="34" charset="-122"/>
                <a:cs typeface="Arial" pitchFamily="34" charset="-120"/>
              </a:rPr>
              <a:t>Questions?</a:t>
            </a:r>
            <a:endParaRPr lang="en-US" sz="2200" dirty="0"/>
          </a:p>
        </p:txBody>
      </p:sp>
      <p:sp>
        <p:nvSpPr>
          <p:cNvPr id="5" name="text 137"/>
          <p:cNvSpPr txBox="1"/>
          <p:nvPr/>
        </p:nvSpPr>
        <p:spPr>
          <a:xfrm>
            <a:off x="457200" y="4334256"/>
            <a:ext cx="8229600" cy="219456"/>
          </a:xfrm>
          <a:prstGeom prst="rect">
            <a:avLst/>
          </a:prstGeom>
          <a:noFill/>
          <a:ln/>
        </p:spPr>
        <p:txBody>
          <a:bodyPr wrap="square" lIns="0" tIns="0" rIns="0" bIns="0" rtlCol="0" anchor="ctr"/>
          <a:lstStyle/>
          <a:p>
            <a:pPr marL="0" indent="0" algn="r">
              <a:buNone/>
            </a:pPr>
            <a:r>
              <a:rPr lang="en-US" sz="1000" dirty="0">
                <a:solidFill>
                  <a:schemeClr val="accent1"/>
                </a:solidFill>
              </a:rPr>
              <a:t>Notebook, README and ethics: github.com/lucasjansze/Hackathon_5</a:t>
            </a:r>
            <a:endParaRPr lang="en-US" sz="1000" dirty="0"/>
          </a:p>
        </p:txBody>
      </p:sp>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Who needs early help">
  <a:themeElements>
    <a:clrScheme name="Who needs early help">
      <a:dk1>
        <a:srgbClr val="000000"/>
      </a:dk1>
      <a:lt1>
        <a:srgbClr val="FFFFFF"/>
      </a:lt1>
      <a:dk2>
        <a:srgbClr val="1F4E79"/>
      </a:dk2>
      <a:lt2>
        <a:srgbClr val="FFFFFF"/>
      </a:lt2>
      <a:accent1>
        <a:srgbClr val="1F4E79"/>
      </a:accent1>
      <a:accent2>
        <a:srgbClr val="9DC3E6"/>
      </a:accent2>
      <a:accent3>
        <a:srgbClr val="595959"/>
      </a:accent3>
      <a:accent4>
        <a:srgbClr val="1F4E79"/>
      </a:accent4>
      <a:accent5>
        <a:srgbClr val="9DC3E6"/>
      </a:accent5>
      <a:accent6>
        <a:srgbClr val="595959"/>
      </a:accent6>
      <a:hlink>
        <a:srgbClr val="1F4E79"/>
      </a:hlink>
      <a:folHlink>
        <a:srgbClr val="1F4E79"/>
      </a:folHlink>
    </a:clrScheme>
    <a:fontScheme name="Who needs early hel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3528</Words>
  <Application>Microsoft Office PowerPoint</Application>
  <PresentationFormat>Diavoorstelling (16:9)</PresentationFormat>
  <Paragraphs>241</Paragraphs>
  <Slides>8</Slides>
  <Notes>8</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8</vt:i4>
      </vt:variant>
    </vt:vector>
  </HeadingPairs>
  <TitlesOfParts>
    <vt:vector size="12" baseType="lpstr">
      <vt:lpstr>Arial</vt:lpstr>
      <vt:lpstr>Calibri</vt:lpstr>
      <vt:lpstr>Courier New</vt:lpstr>
      <vt:lpstr>Who needs early help</vt:lpstr>
      <vt:lpstr>Who needs early help?</vt:lpstr>
      <vt:lpstr>Some who get stuck are not seen until month seven</vt:lpstr>
      <vt:lpstr>For the work coach, about people who just lost a job</vt:lpstr>
      <vt:lpstr>From monthly files to one prediction, in seven steps</vt:lpstr>
      <vt:lpstr>The best model barely beats one question about age</vt:lpstr>
      <vt:lpstr>It finds 98 of the 158, and it misses young people most</vt:lpstr>
      <vt:lpstr>A reason a coach can discuss, on a split we can trust</vt:lpstr>
      <vt:lpstr>Three risks for the job seeker, and what we did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needs early help? Hackathon 5 presentation</dc:title>
  <dc:subject>PptxGenJS Presentation</dc:subject>
  <dc:creator>Lucas Jansze, Minhyeok Sung</dc:creator>
  <cp:lastModifiedBy>Lucas jansze Jansze (23052236)</cp:lastModifiedBy>
  <cp:revision>1</cp:revision>
  <dcterms:created xsi:type="dcterms:W3CDTF">2026-10-07T18:47:44Z</dcterms:created>
  <dcterms:modified xsi:type="dcterms:W3CDTF">2026-10-07T18:50:58Z</dcterms:modified>
</cp:coreProperties>
</file>