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65" r:id="rId4"/>
    <p:sldId id="258" r:id="rId5"/>
    <p:sldId id="259" r:id="rId6"/>
    <p:sldId id="260" r:id="rId7"/>
    <p:sldId id="261" r:id="rId8"/>
    <p:sldId id="264" r:id="rId9"/>
    <p:sldId id="262" r:id="rId10"/>
    <p:sldId id="263"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snapToObjects="1">
      <p:cViewPr varScale="1">
        <p:scale>
          <a:sx n="152" d="100"/>
          <a:sy n="152" d="100"/>
        </p:scale>
        <p:origin x="75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nl-NL"/>
  <c:roundedCorners val="1"/>
  <c:style val="2"/>
  <c:chart>
    <c:autoTitleDeleted val="1"/>
    <c:plotArea>
      <c:layout/>
      <c:barChart>
        <c:barDir val="col"/>
        <c:grouping val="clustered"/>
        <c:varyColors val="0"/>
        <c:ser>
          <c:idx val="0"/>
          <c:order val="0"/>
          <c:tx>
            <c:strRef>
              <c:f>Sheet1!$B$1</c:f>
              <c:strCache>
                <c:ptCount val="1"/>
                <c:pt idx="0">
                  <c:v>Still without work after a year</c:v>
                </c:pt>
              </c:strCache>
            </c:strRef>
          </c:tx>
          <c:spPr>
            <a:solidFill>
              <a:srgbClr val="1F4E79"/>
            </a:solidFill>
            <a:effectLst/>
          </c:spPr>
          <c:invertIfNegative val="0"/>
          <c:dLbls>
            <c:numFmt formatCode="0&quot;%&quot;" sourceLinked="0"/>
            <c:spPr>
              <a:noFill/>
              <a:ln>
                <a:noFill/>
              </a:ln>
              <a:effectLst/>
            </c:spPr>
            <c:txPr>
              <a:bodyPr/>
              <a:lstStyle/>
              <a:p>
                <a:pPr>
                  <a:defRPr sz="1200" b="1" i="0" u="none" strike="noStrike">
                    <a:solidFill>
                      <a:srgbClr val="1F4E79"/>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18-29</c:v>
                </c:pt>
                <c:pt idx="1">
                  <c:v>30-49</c:v>
                </c:pt>
                <c:pt idx="2">
                  <c:v>50-66</c:v>
                </c:pt>
              </c:strCache>
            </c:strRef>
          </c:cat>
          <c:val>
            <c:numRef>
              <c:f>Sheet1!$B$2:$B$4</c:f>
              <c:numCache>
                <c:formatCode>General</c:formatCode>
                <c:ptCount val="3"/>
                <c:pt idx="0">
                  <c:v>25</c:v>
                </c:pt>
                <c:pt idx="1">
                  <c:v>36</c:v>
                </c:pt>
                <c:pt idx="2">
                  <c:v>53</c:v>
                </c:pt>
              </c:numCache>
            </c:numRef>
          </c:val>
          <c:extLst>
            <c:ext xmlns:c16="http://schemas.microsoft.com/office/drawing/2014/chart" uri="{C3380CC4-5D6E-409C-BE32-E72D297353CC}">
              <c16:uniqueId val="{00000000-DA19-4351-8ADA-D91D3DE2BEF6}"/>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mn-lt"/>
              </a:defRPr>
            </a:pPr>
            <a:endParaRPr lang="en-US"/>
          </a:p>
        </c:txPr>
        <c:crossAx val="2094734552"/>
        <c:crosses val="autoZero"/>
        <c:auto val="1"/>
        <c:lblAlgn val="ctr"/>
        <c:lblOffset val="100"/>
        <c:noMultiLvlLbl val="1"/>
      </c:catAx>
      <c:valAx>
        <c:axId val="2094734552"/>
        <c:scaling>
          <c:orientation val="minMax"/>
          <c:max val="65"/>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nl-NL"/>
  <c:roundedCorners val="1"/>
  <c:style val="2"/>
  <c:chart>
    <c:autoTitleDeleted val="1"/>
    <c:plotArea>
      <c:layout/>
      <c:barChart>
        <c:barDir val="col"/>
        <c:grouping val="clustered"/>
        <c:varyColors val="0"/>
        <c:ser>
          <c:idx val="0"/>
          <c:order val="0"/>
          <c:tx>
            <c:strRef>
              <c:f>Sheet1!$B$1</c:f>
              <c:strCache>
                <c:ptCount val="1"/>
                <c:pt idx="0">
                  <c:v>Test set</c:v>
                </c:pt>
              </c:strCache>
            </c:strRef>
          </c:tx>
          <c:spPr>
            <a:solidFill>
              <a:srgbClr val="1F4E79"/>
            </a:solidFill>
            <a:effectLst/>
          </c:spPr>
          <c:invertIfNegative val="0"/>
          <c:dLbls>
            <c:numFmt formatCode="0%" sourceLinked="0"/>
            <c:spPr>
              <a:noFill/>
              <a:ln>
                <a:noFill/>
              </a:ln>
              <a:effectLst/>
            </c:spPr>
            <c:txPr>
              <a:bodyPr/>
              <a:lstStyle/>
              <a:p>
                <a:pPr>
                  <a:defRPr sz="1050" b="0" i="0" u="none" strike="noStrike">
                    <a:solidFill>
                      <a:srgbClr val="00000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18-29</c:v>
                </c:pt>
                <c:pt idx="1">
                  <c:v>30-49</c:v>
                </c:pt>
                <c:pt idx="2">
                  <c:v>50-66</c:v>
                </c:pt>
              </c:strCache>
            </c:strRef>
          </c:cat>
          <c:val>
            <c:numRef>
              <c:f>Sheet1!$B$2:$B$4</c:f>
              <c:numCache>
                <c:formatCode>General</c:formatCode>
                <c:ptCount val="3"/>
                <c:pt idx="0">
                  <c:v>0.28999999999999998</c:v>
                </c:pt>
                <c:pt idx="1">
                  <c:v>0.5</c:v>
                </c:pt>
                <c:pt idx="2">
                  <c:v>0.85</c:v>
                </c:pt>
              </c:numCache>
            </c:numRef>
          </c:val>
          <c:extLst>
            <c:ext xmlns:c16="http://schemas.microsoft.com/office/drawing/2014/chart" uri="{C3380CC4-5D6E-409C-BE32-E72D297353CC}">
              <c16:uniqueId val="{00000000-7727-431F-A65D-F2AE7839B36D}"/>
            </c:ext>
          </c:extLst>
        </c:ser>
        <c:ser>
          <c:idx val="1"/>
          <c:order val="1"/>
          <c:tx>
            <c:strRef>
              <c:f>Sheet1!$C$1</c:f>
              <c:strCache>
                <c:ptCount val="1"/>
                <c:pt idx="0">
                  <c:v>Cross-validation</c:v>
                </c:pt>
              </c:strCache>
            </c:strRef>
          </c:tx>
          <c:spPr>
            <a:solidFill>
              <a:srgbClr val="9DC3E6"/>
            </a:solidFill>
            <a:effectLst/>
          </c:spPr>
          <c:invertIfNegative val="0"/>
          <c:dLbls>
            <c:numFmt formatCode="0%" sourceLinked="0"/>
            <c:spPr>
              <a:noFill/>
              <a:ln>
                <a:noFill/>
              </a:ln>
              <a:effectLst/>
            </c:spPr>
            <c:txPr>
              <a:bodyPr/>
              <a:lstStyle/>
              <a:p>
                <a:pPr>
                  <a:defRPr sz="1050" b="0" i="0" u="none" strike="noStrike">
                    <a:solidFill>
                      <a:srgbClr val="00000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18-29</c:v>
                </c:pt>
                <c:pt idx="1">
                  <c:v>30-49</c:v>
                </c:pt>
                <c:pt idx="2">
                  <c:v>50-66</c:v>
                </c:pt>
              </c:strCache>
            </c:strRef>
          </c:cat>
          <c:val>
            <c:numRef>
              <c:f>Sheet1!$C$2:$C$4</c:f>
              <c:numCache>
                <c:formatCode>General</c:formatCode>
                <c:ptCount val="3"/>
                <c:pt idx="0">
                  <c:v>0.15</c:v>
                </c:pt>
                <c:pt idx="1">
                  <c:v>0.5</c:v>
                </c:pt>
                <c:pt idx="2">
                  <c:v>0.85</c:v>
                </c:pt>
              </c:numCache>
            </c:numRef>
          </c:val>
          <c:extLst>
            <c:ext xmlns:c16="http://schemas.microsoft.com/office/drawing/2014/chart" uri="{C3380CC4-5D6E-409C-BE32-E72D297353CC}">
              <c16:uniqueId val="{00000001-7727-431F-A65D-F2AE7839B36D}"/>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mn-lt"/>
              </a:defRPr>
            </a:pPr>
            <a:endParaRPr lang="en-US"/>
          </a:p>
        </c:txPr>
        <c:crossAx val="2094734552"/>
        <c:crosses val="autoZero"/>
        <c:auto val="1"/>
        <c:lblAlgn val="ctr"/>
        <c:lblOffset val="100"/>
        <c:noMultiLvlLbl val="1"/>
      </c:catAx>
      <c:valAx>
        <c:axId val="2094734552"/>
        <c:scaling>
          <c:orientation val="minMax"/>
          <c:max val="1"/>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000">
              <a:solidFill>
                <a:srgbClr val="000000"/>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70404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Lucas</a:t>
            </a:r>
          </a:p>
          <a:p>
            <a:r>
              <a:rPr lang="en-US"/>
              <a:t>TARGET TIME: 0:15 (running total 0:15)</a:t>
            </a:r>
          </a:p>
          <a:p>
            <a:endParaRPr lang="en-US"/>
          </a:p>
          <a:p>
            <a:r>
              <a:rPr lang="en-US"/>
              <a:t>Hi, we are Lucas and Minhyeok. Our project is called Who needs early help. We built a model that predicts, at the moment someone loses their job, whether they are still without work a year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Lucas</a:t>
            </a:r>
          </a:p>
          <a:p>
            <a:r>
              <a:rPr lang="en-US"/>
              <a:t>TARGET TIME: 1:10 (running total 1:25)</a:t>
            </a:r>
          </a:p>
          <a:p>
            <a:endParaRPr lang="en-US"/>
          </a:p>
          <a:p>
            <a:r>
              <a:rPr lang="en-US"/>
              <a:t>When you lose your job in the Netherlands, you apply for WW, the unemployment benefit, at UWV. At the end of 2025 there were 191,500 running WW benefits.</a:t>
            </a:r>
          </a:p>
          <a:p>
            <a:endParaRPr lang="en-US"/>
          </a:p>
          <a:p>
            <a:r>
              <a:rPr lang="en-US"/>
              <a:t>UWV cannot talk to everyone in the first weeks. So an algorithm, the Werkverkenner, estimates your chance of being back at work within a year. With a low chance you get a conversation with a work coach soon. With a good chance you start online, and your first conversation is in the seventh month.</a:t>
            </a:r>
          </a:p>
          <a:p>
            <a:endParaRPr lang="en-US"/>
          </a:p>
          <a:p>
            <a:r>
              <a:rPr lang="en-US"/>
              <a:t>The algorithm is right for about 70 percent of people. So three in ten get the wrong prediction, and some of them wait half a year for help. UWV does not publish who those three in ten are.</a:t>
            </a:r>
          </a:p>
          <a:p>
            <a:endParaRPr lang="en-US"/>
          </a:p>
          <a:p>
            <a:r>
              <a:rPr lang="en-US"/>
              <a:t>So that is what we wanted to find out. We built the same kind of model ourselves, on Dutch panel data, and asked three questions. Can it be accurate? Does it make the same mistakes for everyone? And should it be used to sort job seekers?</a:t>
            </a:r>
          </a:p>
          <a:p>
            <a:endParaRPr lang="en-US"/>
          </a:p>
          <a:p>
            <a:r>
              <a:rPr lang="en-US"/>
              <a:t>FULL WORDING OF THE THREE QUESTIONS (if asked):</a:t>
            </a:r>
          </a:p>
          <a:p>
            <a:r>
              <a:rPr lang="en-US"/>
              <a:t>1. At the moment someone loses their job, and using only what is known at that moment, can we predict who will still not be back in paid work twelve months later?</a:t>
            </a:r>
          </a:p>
          <a:p>
            <a:r>
              <a:rPr lang="en-US"/>
              <a:t>2. Does the model make the same mistakes for everyone?</a:t>
            </a:r>
          </a:p>
          <a:p>
            <a:r>
              <a:rPr lang="en-US"/>
              <a:t>3. What does that tell us about sorting job seekers with a model: how accurate can it be, and is it realistic and ethical?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Lucas</a:t>
            </a:r>
          </a:p>
          <a:p>
            <a:r>
              <a:rPr lang="en-US"/>
              <a:t>TARGET TIME: 0:25 (running total 1:50)</a:t>
            </a:r>
          </a:p>
          <a:p>
            <a:endParaRPr lang="en-US"/>
          </a:p>
          <a:p>
            <a:r>
              <a:rPr lang="en-US"/>
              <a:t>This is SDG 8, target 8.5: full employment and decent work for all, including young people and people with disabilities.</a:t>
            </a:r>
          </a:p>
          <a:p>
            <a:endParaRPr lang="en-US"/>
          </a:p>
          <a:p>
            <a:r>
              <a:rPr lang="en-US"/>
              <a:t>We fit in two ways. The model is about getting people back into work: who needs help first. And "for all" is why we check the model per group, to see who it misses. The people who benefit are job seekers who would otherwise be seen too late.</a:t>
            </a:r>
          </a:p>
          <a:p>
            <a:endParaRPr lang="en-US"/>
          </a:p>
          <a:p>
            <a:r>
              <a:rPr lang="en-US"/>
              <a:t>IF ASKED what it does not do: it creates no jobs and no extra coach time. It only helps decide who is seen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Minhyeok</a:t>
            </a:r>
          </a:p>
          <a:p>
            <a:r>
              <a:rPr lang="en-US"/>
              <a:t>TARGET TIME: 0:45 (running total 2:35)</a:t>
            </a:r>
          </a:p>
          <a:p>
            <a:endParaRPr lang="en-US"/>
          </a:p>
          <a:p>
            <a:r>
              <a:rPr lang="en-US"/>
              <a:t>Our user is the UWV work coach who handles new WW claimants. Coaches do not follow the score blindly. About three in ten high scorers are invited earlier, because the coach thinks their chances are worse than the score says. So a coach needs a score they can explain, and can disagree with.</a:t>
            </a:r>
          </a:p>
          <a:p>
            <a:endParaRPr lang="en-US"/>
          </a:p>
          <a:p>
            <a:r>
              <a:rPr lang="en-US"/>
              <a:t>The model is about people aged 18 to 66 who just lost their job. In our data 25 percent of the youngest group is still without work after a year, and 53 percent of the oldest.</a:t>
            </a:r>
          </a:p>
          <a:p>
            <a:endParaRPr lang="en-US"/>
          </a:p>
          <a:p>
            <a:r>
              <a:rPr lang="en-US"/>
              <a:t>It is not for employers, not for fraud teams and not for municipalities. And people who do not read Dutch well are hardly in our data.</a:t>
            </a:r>
          </a:p>
          <a:p>
            <a:endParaRPr lang="en-US"/>
          </a:p>
          <a:p>
            <a:r>
              <a:rPr lang="en-US"/>
              <a:t>IF ASKED about the numbers on the left: in the year UWV studied, 179,840 people started a benefit. More than 90 percent of the low scorers get a conversation, against 52 percent of the high scorers.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Minhyeok
TARGET TIME: 0:50 (running total 3:25)
This is how we get from raw data to a prediction. LISS is a Dutch panel that asks the same people every month what their main activity is. We look for the month where someone goes from paid work to job seeker. That gives 2,019 job losses.
For each one we take 22 features, all from before the job loss. Then we split by person: 1,614 rows to train and 405 to test.
From there everything is scikit-learn. One pipeline imputes, scales and one-hot encodes. GridSearchCV tunes KNN, logistic regression and a random forest on the same five folds. We test once and check per group.
The input is what is known at intake. The output is a probability and an advice.
IF A TEACHER ASKS HOW WE USED SCIKIT-LEARN:
Everything after loading the data is scikit-learn. StratifiedGroupKFold makes the test split and the folds, so one person never ends up on both sides. The Pipeline with a ColumnTransformer learns imputing, scaling and encoding from training data only. GridSearchCV tunes all three models on the same folds and the same metric, which makes the comparison fair. DummyClassifier gives the baseline, cross_val_predict gives the probabilities for the threshold, and sklearn.metrics gives the confusion matrices and scores.
IF A TEACHER ASKS ABOUT AI ASSISTANTS:
[Fill in ourselves: which assistant we used and for what. The README and the notebook do not say, so this is not written for us.] The assignment rule we follow: every choice in the notebook is ours, and we can explain every line.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Lucas
TARGET TIME: 1:10 (running total 4:35)
Here is the comparison. Our main metric is balanced accuracy, because inviting nobody and inviting everybody both score 0.5 on it.
The first row is the dummy, which never invites anyone. Then two rules without machine learning: invite everyone aged 50 or older, and the same rule with the best cutoff from cross-validation, which is 40.
Then our three models. KNN is the weakest. On the test set it scores below both age rules. Logistic regression and random forest are equal in cross-validation: 0.640 and 0.642. That difference is much smaller than the spread over the folds. We agreed beforehand to take the model we can explain when two are equally good. So we recommend the logistic regression. It also holds up better on the test set.
But look at the age 40 row. The rule scores 0.602 and our model 0.620. So our best model is only a little better than one question about age.
MOST LIKELY QUESTION: Why the logistic regression, when the random forest has the higher cross-validation score?
ANSWER: The difference is 0.002 and the spread over the folds is about 0.02, so the two are equally good. We take the one a coach can explain, and it overfits less: 0.620 against 0.593 on the test set.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Lucas</a:t>
            </a:r>
          </a:p>
          <a:p>
            <a:r>
              <a:rPr lang="en-US"/>
              <a:t>TARGET TIME: 0:50 (running total 5:25)</a:t>
            </a:r>
          </a:p>
          <a:p>
            <a:endParaRPr lang="en-US"/>
          </a:p>
          <a:p>
            <a:r>
              <a:rPr lang="en-US"/>
              <a:t>This is the confusion matrix of the logistic regression on the 405 test cases. 153 people were correctly predicted to be back in work. 98 were correctly predicted to be long-term unemployed. 94 are extra invites: they get a conversation they did not need. 60 are missed. They wait until month seven, and that is the worse mistake.</a:t>
            </a:r>
          </a:p>
          <a:p>
            <a:endParaRPr lang="en-US"/>
          </a:p>
          <a:p>
            <a:r>
              <a:rPr lang="en-US"/>
              <a:t>Who are those 60? Mostly young people. Of the long-term unemployed aged 50 to 66 the model finds 85 percent. Of those aged 18 to 29 it finds 29 percent on the test set, and only 15 percent in cross-validation. The gap shows up both times, so we trust it.</a:t>
            </a:r>
          </a:p>
          <a:p>
            <a:endParaRPr lang="en-US"/>
          </a:p>
          <a:p>
            <a:r>
              <a:rPr lang="en-US"/>
              <a:t>Now Minhyeok runs one live prediction.</a:t>
            </a:r>
          </a:p>
          <a:p>
            <a:endParaRPr lang="en-US"/>
          </a:p>
          <a:p>
            <a:r>
              <a:rPr lang="en-US"/>
              <a:t>IF ASKED about men and women: recall was 0.46 and 0.77 on the test set, but 0.59 and 0.62 on more data, so that gap is mostly chance.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Minhyeok</a:t>
            </a:r>
          </a:p>
          <a:p>
            <a:r>
              <a:rPr lang="en-US"/>
              <a:t>TARGET TIME: 1:10 (running total 6:35)</a:t>
            </a:r>
          </a:p>
          <a:p>
            <a:endParaRPr lang="en-US"/>
          </a:p>
          <a:p>
            <a:r>
              <a:rPr lang="en-US"/>
              <a:t>BEFORE WE START: notebook open, run up to step 9, cursor on the step 10 cell.</a:t>
            </a:r>
          </a:p>
          <a:p>
            <a:endParaRPr lang="en-US"/>
          </a:p>
          <a:p>
            <a:r>
              <a:rPr lang="en-US"/>
              <a:t>(Switch to the notebook, step 10.)</a:t>
            </a:r>
          </a:p>
          <a:p>
            <a:r>
              <a:rPr lang="en-US"/>
              <a:t>This job seeker is made up, she is not a person from the data. She is 58, lives alone, worked twelve years in retail on a temporary contract, and has a long-standing disease.</a:t>
            </a:r>
          </a:p>
          <a:p>
            <a:endParaRPr lang="en-US"/>
          </a:p>
          <a:p>
            <a:r>
              <a:rPr lang="en-US"/>
              <a:t>I run the cell. The model gives a probability of 82 percent that she is still without work after a year. So the advice is to invite her early.</a:t>
            </a:r>
          </a:p>
          <a:p>
            <a:endParaRPr lang="en-US"/>
          </a:p>
          <a:p>
            <a:r>
              <a:rPr lang="en-US"/>
              <a:t>The last two lines are the reason we chose this model. Her age and her long-standing disease raise the score most. A coach can check these reasons in the conversation, and disagree with the score.</a:t>
            </a:r>
          </a:p>
          <a:p>
            <a:endParaRPr lang="en-US"/>
          </a:p>
          <a:p>
            <a:r>
              <a:rPr lang="en-US"/>
              <a:t>(If the notebook does not run: the saved output is on the slide. Then back to the slides.)</a:t>
            </a:r>
          </a:p>
          <a:p>
            <a:endParaRPr lang="en-US"/>
          </a:p>
          <a:p>
            <a:r>
              <a:rPr lang="en-US"/>
              <a:t>MOST LIKELY QUESTION: Why is the threshold 0.35 in the live prediction and 0.5 in the matrix?</a:t>
            </a:r>
          </a:p>
          <a:p>
            <a:r>
              <a:rPr lang="en-US"/>
              <a:t>ANSWER: 0.5 is the default and what the comparison table uses. We advise 0.35 if UWV can see about seven in ten people early: it finds 80 percent of the long-term cases instead of 62, but it invites 72 percent of everyone instead of 47.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Minhyeok</a:t>
            </a:r>
          </a:p>
          <a:p>
            <a:r>
              <a:rPr lang="en-US"/>
              <a:t>TARGET TIME: 0:45 (running total 7:20)</a:t>
            </a:r>
          </a:p>
          <a:p>
            <a:endParaRPr lang="en-US"/>
          </a:p>
          <a:p>
            <a:r>
              <a:rPr lang="en-US"/>
              <a:t>Why not something simpler? A coach could invite everyone aged 50 or older. At about the same workload that rule finds 65 of the 158 long-term cases, and our model finds 78. With a cutoff at 40 the two are about the same, as you saw in the table.</a:t>
            </a:r>
          </a:p>
          <a:p>
            <a:endParaRPr lang="en-US"/>
          </a:p>
          <a:p>
            <a:r>
              <a:rPr lang="en-US"/>
              <a:t>So what does the model add? A reason a coach can discuss, and a threshold that can follow capacity in small steps.</a:t>
            </a:r>
          </a:p>
          <a:p>
            <a:endParaRPr lang="en-US"/>
          </a:p>
          <a:p>
            <a:r>
              <a:rPr lang="en-US"/>
              <a:t>The decision we defend hardest is splitting by person. 352 people lost a job more than once. With a normal split the model could recognise them, and the test score would be too high without any error message. Every other number we show depends on this.</a:t>
            </a:r>
          </a:p>
          <a:p>
            <a:endParaRPr lang="en-US"/>
          </a:p>
          <a:p>
            <a:r>
              <a:rPr lang="en-US"/>
              <a:t>MOST LIKELY QUESTION: If the age rule is about as good, why use machine learning at all?</a:t>
            </a:r>
          </a:p>
          <a:p>
            <a:r>
              <a:rPr lang="en-US"/>
              <a:t>ANSWER: On accuracy we do not have a strong case, and we say so. The model can invite a 32-year-old with a long-standing disease, which an age rule never does, and it gives reasons a coach can discuss.</a:t>
            </a:r>
          </a:p>
          <a:p>
            <a:endParaRPr lang="en-US"/>
          </a:p>
          <a:p>
            <a:r>
              <a:rPr lang="en-US"/>
              <a:t>IF ASKED about the age 40 row: that rule finds 107 and the model 114, for 18 more invitations.</a:t>
            </a:r>
          </a:p>
          <a:p>
            <a:endParaRPr lang="en-US"/>
          </a:p>
          <a:p>
            <a:r>
              <a:rPr lang="en-US"/>
              <a:t>ALSO IF ASKED, why balanced accuracy: a missed person waits months for help, an extra conversation costs a coach some time. Balanced accuracy stops a model from looking good by inviting nobody or everybody.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Lucas</a:t>
            </a:r>
          </a:p>
          <a:p>
            <a:r>
              <a:rPr lang="en-US"/>
              <a:t>TARGET TIME: 1:00 (running total 8:20)</a:t>
            </a:r>
          </a:p>
          <a:p>
            <a:endParaRPr lang="en-US"/>
          </a:p>
          <a:p>
            <a:r>
              <a:rPr lang="en-US"/>
              <a:t>Three risks, from the side of the job seeker.</a:t>
            </a:r>
          </a:p>
          <a:p>
            <a:endParaRPr lang="en-US"/>
          </a:p>
          <a:p>
            <a:r>
              <a:rPr lang="en-US"/>
              <a:t>One: the model misses young people who get stuck. They wait until month seven. So our rule is that a score may only add help, and a coach can always invite someone.</a:t>
            </a:r>
          </a:p>
          <a:p>
            <a:endParaRPr lang="en-US"/>
          </a:p>
          <a:p>
            <a:r>
              <a:rPr lang="en-US"/>
              <a:t>Two: scoring people on where they were born. We left migration background out of the model. It did not make the model better. We still check the results per group. By the same rule gender should come out too. We found that at the end, so it is the first change for a next version.</a:t>
            </a:r>
          </a:p>
          <a:p>
            <a:endParaRPr lang="en-US"/>
          </a:p>
          <a:p>
            <a:r>
              <a:rPr lang="en-US"/>
              <a:t>Three: health is private. So answering has to be voluntary, and declining can never lower your chance of an invitation.</a:t>
            </a:r>
          </a:p>
          <a:p>
            <a:endParaRPr lang="en-US"/>
          </a:p>
          <a:p>
            <a:r>
              <a:rPr lang="en-US"/>
              <a:t>So, our three questions. Can it be accurate? Barely better than an age rule. Is it fair? No, it misses young people most. Should it be used? Not as it is: a score like this may only add help.</a:t>
            </a:r>
          </a:p>
          <a:p>
            <a:endParaRPr lang="en-US"/>
          </a:p>
          <a:p>
            <a:r>
              <a:rPr lang="en-US"/>
              <a:t>Thank you. Are there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F4E79"/>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371600"/>
            <a:ext cx="8046720" cy="914400"/>
          </a:xfrm>
          <a:prstGeom prst="rect">
            <a:avLst/>
          </a:prstGeom>
          <a:noFill/>
          <a:ln/>
        </p:spPr>
        <p:txBody>
          <a:bodyPr wrap="square" rtlCol="0"/>
          <a:lstStyle>
            <a:lvl1pPr marL="0" indent="0" algn="l">
              <a:buNone/>
              <a:defRPr lang="en-US" sz="4800" b="1" dirty="0">
                <a:solidFill>
                  <a:schemeClr val="bg1"/>
                </a:solidFill>
              </a:defRPr>
            </a:lvl1pPr>
          </a:lstStyle>
          <a:p>
            <a:pPr marL="0" indent="0" algn="l">
              <a:buNone/>
            </a:pPr>
            <a:r>
              <a:rPr lang="en-US" sz="4800" b="1" dirty="0">
                <a:solidFill>
                  <a:schemeClr val="bg1"/>
                </a:solidFill>
              </a:rPr>
              <a:t>Title</a:t>
            </a:r>
            <a:endParaRPr lang="en-US" sz="4800" dirty="0"/>
          </a:p>
        </p:txBody>
      </p:sp>
      <p:sp>
        <p:nvSpPr>
          <p:cNvPr id="3" name="Text 0"/>
          <p:cNvSpPr>
            <a:spLocks noGrp="1"/>
          </p:cNvSpPr>
          <p:nvPr>
            <p:ph type="body" idx="101" hasCustomPrompt="1"/>
          </p:nvPr>
        </p:nvSpPr>
        <p:spPr>
          <a:xfrm>
            <a:off x="548640" y="2377440"/>
            <a:ext cx="6949440" cy="822960"/>
          </a:xfrm>
          <a:prstGeom prst="rect">
            <a:avLst/>
          </a:prstGeom>
          <a:noFill/>
          <a:ln/>
        </p:spPr>
        <p:txBody>
          <a:bodyPr wrap="square" rtlCol="0"/>
          <a:lstStyle>
            <a:lvl1pPr marL="0" indent="0" algn="l">
              <a:buNone/>
              <a:defRPr lang="en-US" sz="1800" dirty="0">
                <a:solidFill>
                  <a:schemeClr val="bg1"/>
                </a:solidFill>
              </a:defRPr>
            </a:lvl1pPr>
          </a:lstStyle>
          <a:p>
            <a:pPr marL="0" indent="0" algn="l">
              <a:buNone/>
            </a:pPr>
            <a:r>
              <a:rPr lang="en-US" sz="1800" dirty="0">
                <a:solidFill>
                  <a:schemeClr val="bg1"/>
                </a:solidFill>
              </a:rPr>
              <a:t>Subtitle</a:t>
            </a: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74320"/>
            <a:ext cx="8229600" cy="219456"/>
          </a:xfrm>
          <a:prstGeom prst="rect">
            <a:avLst/>
          </a:prstGeom>
          <a:noFill/>
          <a:ln/>
        </p:spPr>
        <p:txBody>
          <a:bodyPr wrap="square" rtlCol="0"/>
          <a:lstStyle>
            <a:lvl1pPr marL="0" indent="0" algn="l">
              <a:buNone/>
              <a:defRPr lang="en-US" sz="1000" b="1" kern="0" spc="150" dirty="0">
                <a:solidFill>
                  <a:schemeClr val="accent1"/>
                </a:solidFill>
                <a:latin typeface="Arial" pitchFamily="34" charset="0"/>
                <a:ea typeface="Arial" pitchFamily="34" charset="-122"/>
                <a:cs typeface="Arial" pitchFamily="34" charset="-120"/>
              </a:defRPr>
            </a:lvl1pPr>
          </a:lstStyle>
          <a:p>
            <a:pPr marL="0" indent="0" algn="l">
              <a:buNone/>
            </a:pPr>
            <a:r>
              <a:rPr lang="en-US" sz="1000" b="1" kern="0" spc="150" dirty="0">
                <a:solidFill>
                  <a:schemeClr val="accent1"/>
                </a:solidFill>
                <a:latin typeface="Arial" pitchFamily="34" charset="0"/>
                <a:ea typeface="Arial" pitchFamily="34" charset="-122"/>
                <a:cs typeface="Arial" pitchFamily="34" charset="-120"/>
              </a:rPr>
              <a:t>RUBRIC</a:t>
            </a:r>
            <a:endParaRPr lang="en-US" sz="1000" dirty="0"/>
          </a:p>
        </p:txBody>
      </p:sp>
      <p:sp>
        <p:nvSpPr>
          <p:cNvPr id="3" name="Text 0"/>
          <p:cNvSpPr>
            <a:spLocks noGrp="1"/>
          </p:cNvSpPr>
          <p:nvPr>
            <p:ph type="title" idx="101" hasCustomPrompt="1"/>
          </p:nvPr>
        </p:nvSpPr>
        <p:spPr>
          <a:xfrm>
            <a:off x="457200" y="512064"/>
            <a:ext cx="8229600" cy="548640"/>
          </a:xfrm>
          <a:prstGeom prst="rect">
            <a:avLst/>
          </a:prstGeom>
          <a:noFill/>
          <a:ln/>
        </p:spPr>
        <p:txBody>
          <a:bodyPr wrap="square" rtlCol="0"/>
          <a:lstStyle>
            <a:lvl1pPr marL="0" indent="0" algn="l">
              <a:buNone/>
              <a:defRPr lang="en-US" sz="2400" b="1" dirty="0">
                <a:solidFill>
                  <a:schemeClr val="tx1"/>
                </a:solidFill>
              </a:defRPr>
            </a:lvl1pPr>
          </a:lstStyle>
          <a:p>
            <a:pPr marL="0" indent="0" algn="l">
              <a:buNone/>
            </a:pPr>
            <a:r>
              <a:rPr lang="en-US" sz="2400" b="1" dirty="0">
                <a:solidFill>
                  <a:schemeClr val="tx1"/>
                </a:solidFill>
              </a:rPr>
              <a:t>Headline</a:t>
            </a:r>
            <a:endParaRPr lang="en-US" sz="2400" dirty="0"/>
          </a:p>
        </p:txBody>
      </p:sp>
      <p:sp>
        <p:nvSpPr>
          <p:cNvPr id="4" name="Text 0"/>
          <p:cNvSpPr>
            <a:spLocks noGrp="1"/>
          </p:cNvSpPr>
          <p:nvPr>
            <p:ph type="body" idx="102" hasCustomPrompt="1"/>
          </p:nvPr>
        </p:nvSpPr>
        <p:spPr>
          <a:xfrm>
            <a:off x="457200" y="4663440"/>
            <a:ext cx="7589520" cy="292608"/>
          </a:xfrm>
          <a:prstGeom prst="rect">
            <a:avLst/>
          </a:prstGeom>
          <a:noFill/>
          <a:ln/>
        </p:spPr>
        <p:txBody>
          <a:bodyPr wrap="square" rtlCol="0"/>
          <a:lstStyle>
            <a:lvl1pPr marL="0" indent="0" algn="l">
              <a:buNone/>
              <a:defRPr lang="en-US" sz="900" dirty="0">
                <a:solidFill>
                  <a:schemeClr val="accent3"/>
                </a:solidFill>
              </a:defRPr>
            </a:lvl1pPr>
          </a:lstStyle>
          <a:p>
            <a:pPr marL="0" indent="0" algn="l">
              <a:buNone/>
            </a:pPr>
            <a:r>
              <a:rPr lang="en-US" sz="900" dirty="0">
                <a:solidFill>
                  <a:schemeClr val="accent3"/>
                </a:solidFill>
              </a:rPr>
              <a:t>Sources</a:t>
            </a:r>
            <a:endParaRPr lang="en-US" sz="900" dirty="0"/>
          </a:p>
        </p:txBody>
      </p:sp>
      <p:sp>
        <p:nvSpPr>
          <p:cNvPr id="25" name="Slide Number Placeholder 0"/>
          <p:cNvSpPr>
            <a:spLocks noGrp="1"/>
          </p:cNvSpPr>
          <p:nvPr>
            <p:ph type="sldNum" sz="quarter" idx="4294967295"/>
          </p:nvPr>
        </p:nvSpPr>
        <p:spPr>
          <a:xfrm>
            <a:off x="8138160" y="4663440"/>
            <a:ext cx="548640" cy="292608"/>
          </a:xfrm>
          <a:prstGeom prst="rect">
            <a:avLst/>
          </a:prstGeom>
          <a:extLst>
            <a:ext uri="{C572A759-6A51-4108-AA02-DFA0A04FC94B}">
              <ma14:wrappingTextBoxFlag xmlns="" xmlns:ma14="http://schemas.microsoft.com/office/mac/drawingml/2011/main" val="0"/>
            </a:ext>
          </a:extLst>
        </p:spPr>
        <p:txBody>
          <a:bodyPr/>
          <a:lstStyle>
            <a:lvl1pPr>
              <a:defRPr sz="900">
                <a:solidFill>
                  <a:srgbClr val="595959"/>
                </a:solidFill>
              </a:defRPr>
            </a:lvl1pPr>
          </a:lstStyle>
          <a:p>
            <a:pPr algn="r"/>
            <a:fld id="{F7021451-1387-4CA6-816F-3879F97B5CBC}" type="slidenum">
              <a:rPr lang="en-US" b="0"/>
              <a:t>‹nr.›</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663440"/>
            <a:ext cx="548640" cy="292608"/>
          </a:xfrm>
          <a:prstGeom prst="rect">
            <a:avLst/>
          </a:prstGeom>
          <a:extLst>
            <a:ext uri="{C572A759-6A51-4108-AA02-DFA0A04FC94B}">
              <ma14:wrappingTextBoxFlag xmlns="" xmlns:ma14="http://schemas.microsoft.com/office/mac/drawingml/2011/main" val="0"/>
            </a:ext>
          </a:extLst>
        </p:spPr>
        <p:txBody>
          <a:bodyPr/>
          <a:lstStyle>
            <a:lvl1pPr>
              <a:defRPr sz="900">
                <a:solidFill>
                  <a:srgbClr val="595959"/>
                </a:solidFill>
              </a:defRPr>
            </a:lvl1pPr>
          </a:lstStyle>
          <a:p>
            <a:pPr algn="r"/>
            <a:fld id="{F7021451-1387-4CA6-816F-3879F97B5CBC}" type="slidenum">
              <a:rPr lang="en-US" b="0"/>
              <a:t>‹nr.›</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371600"/>
            <a:ext cx="8046720" cy="914400"/>
          </a:xfrm>
          <a:prstGeom prst="rect">
            <a:avLst/>
          </a:prstGeom>
          <a:noFill/>
          <a:ln/>
        </p:spPr>
        <p:txBody>
          <a:bodyPr wrap="square" lIns="0" tIns="0" rIns="0" bIns="0" rtlCol="0" anchor="ctr"/>
          <a:lstStyle/>
          <a:p>
            <a:pPr marL="0" indent="0" algn="l">
              <a:buNone/>
            </a:pPr>
            <a:r>
              <a:rPr lang="en-US" sz="4800" b="1" dirty="0">
                <a:solidFill>
                  <a:schemeClr val="bg1"/>
                </a:solidFill>
              </a:rPr>
              <a:t>Who needs early help?</a:t>
            </a:r>
            <a:endParaRPr lang="en-US" sz="4800" dirty="0"/>
          </a:p>
        </p:txBody>
      </p:sp>
      <p:sp>
        <p:nvSpPr>
          <p:cNvPr id="3" name="Text 0"/>
          <p:cNvSpPr>
            <a:spLocks noGrp="1"/>
          </p:cNvSpPr>
          <p:nvPr>
            <p:ph type="body" idx="101" hasCustomPrompt="1"/>
          </p:nvPr>
        </p:nvSpPr>
        <p:spPr>
          <a:xfrm>
            <a:off x="548640" y="2377440"/>
            <a:ext cx="6949440" cy="822960"/>
          </a:xfrm>
          <a:prstGeom prst="rect">
            <a:avLst/>
          </a:prstGeom>
          <a:noFill/>
          <a:ln/>
        </p:spPr>
        <p:txBody>
          <a:bodyPr wrap="square" lIns="0" tIns="0" rIns="0" bIns="0" rtlCol="0" anchor="t"/>
          <a:lstStyle/>
          <a:p>
            <a:pPr marL="0" indent="0" algn="l">
              <a:buNone/>
            </a:pPr>
            <a:r>
              <a:rPr lang="en-US" sz="1800" dirty="0">
                <a:solidFill>
                  <a:schemeClr val="bg1"/>
                </a:solidFill>
              </a:rPr>
              <a:t>A scikit-learn model that predicts, at the moment someone loses their job, whether they are still without work a year later</a:t>
            </a:r>
            <a:endParaRPr lang="en-US" sz="1800" dirty="0"/>
          </a:p>
        </p:txBody>
      </p:sp>
      <p:sp>
        <p:nvSpPr>
          <p:cNvPr id="4" name="text 1"/>
          <p:cNvSpPr txBox="1"/>
          <p:nvPr/>
        </p:nvSpPr>
        <p:spPr>
          <a:xfrm>
            <a:off x="548640" y="3840480"/>
            <a:ext cx="7315200" cy="320040"/>
          </a:xfrm>
          <a:prstGeom prst="rect">
            <a:avLst/>
          </a:prstGeom>
          <a:noFill/>
          <a:ln/>
        </p:spPr>
        <p:txBody>
          <a:bodyPr wrap="square" lIns="0" tIns="0" rIns="0" bIns="0" rtlCol="0" anchor="t"/>
          <a:lstStyle/>
          <a:p>
            <a:pPr marL="0" indent="0">
              <a:buNone/>
            </a:pPr>
            <a:r>
              <a:rPr lang="en-US" sz="1600" b="1" dirty="0">
                <a:solidFill>
                  <a:schemeClr val="bg1"/>
                </a:solidFill>
              </a:rPr>
              <a:t>Lucas Jansze  &amp;  Minhyeok Sung</a:t>
            </a:r>
            <a:endParaRPr lang="en-US" sz="1600" dirty="0"/>
          </a:p>
        </p:txBody>
      </p:sp>
      <p:sp>
        <p:nvSpPr>
          <p:cNvPr id="5" name="text 2"/>
          <p:cNvSpPr txBox="1"/>
          <p:nvPr/>
        </p:nvSpPr>
        <p:spPr>
          <a:xfrm>
            <a:off x="548640" y="4206240"/>
            <a:ext cx="8046720" cy="274320"/>
          </a:xfrm>
          <a:prstGeom prst="rect">
            <a:avLst/>
          </a:prstGeom>
          <a:noFill/>
          <a:ln/>
        </p:spPr>
        <p:txBody>
          <a:bodyPr wrap="square" lIns="0" tIns="0" rIns="0" bIns="0" rtlCol="0" anchor="t"/>
          <a:lstStyle/>
          <a:p>
            <a:pPr marL="0" indent="0">
              <a:buNone/>
            </a:pPr>
            <a:r>
              <a:rPr lang="en-US" sz="1200" dirty="0">
                <a:solidFill>
                  <a:schemeClr val="accent2"/>
                </a:solidFill>
              </a:rPr>
              <a:t>AI for Good · Hackathon 5: Model Showdown · SDG 8 · scikit-learn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74320"/>
            <a:ext cx="8229600" cy="219456"/>
          </a:xfrm>
          <a:prstGeom prst="rect">
            <a:avLst/>
          </a:prstGeom>
          <a:noFill/>
          <a:ln/>
        </p:spPr>
        <p:txBody>
          <a:bodyPr wrap="square" lIns="0" tIns="0" rIns="0" bIns="0" rtlCol="0" anchor="ctr"/>
          <a:lstStyle/>
          <a:p>
            <a:pPr marL="0" indent="0" algn="l">
              <a:buNone/>
            </a:pPr>
            <a:r>
              <a:rPr lang="en-US" sz="1000" b="1" kern="0" spc="150">
                <a:solidFill>
                  <a:schemeClr val="accent1"/>
                </a:solidFill>
                <a:latin typeface="Arial" pitchFamily="34" charset="0"/>
                <a:ea typeface="Arial" pitchFamily="34" charset="-122"/>
                <a:cs typeface="Arial" pitchFamily="34" charset="-120"/>
              </a:rPr>
              <a:t>RUBRIC 1 · PROBLEM DEFINITION</a:t>
            </a:r>
            <a:endParaRPr lang="en-US" sz="1000" dirty="0"/>
          </a:p>
        </p:txBody>
      </p:sp>
      <p:sp>
        <p:nvSpPr>
          <p:cNvPr id="3" name="Text 0"/>
          <p:cNvSpPr>
            <a:spLocks noGrp="1"/>
          </p:cNvSpPr>
          <p:nvPr>
            <p:ph type="title" idx="101" hasCustomPrompt="1"/>
          </p:nvPr>
        </p:nvSpPr>
        <p:spPr>
          <a:xfrm>
            <a:off x="457200" y="512064"/>
            <a:ext cx="8229600" cy="548640"/>
          </a:xfrm>
          <a:prstGeom prst="rect">
            <a:avLst/>
          </a:prstGeom>
          <a:noFill/>
          <a:ln/>
        </p:spPr>
        <p:txBody>
          <a:bodyPr wrap="square" lIns="0" tIns="0" rIns="0" bIns="0" rtlCol="0" anchor="ctr"/>
          <a:lstStyle/>
          <a:p>
            <a:pPr marL="0" indent="0" algn="l">
              <a:buNone/>
            </a:pPr>
            <a:r>
              <a:rPr lang="en-US" sz="2400" b="1" dirty="0">
                <a:solidFill>
                  <a:schemeClr val="tx1"/>
                </a:solidFill>
              </a:rPr>
              <a:t>Some who get stuck are not seen until month seven</a:t>
            </a:r>
            <a:endParaRPr lang="en-US" sz="2400" dirty="0"/>
          </a:p>
        </p:txBody>
      </p:sp>
      <p:sp>
        <p:nvSpPr>
          <p:cNvPr id="4" name="Text 0"/>
          <p:cNvSpPr>
            <a:spLocks noGrp="1"/>
          </p:cNvSpPr>
          <p:nvPr>
            <p:ph type="body" idx="102" hasCustomPrompt="1"/>
          </p:nvPr>
        </p:nvSpPr>
        <p:spPr>
          <a:xfrm>
            <a:off x="457200" y="4663440"/>
            <a:ext cx="7589520" cy="292608"/>
          </a:xfrm>
          <a:prstGeom prst="rect">
            <a:avLst/>
          </a:prstGeom>
          <a:noFill/>
          <a:ln/>
        </p:spPr>
        <p:txBody>
          <a:bodyPr wrap="square" lIns="0" tIns="0" rIns="0" bIns="0" rtlCol="0" anchor="ctr"/>
          <a:lstStyle/>
          <a:p>
            <a:pPr marL="0" indent="0" algn="l">
              <a:buNone/>
            </a:pPr>
            <a:r>
              <a:rPr lang="en-US" sz="900">
                <a:solidFill>
                  <a:schemeClr val="accent3"/>
                </a:solidFill>
              </a:rPr>
              <a:t>Sources: UWV (2026) running benefits · UWV (2018) accuracy of the Werkverkenner · UWV (2022) first conversation in month seven</a:t>
            </a:r>
            <a:endParaRPr lang="en-US" sz="900" dirty="0"/>
          </a:p>
        </p:txBody>
      </p:sp>
      <p:sp>
        <p:nvSpPr>
          <p:cNvPr id="34" name="Slide Number Placeholder 0"/>
          <p:cNvSpPr>
            <a:spLocks noGrp="1"/>
          </p:cNvSpPr>
          <p:nvPr>
            <p:ph type="sldNum" sz="quarter" idx="4294967295"/>
          </p:nvPr>
        </p:nvSpPr>
        <p:spPr>
          <a:xfrm>
            <a:off x="8138160" y="4663440"/>
            <a:ext cx="548640" cy="292608"/>
          </a:xfrm>
          <a:prstGeom prst="rect">
            <a:avLst/>
          </a:prstGeom>
          <a:extLst>
            <a:ext uri="{C572A759-6A51-4108-AA02-DFA0A04FC94B}">
              <ma14:wrappingTextBoxFlag xmlns="" xmlns:ma14="http://schemas.microsoft.com/office/mac/drawingml/2011/main" val="0"/>
            </a:ext>
          </a:extLst>
        </p:spPr>
        <p:txBody>
          <a:bodyPr/>
          <a:lstStyle>
            <a:lvl1pPr>
              <a:defRPr sz="900">
                <a:solidFill>
                  <a:srgbClr val="595959"/>
                </a:solidFill>
              </a:defRPr>
            </a:lvl1pPr>
          </a:lstStyle>
          <a:p>
            <a:pPr algn="r"/>
            <a:fld id="{F7021451-1387-4CA6-816F-3879F97B5CBC}" type="slidenum">
              <a:rPr lang="en-US" b="0"/>
              <a:t>2</a:t>
            </a:fld>
            <a:endParaRPr lang="en-US"/>
          </a:p>
        </p:txBody>
      </p:sp>
      <p:sp>
        <p:nvSpPr>
          <p:cNvPr id="35" name="text 3">
            <a:extLst>
              <a:ext uri="{FF2B5EF4-FFF2-40B4-BE49-F238E27FC236}">
                <a16:creationId xmlns:a16="http://schemas.microsoft.com/office/drawing/2014/main" id="{26BAA01F-1619-6073-7884-09C03E116C20}"/>
              </a:ext>
            </a:extLst>
          </p:cNvPr>
          <p:cNvSpPr txBox="1"/>
          <p:nvPr/>
        </p:nvSpPr>
        <p:spPr>
          <a:xfrm>
            <a:off x="457200" y="1181100"/>
            <a:ext cx="5080000" cy="203200"/>
          </a:xfrm>
          <a:prstGeom prst="rect">
            <a:avLst/>
          </a:prstGeom>
          <a:noFill/>
          <a:ln/>
        </p:spPr>
        <p:txBody>
          <a:bodyPr wrap="square" lIns="0" tIns="0" rIns="0" bIns="0" rtlCol="0" anchor="t">
            <a:noAutofit/>
          </a:bodyPr>
          <a:lstStyle/>
          <a:p>
            <a:pPr marL="0" indent="0">
              <a:buNone/>
            </a:pPr>
            <a:r>
              <a:rPr lang="en-US" sz="1000" b="1" kern="0" spc="100">
                <a:solidFill>
                  <a:schemeClr val="accent1"/>
                </a:solidFill>
                <a:latin typeface="Arial" pitchFamily="34" charset="0"/>
                <a:ea typeface="Arial" pitchFamily="34" charset="-122"/>
                <a:cs typeface="Arial" pitchFamily="34" charset="-120"/>
              </a:rPr>
              <a:t>HOW IT WORKS TODAY</a:t>
            </a:r>
            <a:endParaRPr lang="en-US" sz="1000" dirty="0"/>
          </a:p>
        </p:txBody>
      </p:sp>
      <p:sp>
        <p:nvSpPr>
          <p:cNvPr id="36" name="card 11">
            <a:extLst>
              <a:ext uri="{FF2B5EF4-FFF2-40B4-BE49-F238E27FC236}">
                <a16:creationId xmlns:a16="http://schemas.microsoft.com/office/drawing/2014/main" id="{3FAD98CA-BC01-ACED-891F-0F3C469F6F73}"/>
              </a:ext>
            </a:extLst>
          </p:cNvPr>
          <p:cNvSpPr/>
          <p:nvPr/>
        </p:nvSpPr>
        <p:spPr>
          <a:xfrm>
            <a:off x="457200" y="1422400"/>
            <a:ext cx="1778000" cy="1219200"/>
          </a:xfrm>
          <a:prstGeom prst="rect">
            <a:avLst/>
          </a:prstGeom>
          <a:solidFill>
            <a:schemeClr val="accent2">
              <a:alpha val="30000"/>
            </a:schemeClr>
          </a:solidFill>
          <a:ln/>
        </p:spPr>
        <p:txBody>
          <a:bodyPr/>
          <a:lstStyle/>
          <a:p>
            <a:endParaRPr lang="en-US"/>
          </a:p>
        </p:txBody>
      </p:sp>
      <p:sp>
        <p:nvSpPr>
          <p:cNvPr id="37" name="text 4">
            <a:extLst>
              <a:ext uri="{FF2B5EF4-FFF2-40B4-BE49-F238E27FC236}">
                <a16:creationId xmlns:a16="http://schemas.microsoft.com/office/drawing/2014/main" id="{FA0741BE-03AF-776B-C286-1221B3606F64}"/>
              </a:ext>
            </a:extLst>
          </p:cNvPr>
          <p:cNvSpPr txBox="1"/>
          <p:nvPr/>
        </p:nvSpPr>
        <p:spPr>
          <a:xfrm>
            <a:off x="533400" y="1473200"/>
            <a:ext cx="1625600" cy="431800"/>
          </a:xfrm>
          <a:prstGeom prst="rect">
            <a:avLst/>
          </a:prstGeom>
          <a:noFill/>
          <a:ln/>
        </p:spPr>
        <p:txBody>
          <a:bodyPr wrap="square" lIns="0" tIns="0" rIns="0" bIns="0" rtlCol="0" anchor="t">
            <a:noAutofit/>
          </a:bodyPr>
          <a:lstStyle/>
          <a:p>
            <a:pPr marL="0" indent="0">
              <a:buNone/>
            </a:pPr>
            <a:r>
              <a:rPr lang="en-US" sz="1150" b="1">
                <a:solidFill>
                  <a:srgbClr val="000000"/>
                </a:solidFill>
              </a:rPr>
              <a:t>1  You lose your job</a:t>
            </a:r>
            <a:endParaRPr lang="en-US" sz="1150" b="1" dirty="0">
              <a:solidFill>
                <a:srgbClr val="000000"/>
              </a:solidFill>
            </a:endParaRPr>
          </a:p>
        </p:txBody>
      </p:sp>
      <p:sp>
        <p:nvSpPr>
          <p:cNvPr id="38" name="text 4">
            <a:extLst>
              <a:ext uri="{FF2B5EF4-FFF2-40B4-BE49-F238E27FC236}">
                <a16:creationId xmlns:a16="http://schemas.microsoft.com/office/drawing/2014/main" id="{31719474-7BF1-7DA7-54A0-9E56E7526603}"/>
              </a:ext>
            </a:extLst>
          </p:cNvPr>
          <p:cNvSpPr txBox="1"/>
          <p:nvPr/>
        </p:nvSpPr>
        <p:spPr>
          <a:xfrm>
            <a:off x="533400" y="1930400"/>
            <a:ext cx="1625600" cy="660400"/>
          </a:xfrm>
          <a:prstGeom prst="rect">
            <a:avLst/>
          </a:prstGeom>
          <a:noFill/>
          <a:ln/>
        </p:spPr>
        <p:txBody>
          <a:bodyPr wrap="square" lIns="0" tIns="0" rIns="0" bIns="0" rtlCol="0" anchor="t">
            <a:noAutofit/>
          </a:bodyPr>
          <a:lstStyle/>
          <a:p>
            <a:pPr marL="0" indent="0">
              <a:buNone/>
            </a:pPr>
            <a:r>
              <a:rPr lang="en-US" sz="1050">
                <a:solidFill>
                  <a:srgbClr val="000000"/>
                </a:solidFill>
              </a:rPr>
              <a:t>and apply for WW, the unemployment benefit, at UWV</a:t>
            </a:r>
            <a:endParaRPr lang="en-US" sz="1050" dirty="0">
              <a:solidFill>
                <a:srgbClr val="000000"/>
              </a:solidFill>
            </a:endParaRPr>
          </a:p>
        </p:txBody>
      </p:sp>
      <p:sp>
        <p:nvSpPr>
          <p:cNvPr id="39" name="text 4">
            <a:extLst>
              <a:ext uri="{FF2B5EF4-FFF2-40B4-BE49-F238E27FC236}">
                <a16:creationId xmlns:a16="http://schemas.microsoft.com/office/drawing/2014/main" id="{48EE3B05-21EB-EDE1-9819-558640E3EDAD}"/>
              </a:ext>
            </a:extLst>
          </p:cNvPr>
          <p:cNvSpPr txBox="1"/>
          <p:nvPr/>
        </p:nvSpPr>
        <p:spPr>
          <a:xfrm>
            <a:off x="2235200" y="1828800"/>
            <a:ext cx="203200" cy="355600"/>
          </a:xfrm>
          <a:prstGeom prst="rect">
            <a:avLst/>
          </a:prstGeom>
          <a:noFill/>
          <a:ln/>
        </p:spPr>
        <p:txBody>
          <a:bodyPr wrap="square" lIns="0" tIns="0" rIns="0" bIns="0" rtlCol="0" anchor="t">
            <a:noAutofit/>
          </a:bodyPr>
          <a:lstStyle/>
          <a:p>
            <a:pPr marL="0" indent="0" algn="ctr">
              <a:buNone/>
            </a:pPr>
            <a:r>
              <a:rPr lang="en-US" b="1">
                <a:solidFill>
                  <a:srgbClr val="000000"/>
                </a:solidFill>
              </a:rPr>
              <a:t>›</a:t>
            </a:r>
            <a:endParaRPr lang="en-US" b="1" dirty="0">
              <a:solidFill>
                <a:srgbClr val="000000"/>
              </a:solidFill>
            </a:endParaRPr>
          </a:p>
        </p:txBody>
      </p:sp>
      <p:sp>
        <p:nvSpPr>
          <p:cNvPr id="40" name="card 11">
            <a:extLst>
              <a:ext uri="{FF2B5EF4-FFF2-40B4-BE49-F238E27FC236}">
                <a16:creationId xmlns:a16="http://schemas.microsoft.com/office/drawing/2014/main" id="{4E50F437-E74C-27B1-BFDC-6BC1987F85A1}"/>
              </a:ext>
            </a:extLst>
          </p:cNvPr>
          <p:cNvSpPr/>
          <p:nvPr/>
        </p:nvSpPr>
        <p:spPr>
          <a:xfrm>
            <a:off x="2438400" y="1422400"/>
            <a:ext cx="1778000" cy="1219200"/>
          </a:xfrm>
          <a:prstGeom prst="rect">
            <a:avLst/>
          </a:prstGeom>
          <a:solidFill>
            <a:schemeClr val="accent2">
              <a:alpha val="30000"/>
            </a:schemeClr>
          </a:solidFill>
          <a:ln/>
        </p:spPr>
        <p:txBody>
          <a:bodyPr/>
          <a:lstStyle/>
          <a:p>
            <a:endParaRPr lang="en-US"/>
          </a:p>
        </p:txBody>
      </p:sp>
      <p:sp>
        <p:nvSpPr>
          <p:cNvPr id="41" name="text 4">
            <a:extLst>
              <a:ext uri="{FF2B5EF4-FFF2-40B4-BE49-F238E27FC236}">
                <a16:creationId xmlns:a16="http://schemas.microsoft.com/office/drawing/2014/main" id="{51F5883D-531E-7F47-BA59-D3DF73187F85}"/>
              </a:ext>
            </a:extLst>
          </p:cNvPr>
          <p:cNvSpPr txBox="1"/>
          <p:nvPr/>
        </p:nvSpPr>
        <p:spPr>
          <a:xfrm>
            <a:off x="2514600" y="1473200"/>
            <a:ext cx="1625600" cy="431800"/>
          </a:xfrm>
          <a:prstGeom prst="rect">
            <a:avLst/>
          </a:prstGeom>
          <a:noFill/>
          <a:ln/>
        </p:spPr>
        <p:txBody>
          <a:bodyPr wrap="square" lIns="0" tIns="0" rIns="0" bIns="0" rtlCol="0" anchor="t">
            <a:noAutofit/>
          </a:bodyPr>
          <a:lstStyle/>
          <a:p>
            <a:pPr marL="0" indent="0">
              <a:buNone/>
            </a:pPr>
            <a:r>
              <a:rPr lang="en-US" sz="1150" b="1">
                <a:solidFill>
                  <a:srgbClr val="000000"/>
                </a:solidFill>
              </a:rPr>
              <a:t>2  UWV cannot see everyone early</a:t>
            </a:r>
            <a:endParaRPr lang="en-US" sz="1150" b="1" dirty="0">
              <a:solidFill>
                <a:srgbClr val="000000"/>
              </a:solidFill>
            </a:endParaRPr>
          </a:p>
        </p:txBody>
      </p:sp>
      <p:sp>
        <p:nvSpPr>
          <p:cNvPr id="42" name="text 4">
            <a:extLst>
              <a:ext uri="{FF2B5EF4-FFF2-40B4-BE49-F238E27FC236}">
                <a16:creationId xmlns:a16="http://schemas.microsoft.com/office/drawing/2014/main" id="{F962F7DF-67D6-F34A-5CD9-81C3BE1C1677}"/>
              </a:ext>
            </a:extLst>
          </p:cNvPr>
          <p:cNvSpPr txBox="1"/>
          <p:nvPr/>
        </p:nvSpPr>
        <p:spPr>
          <a:xfrm>
            <a:off x="2514600" y="1930400"/>
            <a:ext cx="1625600" cy="660400"/>
          </a:xfrm>
          <a:prstGeom prst="rect">
            <a:avLst/>
          </a:prstGeom>
          <a:noFill/>
          <a:ln/>
        </p:spPr>
        <p:txBody>
          <a:bodyPr wrap="square" lIns="0" tIns="0" rIns="0" bIns="0" rtlCol="0" anchor="t">
            <a:noAutofit/>
          </a:bodyPr>
          <a:lstStyle/>
          <a:p>
            <a:pPr marL="0" indent="0">
              <a:buNone/>
            </a:pPr>
            <a:r>
              <a:rPr lang="en-US" sz="1050">
                <a:solidFill>
                  <a:srgbClr val="000000"/>
                </a:solidFill>
              </a:rPr>
              <a:t>191,500 running WW benefits at the end of 2025</a:t>
            </a:r>
            <a:endParaRPr lang="en-US" sz="1050" dirty="0">
              <a:solidFill>
                <a:srgbClr val="000000"/>
              </a:solidFill>
            </a:endParaRPr>
          </a:p>
        </p:txBody>
      </p:sp>
      <p:sp>
        <p:nvSpPr>
          <p:cNvPr id="43" name="text 4">
            <a:extLst>
              <a:ext uri="{FF2B5EF4-FFF2-40B4-BE49-F238E27FC236}">
                <a16:creationId xmlns:a16="http://schemas.microsoft.com/office/drawing/2014/main" id="{79965FAC-375B-F16C-5BC1-8B841B76C8E9}"/>
              </a:ext>
            </a:extLst>
          </p:cNvPr>
          <p:cNvSpPr txBox="1"/>
          <p:nvPr/>
        </p:nvSpPr>
        <p:spPr>
          <a:xfrm>
            <a:off x="4216400" y="1828800"/>
            <a:ext cx="203200" cy="355600"/>
          </a:xfrm>
          <a:prstGeom prst="rect">
            <a:avLst/>
          </a:prstGeom>
          <a:noFill/>
          <a:ln/>
        </p:spPr>
        <p:txBody>
          <a:bodyPr wrap="square" lIns="0" tIns="0" rIns="0" bIns="0" rtlCol="0" anchor="t">
            <a:noAutofit/>
          </a:bodyPr>
          <a:lstStyle/>
          <a:p>
            <a:pPr marL="0" indent="0" algn="ctr">
              <a:buNone/>
            </a:pPr>
            <a:r>
              <a:rPr lang="en-US" b="1">
                <a:solidFill>
                  <a:srgbClr val="000000"/>
                </a:solidFill>
              </a:rPr>
              <a:t>›</a:t>
            </a:r>
            <a:endParaRPr lang="en-US" b="1" dirty="0">
              <a:solidFill>
                <a:srgbClr val="000000"/>
              </a:solidFill>
            </a:endParaRPr>
          </a:p>
        </p:txBody>
      </p:sp>
      <p:sp>
        <p:nvSpPr>
          <p:cNvPr id="44" name="card 11">
            <a:extLst>
              <a:ext uri="{FF2B5EF4-FFF2-40B4-BE49-F238E27FC236}">
                <a16:creationId xmlns:a16="http://schemas.microsoft.com/office/drawing/2014/main" id="{361CA90F-6FFF-5F91-F837-1DC1B1B99C51}"/>
              </a:ext>
            </a:extLst>
          </p:cNvPr>
          <p:cNvSpPr/>
          <p:nvPr/>
        </p:nvSpPr>
        <p:spPr>
          <a:xfrm>
            <a:off x="4419600" y="1422400"/>
            <a:ext cx="1778000" cy="1219200"/>
          </a:xfrm>
          <a:prstGeom prst="rect">
            <a:avLst/>
          </a:prstGeom>
          <a:solidFill>
            <a:srgbClr val="1F4E79"/>
          </a:solidFill>
          <a:ln/>
        </p:spPr>
        <p:txBody>
          <a:bodyPr/>
          <a:lstStyle/>
          <a:p>
            <a:endParaRPr lang="en-US"/>
          </a:p>
        </p:txBody>
      </p:sp>
      <p:sp>
        <p:nvSpPr>
          <p:cNvPr id="45" name="text 4">
            <a:extLst>
              <a:ext uri="{FF2B5EF4-FFF2-40B4-BE49-F238E27FC236}">
                <a16:creationId xmlns:a16="http://schemas.microsoft.com/office/drawing/2014/main" id="{A12077D3-0D5C-C20F-D4B0-2F82422C5A52}"/>
              </a:ext>
            </a:extLst>
          </p:cNvPr>
          <p:cNvSpPr txBox="1"/>
          <p:nvPr/>
        </p:nvSpPr>
        <p:spPr>
          <a:xfrm>
            <a:off x="4495800" y="1473200"/>
            <a:ext cx="1625600" cy="431800"/>
          </a:xfrm>
          <a:prstGeom prst="rect">
            <a:avLst/>
          </a:prstGeom>
          <a:noFill/>
          <a:ln/>
        </p:spPr>
        <p:txBody>
          <a:bodyPr wrap="square" lIns="0" tIns="0" rIns="0" bIns="0" rtlCol="0" anchor="t">
            <a:noAutofit/>
          </a:bodyPr>
          <a:lstStyle/>
          <a:p>
            <a:pPr marL="0" indent="0">
              <a:buNone/>
            </a:pPr>
            <a:r>
              <a:rPr lang="en-US" sz="1150" b="1">
                <a:solidFill>
                  <a:srgbClr val="FFFFFF"/>
                </a:solidFill>
              </a:rPr>
              <a:t>3  An algorithm scores you</a:t>
            </a:r>
            <a:endParaRPr lang="en-US" sz="1150" b="1" dirty="0">
              <a:solidFill>
                <a:srgbClr val="FFFFFF"/>
              </a:solidFill>
            </a:endParaRPr>
          </a:p>
        </p:txBody>
      </p:sp>
      <p:sp>
        <p:nvSpPr>
          <p:cNvPr id="46" name="text 4">
            <a:extLst>
              <a:ext uri="{FF2B5EF4-FFF2-40B4-BE49-F238E27FC236}">
                <a16:creationId xmlns:a16="http://schemas.microsoft.com/office/drawing/2014/main" id="{1F576B6B-1FE2-78C4-C564-273C694D2A98}"/>
              </a:ext>
            </a:extLst>
          </p:cNvPr>
          <p:cNvSpPr txBox="1"/>
          <p:nvPr/>
        </p:nvSpPr>
        <p:spPr>
          <a:xfrm>
            <a:off x="4495800" y="1930400"/>
            <a:ext cx="1625600" cy="660400"/>
          </a:xfrm>
          <a:prstGeom prst="rect">
            <a:avLst/>
          </a:prstGeom>
          <a:noFill/>
          <a:ln/>
        </p:spPr>
        <p:txBody>
          <a:bodyPr wrap="square" lIns="0" tIns="0" rIns="0" bIns="0" rtlCol="0" anchor="t">
            <a:noAutofit/>
          </a:bodyPr>
          <a:lstStyle/>
          <a:p>
            <a:pPr marL="0" indent="0">
              <a:buNone/>
            </a:pPr>
            <a:r>
              <a:rPr lang="en-US" sz="1050">
                <a:solidFill>
                  <a:srgbClr val="FFFFFF"/>
                </a:solidFill>
              </a:rPr>
              <a:t>The Werkverkenner estimates your chance of work within a year</a:t>
            </a:r>
            <a:endParaRPr lang="en-US" sz="1050" dirty="0">
              <a:solidFill>
                <a:srgbClr val="FFFFFF"/>
              </a:solidFill>
            </a:endParaRPr>
          </a:p>
        </p:txBody>
      </p:sp>
      <p:sp>
        <p:nvSpPr>
          <p:cNvPr id="47" name="text 4">
            <a:extLst>
              <a:ext uri="{FF2B5EF4-FFF2-40B4-BE49-F238E27FC236}">
                <a16:creationId xmlns:a16="http://schemas.microsoft.com/office/drawing/2014/main" id="{10687E52-92AD-4552-7C63-03D67CB95EED}"/>
              </a:ext>
            </a:extLst>
          </p:cNvPr>
          <p:cNvSpPr txBox="1"/>
          <p:nvPr/>
        </p:nvSpPr>
        <p:spPr>
          <a:xfrm>
            <a:off x="6197600" y="1828800"/>
            <a:ext cx="203200" cy="355600"/>
          </a:xfrm>
          <a:prstGeom prst="rect">
            <a:avLst/>
          </a:prstGeom>
          <a:noFill/>
          <a:ln/>
        </p:spPr>
        <p:txBody>
          <a:bodyPr wrap="square" lIns="0" tIns="0" rIns="0" bIns="0" rtlCol="0" anchor="t">
            <a:noAutofit/>
          </a:bodyPr>
          <a:lstStyle/>
          <a:p>
            <a:pPr marL="0" indent="0" algn="ctr">
              <a:buNone/>
            </a:pPr>
            <a:r>
              <a:rPr lang="en-US" b="1">
                <a:solidFill>
                  <a:srgbClr val="000000"/>
                </a:solidFill>
              </a:rPr>
              <a:t>›</a:t>
            </a:r>
            <a:endParaRPr lang="en-US" b="1" dirty="0">
              <a:solidFill>
                <a:srgbClr val="000000"/>
              </a:solidFill>
            </a:endParaRPr>
          </a:p>
        </p:txBody>
      </p:sp>
      <p:sp>
        <p:nvSpPr>
          <p:cNvPr id="48" name="card 11">
            <a:extLst>
              <a:ext uri="{FF2B5EF4-FFF2-40B4-BE49-F238E27FC236}">
                <a16:creationId xmlns:a16="http://schemas.microsoft.com/office/drawing/2014/main" id="{4DE3699D-8A6A-91F5-81CF-8AAA0C45F955}"/>
              </a:ext>
            </a:extLst>
          </p:cNvPr>
          <p:cNvSpPr/>
          <p:nvPr/>
        </p:nvSpPr>
        <p:spPr>
          <a:xfrm>
            <a:off x="6400800" y="1422400"/>
            <a:ext cx="2286000" cy="558800"/>
          </a:xfrm>
          <a:prstGeom prst="rect">
            <a:avLst/>
          </a:prstGeom>
          <a:solidFill>
            <a:schemeClr val="accent2">
              <a:alpha val="30000"/>
            </a:schemeClr>
          </a:solidFill>
          <a:ln/>
        </p:spPr>
        <p:txBody>
          <a:bodyPr/>
          <a:lstStyle/>
          <a:p>
            <a:endParaRPr lang="en-US"/>
          </a:p>
        </p:txBody>
      </p:sp>
      <p:sp>
        <p:nvSpPr>
          <p:cNvPr id="49" name="card 11">
            <a:extLst>
              <a:ext uri="{FF2B5EF4-FFF2-40B4-BE49-F238E27FC236}">
                <a16:creationId xmlns:a16="http://schemas.microsoft.com/office/drawing/2014/main" id="{8854D096-DEC6-EF6C-5664-BE43A93165E8}"/>
              </a:ext>
            </a:extLst>
          </p:cNvPr>
          <p:cNvSpPr/>
          <p:nvPr/>
        </p:nvSpPr>
        <p:spPr>
          <a:xfrm>
            <a:off x="6400800" y="2082800"/>
            <a:ext cx="2286000" cy="558800"/>
          </a:xfrm>
          <a:prstGeom prst="rect">
            <a:avLst/>
          </a:prstGeom>
          <a:solidFill>
            <a:schemeClr val="accent2">
              <a:alpha val="30000"/>
            </a:schemeClr>
          </a:solidFill>
          <a:ln/>
        </p:spPr>
        <p:txBody>
          <a:bodyPr/>
          <a:lstStyle/>
          <a:p>
            <a:endParaRPr lang="en-US"/>
          </a:p>
        </p:txBody>
      </p:sp>
      <p:sp>
        <p:nvSpPr>
          <p:cNvPr id="50" name="text 4">
            <a:extLst>
              <a:ext uri="{FF2B5EF4-FFF2-40B4-BE49-F238E27FC236}">
                <a16:creationId xmlns:a16="http://schemas.microsoft.com/office/drawing/2014/main" id="{1B49D0B1-6132-4D42-9C6C-4E2558FABF42}"/>
              </a:ext>
            </a:extLst>
          </p:cNvPr>
          <p:cNvSpPr txBox="1"/>
          <p:nvPr/>
        </p:nvSpPr>
        <p:spPr>
          <a:xfrm>
            <a:off x="6477000" y="1473200"/>
            <a:ext cx="2133600" cy="457200"/>
          </a:xfrm>
          <a:prstGeom prst="rect">
            <a:avLst/>
          </a:prstGeom>
          <a:noFill/>
          <a:ln/>
        </p:spPr>
        <p:txBody>
          <a:bodyPr wrap="square" lIns="0" tIns="0" rIns="0" bIns="0" rtlCol="0" anchor="t">
            <a:noAutofit/>
          </a:bodyPr>
          <a:lstStyle/>
          <a:p>
            <a:pPr marL="0" indent="0">
              <a:buNone/>
            </a:pPr>
            <a:r>
              <a:rPr lang="en-US" sz="1050" b="1">
                <a:solidFill>
                  <a:srgbClr val="000000"/>
                </a:solidFill>
              </a:rPr>
              <a:t>Low chance:</a:t>
            </a:r>
            <a:r>
              <a:rPr lang="en-US" sz="1050">
                <a:solidFill>
                  <a:srgbClr val="000000"/>
                </a:solidFill>
              </a:rPr>
              <a:t> a work coach talks to you soon</a:t>
            </a:r>
            <a:endParaRPr lang="en-US" sz="1050" dirty="0">
              <a:solidFill>
                <a:srgbClr val="000000"/>
              </a:solidFill>
            </a:endParaRPr>
          </a:p>
        </p:txBody>
      </p:sp>
      <p:sp>
        <p:nvSpPr>
          <p:cNvPr id="51" name="text 4">
            <a:extLst>
              <a:ext uri="{FF2B5EF4-FFF2-40B4-BE49-F238E27FC236}">
                <a16:creationId xmlns:a16="http://schemas.microsoft.com/office/drawing/2014/main" id="{77AEA733-894D-815B-F37B-4AFD8CF93773}"/>
              </a:ext>
            </a:extLst>
          </p:cNvPr>
          <p:cNvSpPr txBox="1"/>
          <p:nvPr/>
        </p:nvSpPr>
        <p:spPr>
          <a:xfrm>
            <a:off x="6477000" y="2133600"/>
            <a:ext cx="2133600" cy="457200"/>
          </a:xfrm>
          <a:prstGeom prst="rect">
            <a:avLst/>
          </a:prstGeom>
          <a:noFill/>
          <a:ln/>
        </p:spPr>
        <p:txBody>
          <a:bodyPr wrap="square" lIns="0" tIns="0" rIns="0" bIns="0" rtlCol="0" anchor="t">
            <a:noAutofit/>
          </a:bodyPr>
          <a:lstStyle/>
          <a:p>
            <a:pPr marL="0" indent="0">
              <a:buNone/>
            </a:pPr>
            <a:r>
              <a:rPr lang="en-US" sz="1050" b="1">
                <a:solidFill>
                  <a:srgbClr val="000000"/>
                </a:solidFill>
              </a:rPr>
              <a:t>Good chance:</a:t>
            </a:r>
            <a:r>
              <a:rPr lang="en-US" sz="1050">
                <a:solidFill>
                  <a:srgbClr val="000000"/>
                </a:solidFill>
              </a:rPr>
              <a:t> you start online, first conversation in month 7</a:t>
            </a:r>
            <a:endParaRPr lang="en-US" sz="1050" dirty="0">
              <a:solidFill>
                <a:srgbClr val="000000"/>
              </a:solidFill>
            </a:endParaRPr>
          </a:p>
        </p:txBody>
      </p:sp>
      <p:sp>
        <p:nvSpPr>
          <p:cNvPr id="52" name="card 11">
            <a:extLst>
              <a:ext uri="{FF2B5EF4-FFF2-40B4-BE49-F238E27FC236}">
                <a16:creationId xmlns:a16="http://schemas.microsoft.com/office/drawing/2014/main" id="{6276DB9D-EA48-5E99-221F-D1BDABEA25EC}"/>
              </a:ext>
            </a:extLst>
          </p:cNvPr>
          <p:cNvSpPr/>
          <p:nvPr/>
        </p:nvSpPr>
        <p:spPr>
          <a:xfrm>
            <a:off x="457200" y="2844800"/>
            <a:ext cx="3200400" cy="1625600"/>
          </a:xfrm>
          <a:prstGeom prst="rect">
            <a:avLst/>
          </a:prstGeom>
          <a:solidFill>
            <a:schemeClr val="accent2">
              <a:alpha val="30000"/>
            </a:schemeClr>
          </a:solidFill>
          <a:ln/>
        </p:spPr>
        <p:txBody>
          <a:bodyPr/>
          <a:lstStyle/>
          <a:p>
            <a:endParaRPr lang="en-US"/>
          </a:p>
        </p:txBody>
      </p:sp>
      <p:sp>
        <p:nvSpPr>
          <p:cNvPr id="53" name="text 3">
            <a:extLst>
              <a:ext uri="{FF2B5EF4-FFF2-40B4-BE49-F238E27FC236}">
                <a16:creationId xmlns:a16="http://schemas.microsoft.com/office/drawing/2014/main" id="{BF5A8D79-446F-7A07-19A4-C3B4C61A9F3B}"/>
              </a:ext>
            </a:extLst>
          </p:cNvPr>
          <p:cNvSpPr txBox="1"/>
          <p:nvPr/>
        </p:nvSpPr>
        <p:spPr>
          <a:xfrm>
            <a:off x="609600" y="2946400"/>
            <a:ext cx="2895600" cy="203200"/>
          </a:xfrm>
          <a:prstGeom prst="rect">
            <a:avLst/>
          </a:prstGeom>
          <a:noFill/>
          <a:ln/>
        </p:spPr>
        <p:txBody>
          <a:bodyPr wrap="square" lIns="0" tIns="0" rIns="0" bIns="0" rtlCol="0" anchor="t">
            <a:noAutofit/>
          </a:bodyPr>
          <a:lstStyle/>
          <a:p>
            <a:pPr marL="0" indent="0">
              <a:buNone/>
            </a:pPr>
            <a:r>
              <a:rPr lang="en-US" sz="1000" b="1" kern="0" spc="100">
                <a:solidFill>
                  <a:schemeClr val="accent1"/>
                </a:solidFill>
                <a:latin typeface="Arial" pitchFamily="34" charset="0"/>
                <a:ea typeface="Arial" pitchFamily="34" charset="-122"/>
                <a:cs typeface="Arial" pitchFamily="34" charset="-120"/>
              </a:rPr>
              <a:t>WHAT GOES WRONG</a:t>
            </a:r>
            <a:endParaRPr lang="en-US" sz="1000" dirty="0"/>
          </a:p>
        </p:txBody>
      </p:sp>
      <p:sp>
        <p:nvSpPr>
          <p:cNvPr id="54" name="text 12">
            <a:extLst>
              <a:ext uri="{FF2B5EF4-FFF2-40B4-BE49-F238E27FC236}">
                <a16:creationId xmlns:a16="http://schemas.microsoft.com/office/drawing/2014/main" id="{1D40B8AA-8770-9EE4-63A6-34DBDAF7C457}"/>
              </a:ext>
            </a:extLst>
          </p:cNvPr>
          <p:cNvSpPr txBox="1"/>
          <p:nvPr/>
        </p:nvSpPr>
        <p:spPr>
          <a:xfrm>
            <a:off x="609600" y="3149600"/>
            <a:ext cx="2895600" cy="457200"/>
          </a:xfrm>
          <a:prstGeom prst="rect">
            <a:avLst/>
          </a:prstGeom>
          <a:noFill/>
          <a:ln/>
        </p:spPr>
        <p:txBody>
          <a:bodyPr wrap="square" lIns="0" tIns="0" rIns="0" bIns="0" rtlCol="0" anchor="t">
            <a:noAutofit/>
          </a:bodyPr>
          <a:lstStyle/>
          <a:p>
            <a:pPr marL="0" indent="0">
              <a:buNone/>
            </a:pPr>
            <a:r>
              <a:rPr lang="en-US" sz="2800" b="1">
                <a:solidFill>
                  <a:schemeClr val="accent1"/>
                </a:solidFill>
                <a:latin typeface="Arial" pitchFamily="34" charset="0"/>
                <a:ea typeface="Arial" pitchFamily="34" charset="-122"/>
                <a:cs typeface="Arial" pitchFamily="34" charset="-120"/>
              </a:rPr>
              <a:t>about 70%</a:t>
            </a:r>
            <a:endParaRPr lang="en-US" sz="2800" dirty="0"/>
          </a:p>
        </p:txBody>
      </p:sp>
      <p:sp>
        <p:nvSpPr>
          <p:cNvPr id="55" name="text 13">
            <a:extLst>
              <a:ext uri="{FF2B5EF4-FFF2-40B4-BE49-F238E27FC236}">
                <a16:creationId xmlns:a16="http://schemas.microsoft.com/office/drawing/2014/main" id="{B0DFA348-F95D-03C1-A2E7-296B741782FB}"/>
              </a:ext>
            </a:extLst>
          </p:cNvPr>
          <p:cNvSpPr txBox="1"/>
          <p:nvPr/>
        </p:nvSpPr>
        <p:spPr>
          <a:xfrm>
            <a:off x="609600" y="3657600"/>
            <a:ext cx="2895600" cy="762000"/>
          </a:xfrm>
          <a:prstGeom prst="rect">
            <a:avLst/>
          </a:prstGeom>
          <a:noFill/>
          <a:ln/>
        </p:spPr>
        <p:txBody>
          <a:bodyPr wrap="square" lIns="0" tIns="0" rIns="0" bIns="0" rtlCol="0" anchor="t">
            <a:noAutofit/>
          </a:bodyPr>
          <a:lstStyle/>
          <a:p>
            <a:pPr marL="0" indent="0">
              <a:buNone/>
            </a:pPr>
            <a:r>
              <a:rPr lang="en-US" sz="1100">
                <a:solidFill>
                  <a:schemeClr val="tx1"/>
                </a:solidFill>
              </a:rPr>
              <a:t>of predictions are right, so three in ten are not. A wrong "finds work quickly" means waiting until month seven for help.</a:t>
            </a:r>
            <a:endParaRPr lang="en-US" sz="1100" dirty="0"/>
          </a:p>
        </p:txBody>
      </p:sp>
      <p:sp>
        <p:nvSpPr>
          <p:cNvPr id="56" name="card 11">
            <a:extLst>
              <a:ext uri="{FF2B5EF4-FFF2-40B4-BE49-F238E27FC236}">
                <a16:creationId xmlns:a16="http://schemas.microsoft.com/office/drawing/2014/main" id="{BF3167CC-53CD-429D-3809-B9AA8C9A8AB9}"/>
              </a:ext>
            </a:extLst>
          </p:cNvPr>
          <p:cNvSpPr/>
          <p:nvPr/>
        </p:nvSpPr>
        <p:spPr>
          <a:xfrm>
            <a:off x="3860800" y="2844800"/>
            <a:ext cx="4826000" cy="1625600"/>
          </a:xfrm>
          <a:prstGeom prst="rect">
            <a:avLst/>
          </a:prstGeom>
          <a:solidFill>
            <a:srgbClr val="1F4E79"/>
          </a:solidFill>
          <a:ln/>
        </p:spPr>
        <p:txBody>
          <a:bodyPr/>
          <a:lstStyle/>
          <a:p>
            <a:endParaRPr lang="en-US"/>
          </a:p>
        </p:txBody>
      </p:sp>
      <p:sp>
        <p:nvSpPr>
          <p:cNvPr id="57" name="text 3">
            <a:extLst>
              <a:ext uri="{FF2B5EF4-FFF2-40B4-BE49-F238E27FC236}">
                <a16:creationId xmlns:a16="http://schemas.microsoft.com/office/drawing/2014/main" id="{321C0833-F4F9-4613-C261-37F7F203AB3B}"/>
              </a:ext>
            </a:extLst>
          </p:cNvPr>
          <p:cNvSpPr txBox="1"/>
          <p:nvPr/>
        </p:nvSpPr>
        <p:spPr>
          <a:xfrm>
            <a:off x="4038600" y="2946400"/>
            <a:ext cx="4470400" cy="203200"/>
          </a:xfrm>
          <a:prstGeom prst="rect">
            <a:avLst/>
          </a:prstGeom>
          <a:noFill/>
          <a:ln/>
        </p:spPr>
        <p:txBody>
          <a:bodyPr wrap="square" lIns="0" tIns="0" rIns="0" bIns="0" rtlCol="0" anchor="t">
            <a:noAutofit/>
          </a:bodyPr>
          <a:lstStyle/>
          <a:p>
            <a:pPr marL="0" indent="0">
              <a:buNone/>
            </a:pPr>
            <a:r>
              <a:rPr lang="en-US" sz="1000" b="1" kern="0" spc="100">
                <a:solidFill>
                  <a:srgbClr val="9DC3E6"/>
                </a:solidFill>
                <a:latin typeface="Arial" pitchFamily="34" charset="0"/>
                <a:ea typeface="Arial" pitchFamily="34" charset="-122"/>
                <a:cs typeface="Arial" pitchFamily="34" charset="-120"/>
              </a:rPr>
              <a:t>OUR QUESTION</a:t>
            </a:r>
            <a:endParaRPr lang="en-US" sz="1000" dirty="0">
              <a:solidFill>
                <a:srgbClr val="9DC3E6"/>
              </a:solidFill>
            </a:endParaRPr>
          </a:p>
        </p:txBody>
      </p:sp>
      <p:sp>
        <p:nvSpPr>
          <p:cNvPr id="58" name="text 4">
            <a:extLst>
              <a:ext uri="{FF2B5EF4-FFF2-40B4-BE49-F238E27FC236}">
                <a16:creationId xmlns:a16="http://schemas.microsoft.com/office/drawing/2014/main" id="{9ACBF198-1420-6B3A-F85F-5075F58350B7}"/>
              </a:ext>
            </a:extLst>
          </p:cNvPr>
          <p:cNvSpPr txBox="1"/>
          <p:nvPr/>
        </p:nvSpPr>
        <p:spPr>
          <a:xfrm>
            <a:off x="4038600" y="3175000"/>
            <a:ext cx="4470400" cy="457200"/>
          </a:xfrm>
          <a:prstGeom prst="rect">
            <a:avLst/>
          </a:prstGeom>
          <a:noFill/>
          <a:ln/>
        </p:spPr>
        <p:txBody>
          <a:bodyPr wrap="square" lIns="0" tIns="0" rIns="0" bIns="0" rtlCol="0" anchor="t">
            <a:noAutofit/>
          </a:bodyPr>
          <a:lstStyle/>
          <a:p>
            <a:pPr marL="0" indent="0">
              <a:buNone/>
            </a:pPr>
            <a:r>
              <a:rPr lang="en-US" sz="1150">
                <a:solidFill>
                  <a:srgbClr val="FFFFFF"/>
                </a:solidFill>
              </a:rPr>
              <a:t>UWV does not publish who the three in ten are. So we built the same kind of model on Dutch panel data (LISS) and asked:</a:t>
            </a:r>
            <a:endParaRPr lang="en-US" sz="1150" dirty="0">
              <a:solidFill>
                <a:srgbClr val="FFFFFF"/>
              </a:solidFill>
            </a:endParaRPr>
          </a:p>
        </p:txBody>
      </p:sp>
      <p:sp>
        <p:nvSpPr>
          <p:cNvPr id="59" name="text 4">
            <a:extLst>
              <a:ext uri="{FF2B5EF4-FFF2-40B4-BE49-F238E27FC236}">
                <a16:creationId xmlns:a16="http://schemas.microsoft.com/office/drawing/2014/main" id="{D7AE1ABF-7F28-94F0-EAEC-5530558BFA08}"/>
              </a:ext>
            </a:extLst>
          </p:cNvPr>
          <p:cNvSpPr txBox="1"/>
          <p:nvPr/>
        </p:nvSpPr>
        <p:spPr>
          <a:xfrm>
            <a:off x="4038600" y="3708400"/>
            <a:ext cx="4470400" cy="711200"/>
          </a:xfrm>
          <a:prstGeom prst="rect">
            <a:avLst/>
          </a:prstGeom>
          <a:noFill/>
          <a:ln/>
        </p:spPr>
        <p:txBody>
          <a:bodyPr wrap="square" lIns="0" tIns="0" rIns="0" bIns="0" rtlCol="0" anchor="t">
            <a:noAutofit/>
          </a:bodyPr>
          <a:lstStyle/>
          <a:p>
            <a:pPr marL="0" indent="0">
              <a:buNone/>
            </a:pPr>
            <a:r>
              <a:rPr lang="en-US" sz="1200" b="1">
                <a:solidFill>
                  <a:srgbClr val="FFFFFF"/>
                </a:solidFill>
              </a:rPr>
              <a:t>1  Can a model on intake information be accurate?</a:t>
            </a:r>
          </a:p>
          <a:p>
            <a:pPr marL="0" indent="0">
              <a:buNone/>
            </a:pPr>
            <a:r>
              <a:rPr lang="en-US" sz="1200" b="1">
                <a:solidFill>
                  <a:srgbClr val="FFFFFF"/>
                </a:solidFill>
              </a:rPr>
              <a:t>2  Does it make the same mistakes for everyone?</a:t>
            </a:r>
          </a:p>
          <a:p>
            <a:pPr marL="0" indent="0">
              <a:buNone/>
            </a:pPr>
            <a:r>
              <a:rPr lang="en-US" sz="1200" b="1">
                <a:solidFill>
                  <a:srgbClr val="FFFFFF"/>
                </a:solidFill>
              </a:rPr>
              <a:t>3  Should it be used to sort job seekers?</a:t>
            </a:r>
            <a:endParaRPr lang="en-US" sz="1200" b="1" dirty="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42" name="card 23">
            <a:extLst>
              <a:ext uri="{FF2B5EF4-FFF2-40B4-BE49-F238E27FC236}">
                <a16:creationId xmlns:a16="http://schemas.microsoft.com/office/drawing/2014/main" id="{83B70BBF-D40C-E50B-D1D5-999B1F5654A6}"/>
              </a:ext>
            </a:extLst>
          </p:cNvPr>
          <p:cNvSpPr/>
          <p:nvPr/>
        </p:nvSpPr>
        <p:spPr>
          <a:xfrm>
            <a:off x="6451600" y="2956560"/>
            <a:ext cx="2235200" cy="1524000"/>
          </a:xfrm>
          <a:prstGeom prst="rect">
            <a:avLst/>
          </a:prstGeom>
          <a:solidFill>
            <a:srgbClr val="9DC3E6">
              <a:alpha val="30000"/>
            </a:srgbClr>
          </a:solidFill>
          <a:ln/>
        </p:spPr>
        <p:txBody>
          <a:bodyPr/>
          <a:lstStyle/>
          <a:p>
            <a:endParaRPr lang="en-US"/>
          </a:p>
        </p:txBody>
      </p:sp>
      <p:sp>
        <p:nvSpPr>
          <p:cNvPr id="41" name="card 23">
            <a:extLst>
              <a:ext uri="{FF2B5EF4-FFF2-40B4-BE49-F238E27FC236}">
                <a16:creationId xmlns:a16="http://schemas.microsoft.com/office/drawing/2014/main" id="{1F17C00B-67FE-B3B9-05D4-24757522D018}"/>
              </a:ext>
            </a:extLst>
          </p:cNvPr>
          <p:cNvSpPr/>
          <p:nvPr/>
        </p:nvSpPr>
        <p:spPr>
          <a:xfrm>
            <a:off x="4013200" y="2956560"/>
            <a:ext cx="2235200" cy="1524000"/>
          </a:xfrm>
          <a:prstGeom prst="rect">
            <a:avLst/>
          </a:prstGeom>
          <a:solidFill>
            <a:srgbClr val="9DC3E6">
              <a:alpha val="30000"/>
            </a:srgbClr>
          </a:solidFill>
          <a:ln/>
        </p:spPr>
        <p:txBody>
          <a:bodyPr/>
          <a:lstStyle/>
          <a:p>
            <a:endParaRPr lang="en-US"/>
          </a:p>
        </p:txBody>
      </p:sp>
      <p:sp>
        <p:nvSpPr>
          <p:cNvPr id="40" name="card 23">
            <a:extLst>
              <a:ext uri="{FF2B5EF4-FFF2-40B4-BE49-F238E27FC236}">
                <a16:creationId xmlns:a16="http://schemas.microsoft.com/office/drawing/2014/main" id="{A93DAE79-8FE4-888D-C494-7E90A0E4A12B}"/>
              </a:ext>
            </a:extLst>
          </p:cNvPr>
          <p:cNvSpPr/>
          <p:nvPr/>
        </p:nvSpPr>
        <p:spPr>
          <a:xfrm>
            <a:off x="6451600" y="1234440"/>
            <a:ext cx="2235200" cy="1524000"/>
          </a:xfrm>
          <a:prstGeom prst="rect">
            <a:avLst/>
          </a:prstGeom>
          <a:solidFill>
            <a:srgbClr val="9DC3E6">
              <a:alpha val="30000"/>
            </a:srgbClr>
          </a:solidFill>
          <a:ln/>
        </p:spPr>
        <p:txBody>
          <a:bodyPr/>
          <a:lstStyle/>
          <a:p>
            <a:endParaRPr lang="en-US"/>
          </a:p>
        </p:txBody>
      </p:sp>
      <p:sp>
        <p:nvSpPr>
          <p:cNvPr id="39" name="card 23">
            <a:extLst>
              <a:ext uri="{FF2B5EF4-FFF2-40B4-BE49-F238E27FC236}">
                <a16:creationId xmlns:a16="http://schemas.microsoft.com/office/drawing/2014/main" id="{E667E2B3-7421-4DD3-8442-E7B2A624E07E}"/>
              </a:ext>
            </a:extLst>
          </p:cNvPr>
          <p:cNvSpPr/>
          <p:nvPr/>
        </p:nvSpPr>
        <p:spPr>
          <a:xfrm>
            <a:off x="4013200" y="1234440"/>
            <a:ext cx="2235200" cy="1524000"/>
          </a:xfrm>
          <a:prstGeom prst="rect">
            <a:avLst/>
          </a:prstGeom>
          <a:solidFill>
            <a:srgbClr val="9DC3E6">
              <a:alpha val="30000"/>
            </a:srgbClr>
          </a:solidFill>
          <a:ln/>
        </p:spPr>
        <p:txBody>
          <a:bodyPr/>
          <a:lstStyle/>
          <a:p>
            <a:endParaRPr lang="en-US"/>
          </a:p>
        </p:txBody>
      </p:sp>
      <p:sp>
        <p:nvSpPr>
          <p:cNvPr id="2" name="Text 0"/>
          <p:cNvSpPr>
            <a:spLocks noGrp="1"/>
          </p:cNvSpPr>
          <p:nvPr>
            <p:ph type="body" idx="100" hasCustomPrompt="1"/>
          </p:nvPr>
        </p:nvSpPr>
        <p:spPr>
          <a:xfrm>
            <a:off x="457200" y="274320"/>
            <a:ext cx="8229600" cy="219456"/>
          </a:xfrm>
          <a:prstGeom prst="rect">
            <a:avLst/>
          </a:prstGeom>
          <a:noFill/>
          <a:ln/>
        </p:spPr>
        <p:txBody>
          <a:bodyPr wrap="square" lIns="0" tIns="0" rIns="0" bIns="0" rtlCol="0" anchor="ctr"/>
          <a:lstStyle/>
          <a:p>
            <a:pPr marL="0" indent="0" algn="l">
              <a:buNone/>
            </a:pPr>
            <a:r>
              <a:rPr lang="en-US" sz="1000" b="1" kern="0" spc="150">
                <a:solidFill>
                  <a:schemeClr val="accent1"/>
                </a:solidFill>
                <a:latin typeface="Arial" pitchFamily="34" charset="0"/>
                <a:ea typeface="Arial" pitchFamily="34" charset="-122"/>
                <a:cs typeface="Arial" pitchFamily="34" charset="-120"/>
              </a:rPr>
              <a:t>K2 · SDG RELEVANCE</a:t>
            </a:r>
            <a:endParaRPr lang="en-US" sz="1000" dirty="0"/>
          </a:p>
        </p:txBody>
      </p:sp>
      <p:sp>
        <p:nvSpPr>
          <p:cNvPr id="3" name="Text 0"/>
          <p:cNvSpPr>
            <a:spLocks noGrp="1"/>
          </p:cNvSpPr>
          <p:nvPr>
            <p:ph type="title" idx="101" hasCustomPrompt="1"/>
          </p:nvPr>
        </p:nvSpPr>
        <p:spPr>
          <a:xfrm>
            <a:off x="457200" y="512064"/>
            <a:ext cx="8229600" cy="548640"/>
          </a:xfrm>
          <a:prstGeom prst="rect">
            <a:avLst/>
          </a:prstGeom>
          <a:noFill/>
          <a:ln/>
        </p:spPr>
        <p:txBody>
          <a:bodyPr wrap="square" lIns="0" tIns="0" rIns="0" bIns="0" rtlCol="0" anchor="ctr"/>
          <a:lstStyle/>
          <a:p>
            <a:pPr marL="0" indent="0" algn="l">
              <a:buNone/>
            </a:pPr>
            <a:r>
              <a:rPr lang="en-US" sz="2400" b="1">
                <a:solidFill>
                  <a:schemeClr val="tx1"/>
                </a:solidFill>
              </a:rPr>
              <a:t>Decent work for all, so we check who the model misses</a:t>
            </a:r>
            <a:endParaRPr lang="en-US" sz="2400" dirty="0"/>
          </a:p>
        </p:txBody>
      </p:sp>
      <p:sp>
        <p:nvSpPr>
          <p:cNvPr id="4" name="Text 0"/>
          <p:cNvSpPr>
            <a:spLocks noGrp="1"/>
          </p:cNvSpPr>
          <p:nvPr>
            <p:ph type="body" idx="102" hasCustomPrompt="1"/>
          </p:nvPr>
        </p:nvSpPr>
        <p:spPr>
          <a:xfrm>
            <a:off x="457200" y="4663440"/>
            <a:ext cx="7589520" cy="292608"/>
          </a:xfrm>
          <a:prstGeom prst="rect">
            <a:avLst/>
          </a:prstGeom>
          <a:noFill/>
          <a:ln/>
        </p:spPr>
        <p:txBody>
          <a:bodyPr wrap="square" lIns="0" tIns="0" rIns="0" bIns="0" rtlCol="0" anchor="ctr"/>
          <a:lstStyle/>
          <a:p>
            <a:pPr marL="0" indent="0" algn="l">
              <a:buNone/>
            </a:pPr>
            <a:r>
              <a:rPr lang="en-US" sz="900">
                <a:solidFill>
                  <a:schemeClr val="accent3"/>
                </a:solidFill>
              </a:rPr>
              <a:t>Sources: United Nations, SDG 8, target 8.5 · per-group check: our notebook, step 8</a:t>
            </a:r>
            <a:endParaRPr lang="en-US" sz="900" dirty="0"/>
          </a:p>
        </p:txBody>
      </p:sp>
      <p:sp>
        <p:nvSpPr>
          <p:cNvPr id="25" name="card 23"/>
          <p:cNvSpPr/>
          <p:nvPr/>
        </p:nvSpPr>
        <p:spPr>
          <a:xfrm>
            <a:off x="457200" y="1234440"/>
            <a:ext cx="3352800" cy="3246120"/>
          </a:xfrm>
          <a:prstGeom prst="rect">
            <a:avLst/>
          </a:prstGeom>
          <a:solidFill>
            <a:schemeClr val="accent1"/>
          </a:solidFill>
          <a:ln/>
        </p:spPr>
        <p:txBody>
          <a:bodyPr/>
          <a:lstStyle/>
          <a:p>
            <a:endParaRPr lang="en-US"/>
          </a:p>
        </p:txBody>
      </p:sp>
      <p:sp>
        <p:nvSpPr>
          <p:cNvPr id="26" name="text 24"/>
          <p:cNvSpPr txBox="1"/>
          <p:nvPr/>
        </p:nvSpPr>
        <p:spPr>
          <a:xfrm>
            <a:off x="635000" y="1320800"/>
            <a:ext cx="889000" cy="1066800"/>
          </a:xfrm>
          <a:prstGeom prst="rect">
            <a:avLst/>
          </a:prstGeom>
          <a:noFill/>
          <a:ln/>
        </p:spPr>
        <p:txBody>
          <a:bodyPr wrap="square" lIns="0" tIns="0" rIns="0" bIns="0" rtlCol="0" anchor="ctr"/>
          <a:lstStyle/>
          <a:p>
            <a:pPr marL="0" indent="0">
              <a:buNone/>
            </a:pPr>
            <a:r>
              <a:rPr lang="en-US" sz="6600" b="1" dirty="0">
                <a:solidFill>
                  <a:schemeClr val="bg1"/>
                </a:solidFill>
                <a:latin typeface="Arial" pitchFamily="34" charset="0"/>
                <a:ea typeface="Arial" pitchFamily="34" charset="-122"/>
                <a:cs typeface="Arial" pitchFamily="34" charset="-120"/>
              </a:rPr>
              <a:t>8</a:t>
            </a:r>
            <a:endParaRPr lang="en-US" sz="6600" dirty="0"/>
          </a:p>
        </p:txBody>
      </p:sp>
      <p:sp>
        <p:nvSpPr>
          <p:cNvPr id="27" name="text 25"/>
          <p:cNvSpPr txBox="1"/>
          <p:nvPr/>
        </p:nvSpPr>
        <p:spPr>
          <a:xfrm>
            <a:off x="1574800" y="1574800"/>
            <a:ext cx="2133600" cy="558800"/>
          </a:xfrm>
          <a:prstGeom prst="rect">
            <a:avLst/>
          </a:prstGeom>
          <a:noFill/>
          <a:ln/>
        </p:spPr>
        <p:txBody>
          <a:bodyPr wrap="square" lIns="0" tIns="0" rIns="0" bIns="0" rtlCol="0" anchor="ctr"/>
          <a:lstStyle/>
          <a:p>
            <a:pPr marL="0" indent="0">
              <a:buNone/>
            </a:pPr>
            <a:r>
              <a:rPr lang="en-US" sz="1300" b="1" dirty="0">
                <a:solidFill>
                  <a:schemeClr val="bg1"/>
                </a:solidFill>
                <a:latin typeface="Arial" pitchFamily="34" charset="0"/>
                <a:ea typeface="Arial" pitchFamily="34" charset="-122"/>
                <a:cs typeface="Arial" pitchFamily="34" charset="-120"/>
              </a:rPr>
              <a:t>DECENT WORK AND ECONOMIC GROWTH</a:t>
            </a:r>
            <a:endParaRPr lang="en-US" sz="1300" dirty="0"/>
          </a:p>
        </p:txBody>
      </p:sp>
      <p:sp>
        <p:nvSpPr>
          <p:cNvPr id="28" name="text 26"/>
          <p:cNvSpPr txBox="1"/>
          <p:nvPr/>
        </p:nvSpPr>
        <p:spPr>
          <a:xfrm>
            <a:off x="660400" y="2590800"/>
            <a:ext cx="2946400" cy="203200"/>
          </a:xfrm>
          <a:prstGeom prst="rect">
            <a:avLst/>
          </a:prstGeom>
          <a:noFill/>
          <a:ln/>
        </p:spPr>
        <p:txBody>
          <a:bodyPr wrap="square" lIns="0" tIns="0" rIns="0" bIns="0" rtlCol="0" anchor="ctr"/>
          <a:lstStyle/>
          <a:p>
            <a:pPr marL="0" indent="0">
              <a:buNone/>
            </a:pPr>
            <a:r>
              <a:rPr lang="en-US" sz="1100" b="1" kern="0" spc="100" dirty="0">
                <a:solidFill>
                  <a:schemeClr val="accent2"/>
                </a:solidFill>
                <a:latin typeface="Arial" pitchFamily="34" charset="0"/>
                <a:ea typeface="Arial" pitchFamily="34" charset="-122"/>
                <a:cs typeface="Arial" pitchFamily="34" charset="-120"/>
              </a:rPr>
              <a:t>TARGET 8.5</a:t>
            </a:r>
            <a:endParaRPr lang="en-US" sz="1100" dirty="0"/>
          </a:p>
        </p:txBody>
      </p:sp>
      <p:sp>
        <p:nvSpPr>
          <p:cNvPr id="29" name="text 27"/>
          <p:cNvSpPr txBox="1"/>
          <p:nvPr/>
        </p:nvSpPr>
        <p:spPr>
          <a:xfrm>
            <a:off x="660400" y="2819400"/>
            <a:ext cx="2946400" cy="1524000"/>
          </a:xfrm>
          <a:prstGeom prst="rect">
            <a:avLst/>
          </a:prstGeom>
          <a:noFill/>
          <a:ln/>
        </p:spPr>
        <p:txBody>
          <a:bodyPr wrap="square" lIns="0" tIns="0" rIns="0" bIns="0" rtlCol="0" anchor="t"/>
          <a:lstStyle/>
          <a:p>
            <a:pPr marL="0" indent="0">
              <a:buNone/>
            </a:pPr>
            <a:r>
              <a:rPr lang="en-US" sz="1400" i="1" dirty="0">
                <a:solidFill>
                  <a:schemeClr val="bg1"/>
                </a:solidFill>
              </a:rPr>
              <a:t>"Full and productive employment and decent work for all women and men, including young people and persons with disabilities"</a:t>
            </a:r>
            <a:endParaRPr lang="en-US" sz="1400" dirty="0"/>
          </a:p>
        </p:txBody>
      </p:sp>
      <p:sp>
        <p:nvSpPr>
          <p:cNvPr id="30" name="text 28"/>
          <p:cNvSpPr txBox="1"/>
          <p:nvPr/>
        </p:nvSpPr>
        <p:spPr>
          <a:xfrm>
            <a:off x="6604000" y="1361440"/>
            <a:ext cx="1930400" cy="203200"/>
          </a:xfrm>
          <a:prstGeom prst="rect">
            <a:avLst/>
          </a:prstGeom>
          <a:noFill/>
          <a:ln/>
        </p:spPr>
        <p:txBody>
          <a:bodyPr wrap="square" lIns="0" tIns="0" rIns="0" bIns="0" rtlCol="0" anchor="ctr"/>
          <a:lstStyle/>
          <a:p>
            <a:pPr marL="0" indent="0">
              <a:buNone/>
            </a:pPr>
            <a:r>
              <a:rPr lang="en-US" sz="1000" b="1" kern="0" spc="100" dirty="0">
                <a:solidFill>
                  <a:srgbClr val="000000"/>
                </a:solidFill>
                <a:latin typeface="Arial" pitchFamily="34" charset="0"/>
                <a:ea typeface="Arial" pitchFamily="34" charset="-122"/>
                <a:cs typeface="Arial" pitchFamily="34" charset="-120"/>
              </a:rPr>
              <a:t>WHY WE FIT</a:t>
            </a:r>
            <a:endParaRPr lang="en-US" sz="1000" dirty="0">
              <a:solidFill>
                <a:srgbClr val="000000"/>
              </a:solidFill>
            </a:endParaRPr>
          </a:p>
        </p:txBody>
      </p:sp>
      <p:sp>
        <p:nvSpPr>
          <p:cNvPr id="31" name="text 29"/>
          <p:cNvSpPr txBox="1"/>
          <p:nvPr/>
        </p:nvSpPr>
        <p:spPr>
          <a:xfrm>
            <a:off x="6604000" y="1615440"/>
            <a:ext cx="1930400" cy="1066800"/>
          </a:xfrm>
          <a:prstGeom prst="rect">
            <a:avLst/>
          </a:prstGeom>
          <a:noFill/>
          <a:ln/>
        </p:spPr>
        <p:txBody>
          <a:bodyPr wrap="square" lIns="0" tIns="0" rIns="0" bIns="0" rtlCol="0" anchor="t"/>
          <a:lstStyle/>
          <a:p>
            <a:pPr marL="0" indent="0">
              <a:spcAft>
                <a:spcPts val="300"/>
              </a:spcAft>
              <a:buNone/>
            </a:pPr>
            <a:r>
              <a:rPr lang="en-US" sz="1200" b="1" dirty="0">
                <a:solidFill>
                  <a:srgbClr val="000000"/>
                </a:solidFill>
              </a:rPr>
              <a:t>Back into work: </a:t>
            </a:r>
            <a:r>
              <a:rPr lang="en-US" sz="1200" dirty="0">
                <a:solidFill>
                  <a:srgbClr val="000000"/>
                </a:solidFill>
              </a:rPr>
              <a:t>who needs help first</a:t>
            </a:r>
          </a:p>
          <a:p>
            <a:pPr marL="0" indent="0">
              <a:spcAft>
                <a:spcPts val="300"/>
              </a:spcAft>
              <a:buNone/>
            </a:pPr>
            <a:r>
              <a:rPr lang="en-US" sz="1200" b="1" dirty="0">
                <a:solidFill>
                  <a:srgbClr val="000000"/>
                </a:solidFill>
              </a:rPr>
              <a:t>"For all": </a:t>
            </a:r>
            <a:r>
              <a:rPr lang="en-US" sz="1200" dirty="0">
                <a:solidFill>
                  <a:srgbClr val="000000"/>
                </a:solidFill>
              </a:rPr>
              <a:t>we check the model per group</a:t>
            </a:r>
          </a:p>
        </p:txBody>
      </p:sp>
      <p:sp>
        <p:nvSpPr>
          <p:cNvPr id="32" name="text 30"/>
          <p:cNvSpPr txBox="1"/>
          <p:nvPr/>
        </p:nvSpPr>
        <p:spPr>
          <a:xfrm>
            <a:off x="4165600" y="3083560"/>
            <a:ext cx="1930400" cy="203200"/>
          </a:xfrm>
          <a:prstGeom prst="rect">
            <a:avLst/>
          </a:prstGeom>
          <a:noFill/>
          <a:ln/>
        </p:spPr>
        <p:txBody>
          <a:bodyPr wrap="square" lIns="0" tIns="0" rIns="0" bIns="0" rtlCol="0" anchor="ctr"/>
          <a:lstStyle/>
          <a:p>
            <a:pPr marL="0" indent="0">
              <a:buNone/>
            </a:pPr>
            <a:r>
              <a:rPr lang="en-US" sz="1000" b="1" kern="0" spc="100" dirty="0">
                <a:solidFill>
                  <a:srgbClr val="000000"/>
                </a:solidFill>
                <a:latin typeface="Arial" pitchFamily="34" charset="0"/>
                <a:ea typeface="Arial" pitchFamily="34" charset="-122"/>
                <a:cs typeface="Arial" pitchFamily="34" charset="-120"/>
              </a:rPr>
              <a:t>WHO BENEFITS</a:t>
            </a:r>
            <a:endParaRPr lang="en-US" sz="1000" dirty="0">
              <a:solidFill>
                <a:srgbClr val="000000"/>
              </a:solidFill>
            </a:endParaRPr>
          </a:p>
        </p:txBody>
      </p:sp>
      <p:sp>
        <p:nvSpPr>
          <p:cNvPr id="33" name="text 31"/>
          <p:cNvSpPr txBox="1"/>
          <p:nvPr/>
        </p:nvSpPr>
        <p:spPr>
          <a:xfrm>
            <a:off x="4165600" y="3337560"/>
            <a:ext cx="1930400" cy="1066800"/>
          </a:xfrm>
          <a:prstGeom prst="rect">
            <a:avLst/>
          </a:prstGeom>
          <a:noFill/>
          <a:ln/>
        </p:spPr>
        <p:txBody>
          <a:bodyPr wrap="square" lIns="0" tIns="0" rIns="0" bIns="0" rtlCol="0" anchor="t"/>
          <a:lstStyle/>
          <a:p>
            <a:pPr marL="0" indent="0">
              <a:buNone/>
            </a:pPr>
            <a:r>
              <a:rPr lang="en-US" sz="1200" dirty="0">
                <a:solidFill>
                  <a:srgbClr val="000000"/>
                </a:solidFill>
              </a:rPr>
              <a:t>Job seekers who would otherwise be seen too late</a:t>
            </a:r>
          </a:p>
        </p:txBody>
      </p:sp>
      <p:sp>
        <p:nvSpPr>
          <p:cNvPr id="34" name="Slide Number Placeholder 0"/>
          <p:cNvSpPr>
            <a:spLocks noGrp="1"/>
          </p:cNvSpPr>
          <p:nvPr>
            <p:ph type="sldNum" sz="quarter" idx="4294967295"/>
          </p:nvPr>
        </p:nvSpPr>
        <p:spPr>
          <a:xfrm>
            <a:off x="8138160" y="4663440"/>
            <a:ext cx="548640" cy="292608"/>
          </a:xfrm>
          <a:prstGeom prst="rect">
            <a:avLst/>
          </a:prstGeom>
          <a:extLst>
            <a:ext uri="{C572A759-6A51-4108-AA02-DFA0A04FC94B}">
              <ma14:wrappingTextBoxFlag xmlns:ma14="http://schemas.microsoft.com/office/mac/drawingml/2011/main" xmlns="" val="0"/>
            </a:ext>
          </a:extLst>
        </p:spPr>
        <p:txBody>
          <a:bodyPr/>
          <a:lstStyle>
            <a:lvl1pPr>
              <a:defRPr sz="900">
                <a:solidFill>
                  <a:srgbClr val="595959"/>
                </a:solidFill>
              </a:defRPr>
            </a:lvl1pPr>
          </a:lstStyle>
          <a:p>
            <a:pPr algn="r"/>
            <a:fld id="{F7021451-1387-4CA6-816F-3879F97B5CBC}" type="slidenum">
              <a:rPr lang="en-US" b="0"/>
              <a:t>3</a:t>
            </a:fld>
            <a:endParaRPr lang="en-US"/>
          </a:p>
        </p:txBody>
      </p:sp>
      <p:sp>
        <p:nvSpPr>
          <p:cNvPr id="35" name="text 30">
            <a:extLst>
              <a:ext uri="{FF2B5EF4-FFF2-40B4-BE49-F238E27FC236}">
                <a16:creationId xmlns:a16="http://schemas.microsoft.com/office/drawing/2014/main" id="{8A4CFAB9-A321-D830-FFCB-B740A1F3831B}"/>
              </a:ext>
            </a:extLst>
          </p:cNvPr>
          <p:cNvSpPr txBox="1"/>
          <p:nvPr/>
        </p:nvSpPr>
        <p:spPr>
          <a:xfrm>
            <a:off x="4165600" y="1361440"/>
            <a:ext cx="1930400" cy="203200"/>
          </a:xfrm>
          <a:prstGeom prst="rect">
            <a:avLst/>
          </a:prstGeom>
          <a:noFill/>
          <a:ln/>
        </p:spPr>
        <p:txBody>
          <a:bodyPr wrap="square" lIns="0" tIns="0" rIns="0" bIns="0" rtlCol="0" anchor="ctr"/>
          <a:lstStyle/>
          <a:p>
            <a:pPr marL="0" indent="0">
              <a:buNone/>
            </a:pPr>
            <a:r>
              <a:rPr lang="en-US" sz="1000" b="1" kern="0" spc="100">
                <a:solidFill>
                  <a:srgbClr val="000000"/>
                </a:solidFill>
                <a:latin typeface="Arial" pitchFamily="34" charset="0"/>
                <a:ea typeface="Arial" pitchFamily="34" charset="-122"/>
                <a:cs typeface="Arial" pitchFamily="34" charset="-120"/>
              </a:rPr>
              <a:t>THE SPECIFIC GAP</a:t>
            </a:r>
            <a:endParaRPr lang="en-US" sz="1000" dirty="0">
              <a:solidFill>
                <a:srgbClr val="000000"/>
              </a:solidFill>
            </a:endParaRPr>
          </a:p>
        </p:txBody>
      </p:sp>
      <p:sp>
        <p:nvSpPr>
          <p:cNvPr id="36" name="text 31">
            <a:extLst>
              <a:ext uri="{FF2B5EF4-FFF2-40B4-BE49-F238E27FC236}">
                <a16:creationId xmlns:a16="http://schemas.microsoft.com/office/drawing/2014/main" id="{6C371EC7-D974-3C46-11B5-C90A64B5C225}"/>
              </a:ext>
            </a:extLst>
          </p:cNvPr>
          <p:cNvSpPr txBox="1"/>
          <p:nvPr/>
        </p:nvSpPr>
        <p:spPr>
          <a:xfrm>
            <a:off x="4165600" y="1615440"/>
            <a:ext cx="1930400" cy="1066800"/>
          </a:xfrm>
          <a:prstGeom prst="rect">
            <a:avLst/>
          </a:prstGeom>
          <a:noFill/>
          <a:ln/>
        </p:spPr>
        <p:txBody>
          <a:bodyPr wrap="square" lIns="0" tIns="0" rIns="0" bIns="0" rtlCol="0" anchor="t"/>
          <a:lstStyle/>
          <a:p>
            <a:pPr marL="0" indent="0">
              <a:buNone/>
            </a:pPr>
            <a:r>
              <a:rPr lang="en-US" sz="1200">
                <a:solidFill>
                  <a:srgbClr val="000000"/>
                </a:solidFill>
              </a:rPr>
              <a:t>Three in ten get the wrong prediction. A wrong "finds work quickly" means no conversation until month seven.</a:t>
            </a:r>
            <a:endParaRPr lang="en-US" sz="1200" dirty="0">
              <a:solidFill>
                <a:srgbClr val="000000"/>
              </a:solidFill>
            </a:endParaRPr>
          </a:p>
        </p:txBody>
      </p:sp>
      <p:sp>
        <p:nvSpPr>
          <p:cNvPr id="37" name="text 30">
            <a:extLst>
              <a:ext uri="{FF2B5EF4-FFF2-40B4-BE49-F238E27FC236}">
                <a16:creationId xmlns:a16="http://schemas.microsoft.com/office/drawing/2014/main" id="{6A41D0C4-4547-C2E8-51A8-BCDF6C2629B4}"/>
              </a:ext>
            </a:extLst>
          </p:cNvPr>
          <p:cNvSpPr txBox="1"/>
          <p:nvPr/>
        </p:nvSpPr>
        <p:spPr>
          <a:xfrm>
            <a:off x="6604000" y="3083560"/>
            <a:ext cx="1930400" cy="203200"/>
          </a:xfrm>
          <a:prstGeom prst="rect">
            <a:avLst/>
          </a:prstGeom>
          <a:noFill/>
          <a:ln/>
        </p:spPr>
        <p:txBody>
          <a:bodyPr wrap="square" lIns="0" tIns="0" rIns="0" bIns="0" rtlCol="0" anchor="ctr"/>
          <a:lstStyle/>
          <a:p>
            <a:pPr marL="0" indent="0">
              <a:buNone/>
            </a:pPr>
            <a:r>
              <a:rPr lang="en-US" sz="1000" b="1" kern="0" spc="100">
                <a:solidFill>
                  <a:srgbClr val="000000"/>
                </a:solidFill>
                <a:latin typeface="Arial" pitchFamily="34" charset="0"/>
                <a:ea typeface="Arial" pitchFamily="34" charset="-122"/>
                <a:cs typeface="Arial" pitchFamily="34" charset="-120"/>
              </a:rPr>
              <a:t>WHAT IT DOES NOT DO</a:t>
            </a:r>
            <a:endParaRPr lang="en-US" sz="1000" dirty="0">
              <a:solidFill>
                <a:srgbClr val="000000"/>
              </a:solidFill>
            </a:endParaRPr>
          </a:p>
        </p:txBody>
      </p:sp>
      <p:sp>
        <p:nvSpPr>
          <p:cNvPr id="38" name="text 31">
            <a:extLst>
              <a:ext uri="{FF2B5EF4-FFF2-40B4-BE49-F238E27FC236}">
                <a16:creationId xmlns:a16="http://schemas.microsoft.com/office/drawing/2014/main" id="{A78750E6-224C-1F46-092A-204D3D5FBB23}"/>
              </a:ext>
            </a:extLst>
          </p:cNvPr>
          <p:cNvSpPr txBox="1"/>
          <p:nvPr/>
        </p:nvSpPr>
        <p:spPr>
          <a:xfrm>
            <a:off x="6604000" y="3337560"/>
            <a:ext cx="1930400" cy="1066800"/>
          </a:xfrm>
          <a:prstGeom prst="rect">
            <a:avLst/>
          </a:prstGeom>
          <a:noFill/>
          <a:ln/>
        </p:spPr>
        <p:txBody>
          <a:bodyPr wrap="square" lIns="0" tIns="0" rIns="0" bIns="0" rtlCol="0" anchor="t"/>
          <a:lstStyle/>
          <a:p>
            <a:pPr marL="0" indent="0">
              <a:buNone/>
            </a:pPr>
            <a:r>
              <a:rPr lang="en-US" sz="1200">
                <a:solidFill>
                  <a:srgbClr val="000000"/>
                </a:solidFill>
              </a:rPr>
              <a:t>It creates no jobs and no extra coach time. It only helps decide who is seen first.</a:t>
            </a:r>
            <a:endParaRPr lang="en-US" sz="1200" dirty="0">
              <a:solidFill>
                <a:srgbClr val="000000"/>
              </a:solidFill>
            </a:endParaRPr>
          </a:p>
        </p:txBody>
      </p:sp>
    </p:spTree>
    <p:extLst>
      <p:ext uri="{BB962C8B-B14F-4D97-AF65-F5344CB8AC3E}">
        <p14:creationId xmlns:p14="http://schemas.microsoft.com/office/powerpoint/2010/main" val="39349813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74320"/>
            <a:ext cx="8229600" cy="219456"/>
          </a:xfrm>
          <a:prstGeom prst="rect">
            <a:avLst/>
          </a:prstGeom>
          <a:noFill/>
          <a:ln/>
        </p:spPr>
        <p:txBody>
          <a:bodyPr wrap="square" lIns="0" tIns="0" rIns="0" bIns="0" rtlCol="0" anchor="ctr"/>
          <a:lstStyle/>
          <a:p>
            <a:pPr marL="0" indent="0" algn="l">
              <a:buNone/>
            </a:pPr>
            <a:r>
              <a:rPr lang="en-US" sz="1000" b="1" kern="0" spc="150" dirty="0">
                <a:solidFill>
                  <a:schemeClr val="accent1"/>
                </a:solidFill>
                <a:latin typeface="Arial" pitchFamily="34" charset="0"/>
                <a:ea typeface="Arial" pitchFamily="34" charset="-122"/>
                <a:cs typeface="Arial" pitchFamily="34" charset="-120"/>
              </a:rPr>
              <a:t>RUBRIC 2 · USER GROUP</a:t>
            </a:r>
            <a:endParaRPr lang="en-US" sz="1000" dirty="0"/>
          </a:p>
        </p:txBody>
      </p:sp>
      <p:sp>
        <p:nvSpPr>
          <p:cNvPr id="3" name="Text 0"/>
          <p:cNvSpPr>
            <a:spLocks noGrp="1"/>
          </p:cNvSpPr>
          <p:nvPr>
            <p:ph type="title" idx="101" hasCustomPrompt="1"/>
          </p:nvPr>
        </p:nvSpPr>
        <p:spPr>
          <a:xfrm>
            <a:off x="457200" y="512064"/>
            <a:ext cx="8229600" cy="548640"/>
          </a:xfrm>
          <a:prstGeom prst="rect">
            <a:avLst/>
          </a:prstGeom>
          <a:noFill/>
          <a:ln/>
        </p:spPr>
        <p:txBody>
          <a:bodyPr wrap="square" lIns="0" tIns="0" rIns="0" bIns="0" rtlCol="0" anchor="ctr"/>
          <a:lstStyle/>
          <a:p>
            <a:pPr marL="0" indent="0" algn="l">
              <a:buNone/>
            </a:pPr>
            <a:r>
              <a:rPr lang="en-US" sz="2400" b="1" dirty="0">
                <a:solidFill>
                  <a:schemeClr val="tx1"/>
                </a:solidFill>
              </a:rPr>
              <a:t>For the work coach, about people who just lost a job</a:t>
            </a:r>
            <a:endParaRPr lang="en-US" sz="2400" dirty="0"/>
          </a:p>
        </p:txBody>
      </p:sp>
      <p:sp>
        <p:nvSpPr>
          <p:cNvPr id="4" name="Text 0"/>
          <p:cNvSpPr>
            <a:spLocks noGrp="1"/>
          </p:cNvSpPr>
          <p:nvPr>
            <p:ph type="body" idx="102" hasCustomPrompt="1"/>
          </p:nvPr>
        </p:nvSpPr>
        <p:spPr>
          <a:xfrm>
            <a:off x="457200" y="4663440"/>
            <a:ext cx="7589520" cy="292608"/>
          </a:xfrm>
          <a:prstGeom prst="rect">
            <a:avLst/>
          </a:prstGeom>
          <a:noFill/>
          <a:ln/>
        </p:spPr>
        <p:txBody>
          <a:bodyPr wrap="square" lIns="0" tIns="0" rIns="0" bIns="0" rtlCol="0" anchor="ctr"/>
          <a:lstStyle/>
          <a:p>
            <a:pPr marL="0" indent="0" algn="l">
              <a:buNone/>
            </a:pPr>
            <a:r>
              <a:rPr lang="en-US" sz="900" dirty="0">
                <a:solidFill>
                  <a:schemeClr val="accent3"/>
                </a:solidFill>
              </a:rPr>
              <a:t>Sources: UWV (2022) · share per age group: our notebook, 2,019 job losses in the LISS panel · README</a:t>
            </a:r>
            <a:endParaRPr lang="en-US" sz="900" dirty="0"/>
          </a:p>
        </p:txBody>
      </p:sp>
      <p:sp>
        <p:nvSpPr>
          <p:cNvPr id="5" name="card 32"/>
          <p:cNvSpPr/>
          <p:nvPr/>
        </p:nvSpPr>
        <p:spPr>
          <a:xfrm>
            <a:off x="457200" y="1234440"/>
            <a:ext cx="2615184" cy="2697480"/>
          </a:xfrm>
          <a:prstGeom prst="rect">
            <a:avLst/>
          </a:prstGeom>
          <a:solidFill>
            <a:schemeClr val="accent2">
              <a:alpha val="30000"/>
            </a:schemeClr>
          </a:solidFill>
          <a:ln/>
        </p:spPr>
        <p:txBody>
          <a:bodyPr/>
          <a:lstStyle/>
          <a:p>
            <a:endParaRPr lang="en-US"/>
          </a:p>
        </p:txBody>
      </p:sp>
      <p:sp>
        <p:nvSpPr>
          <p:cNvPr id="6" name="card 33"/>
          <p:cNvSpPr/>
          <p:nvPr/>
        </p:nvSpPr>
        <p:spPr>
          <a:xfrm>
            <a:off x="3264408" y="1234440"/>
            <a:ext cx="2615184" cy="2697480"/>
          </a:xfrm>
          <a:prstGeom prst="rect">
            <a:avLst/>
          </a:prstGeom>
          <a:solidFill>
            <a:schemeClr val="accent2">
              <a:alpha val="30000"/>
            </a:schemeClr>
          </a:solidFill>
          <a:ln/>
        </p:spPr>
        <p:txBody>
          <a:bodyPr/>
          <a:lstStyle/>
          <a:p>
            <a:endParaRPr lang="en-US"/>
          </a:p>
        </p:txBody>
      </p:sp>
      <p:sp>
        <p:nvSpPr>
          <p:cNvPr id="7" name="card 34"/>
          <p:cNvSpPr/>
          <p:nvPr/>
        </p:nvSpPr>
        <p:spPr>
          <a:xfrm>
            <a:off x="6071616" y="1234440"/>
            <a:ext cx="2615184" cy="2697480"/>
          </a:xfrm>
          <a:prstGeom prst="rect">
            <a:avLst/>
          </a:prstGeom>
          <a:solidFill>
            <a:schemeClr val="accent2">
              <a:alpha val="30000"/>
            </a:schemeClr>
          </a:solidFill>
          <a:ln/>
        </p:spPr>
        <p:txBody>
          <a:bodyPr/>
          <a:lstStyle/>
          <a:p>
            <a:endParaRPr lang="en-US"/>
          </a:p>
        </p:txBody>
      </p:sp>
      <p:sp>
        <p:nvSpPr>
          <p:cNvPr id="8" name="text 35"/>
          <p:cNvSpPr txBox="1"/>
          <p:nvPr/>
        </p:nvSpPr>
        <p:spPr>
          <a:xfrm>
            <a:off x="603504" y="1325880"/>
            <a:ext cx="2322576" cy="201168"/>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Arial" pitchFamily="34" charset="0"/>
                <a:ea typeface="Arial" pitchFamily="34" charset="-122"/>
                <a:cs typeface="Arial" pitchFamily="34" charset="-120"/>
              </a:rPr>
              <a:t>WHO USES IT</a:t>
            </a:r>
            <a:endParaRPr lang="en-US" sz="1000" dirty="0"/>
          </a:p>
        </p:txBody>
      </p:sp>
      <p:sp>
        <p:nvSpPr>
          <p:cNvPr id="9" name="text 36"/>
          <p:cNvSpPr txBox="1"/>
          <p:nvPr/>
        </p:nvSpPr>
        <p:spPr>
          <a:xfrm>
            <a:off x="603504" y="1563624"/>
            <a:ext cx="2322576" cy="402336"/>
          </a:xfrm>
          <a:prstGeom prst="rect">
            <a:avLst/>
          </a:prstGeom>
          <a:noFill/>
          <a:ln/>
        </p:spPr>
        <p:txBody>
          <a:bodyPr wrap="square" lIns="0" tIns="0" rIns="0" bIns="0" rtlCol="0" anchor="t"/>
          <a:lstStyle/>
          <a:p>
            <a:pPr marL="0" indent="0">
              <a:buNone/>
            </a:pPr>
            <a:r>
              <a:rPr lang="en-US" sz="1200" b="1" dirty="0">
                <a:solidFill>
                  <a:schemeClr val="tx1"/>
                </a:solidFill>
              </a:rPr>
              <a:t>The UWV work coach who handles new WW claimants</a:t>
            </a:r>
            <a:endParaRPr lang="en-US" sz="1200" dirty="0"/>
          </a:p>
        </p:txBody>
      </p:sp>
      <p:sp>
        <p:nvSpPr>
          <p:cNvPr id="10" name="text 37"/>
          <p:cNvSpPr txBox="1"/>
          <p:nvPr/>
        </p:nvSpPr>
        <p:spPr>
          <a:xfrm>
            <a:off x="603504" y="2082800"/>
            <a:ext cx="804672" cy="402336"/>
          </a:xfrm>
          <a:prstGeom prst="rect">
            <a:avLst/>
          </a:prstGeom>
          <a:noFill/>
          <a:ln/>
        </p:spPr>
        <p:txBody>
          <a:bodyPr wrap="square" lIns="0" tIns="0" rIns="0" bIns="0" rtlCol="0" anchor="ctr"/>
          <a:lstStyle/>
          <a:p>
            <a:pPr marL="0" indent="0">
              <a:buNone/>
            </a:pPr>
            <a:r>
              <a:rPr lang="en-US" sz="1400" b="1" dirty="0">
                <a:solidFill>
                  <a:schemeClr val="accent1"/>
                </a:solidFill>
                <a:latin typeface="Arial" pitchFamily="34" charset="0"/>
                <a:ea typeface="Arial" pitchFamily="34" charset="-122"/>
                <a:cs typeface="Arial" pitchFamily="34" charset="-120"/>
              </a:rPr>
              <a:t>179,840</a:t>
            </a:r>
            <a:endParaRPr lang="en-US" sz="1400" dirty="0"/>
          </a:p>
        </p:txBody>
      </p:sp>
      <p:sp>
        <p:nvSpPr>
          <p:cNvPr id="11" name="text 38"/>
          <p:cNvSpPr txBox="1"/>
          <p:nvPr/>
        </p:nvSpPr>
        <p:spPr>
          <a:xfrm>
            <a:off x="1426464" y="2082800"/>
            <a:ext cx="1499616" cy="402336"/>
          </a:xfrm>
          <a:prstGeom prst="rect">
            <a:avLst/>
          </a:prstGeom>
          <a:noFill/>
          <a:ln/>
        </p:spPr>
        <p:txBody>
          <a:bodyPr wrap="square" lIns="0" tIns="0" rIns="0" bIns="0" rtlCol="0" anchor="ctr"/>
          <a:lstStyle/>
          <a:p>
            <a:pPr marL="0" indent="0">
              <a:buNone/>
            </a:pPr>
            <a:r>
              <a:rPr lang="en-US" sz="1000" dirty="0">
                <a:solidFill>
                  <a:schemeClr val="tx1"/>
                </a:solidFill>
              </a:rPr>
              <a:t>new claimants in the year UWV studied</a:t>
            </a:r>
            <a:endParaRPr lang="en-US" sz="1000" dirty="0"/>
          </a:p>
        </p:txBody>
      </p:sp>
      <p:sp>
        <p:nvSpPr>
          <p:cNvPr id="14" name="text 41"/>
          <p:cNvSpPr txBox="1"/>
          <p:nvPr/>
        </p:nvSpPr>
        <p:spPr>
          <a:xfrm>
            <a:off x="603504" y="2641600"/>
            <a:ext cx="804672" cy="402336"/>
          </a:xfrm>
          <a:prstGeom prst="rect">
            <a:avLst/>
          </a:prstGeom>
          <a:noFill/>
          <a:ln/>
        </p:spPr>
        <p:txBody>
          <a:bodyPr wrap="square" lIns="0" tIns="0" rIns="0" bIns="0" rtlCol="0" anchor="ctr"/>
          <a:lstStyle/>
          <a:p>
            <a:pPr marL="0" indent="0">
              <a:buNone/>
            </a:pPr>
            <a:r>
              <a:rPr lang="en-US" sz="1400" b="1" dirty="0">
                <a:solidFill>
                  <a:schemeClr val="accent1"/>
                </a:solidFill>
                <a:latin typeface="Arial" pitchFamily="34" charset="0"/>
                <a:ea typeface="Arial" pitchFamily="34" charset="-122"/>
                <a:cs typeface="Arial" pitchFamily="34" charset="-120"/>
              </a:rPr>
              <a:t>&gt;90%</a:t>
            </a:r>
            <a:endParaRPr lang="en-US" sz="1400" dirty="0"/>
          </a:p>
        </p:txBody>
      </p:sp>
      <p:sp>
        <p:nvSpPr>
          <p:cNvPr id="15" name="text 42"/>
          <p:cNvSpPr txBox="1"/>
          <p:nvPr/>
        </p:nvSpPr>
        <p:spPr>
          <a:xfrm>
            <a:off x="1426464" y="2641600"/>
            <a:ext cx="1499616" cy="402336"/>
          </a:xfrm>
          <a:prstGeom prst="rect">
            <a:avLst/>
          </a:prstGeom>
          <a:noFill/>
          <a:ln/>
        </p:spPr>
        <p:txBody>
          <a:bodyPr wrap="square" lIns="0" tIns="0" rIns="0" bIns="0" rtlCol="0" anchor="ctr"/>
          <a:lstStyle/>
          <a:p>
            <a:pPr marL="0" indent="0">
              <a:buNone/>
            </a:pPr>
            <a:r>
              <a:rPr lang="en-US" sz="1000" dirty="0">
                <a:solidFill>
                  <a:schemeClr val="tx1"/>
                </a:solidFill>
              </a:rPr>
              <a:t>of low scorers get a conversation, 52% of high scorers</a:t>
            </a:r>
            <a:endParaRPr lang="en-US" sz="1000" dirty="0"/>
          </a:p>
        </p:txBody>
      </p:sp>
      <p:sp>
        <p:nvSpPr>
          <p:cNvPr id="16" name="text 43"/>
          <p:cNvSpPr txBox="1"/>
          <p:nvPr/>
        </p:nvSpPr>
        <p:spPr>
          <a:xfrm>
            <a:off x="603504" y="3200400"/>
            <a:ext cx="804672" cy="402336"/>
          </a:xfrm>
          <a:prstGeom prst="rect">
            <a:avLst/>
          </a:prstGeom>
          <a:noFill/>
          <a:ln/>
        </p:spPr>
        <p:txBody>
          <a:bodyPr wrap="square" lIns="0" tIns="0" rIns="0" bIns="0" rtlCol="0" anchor="ctr"/>
          <a:lstStyle/>
          <a:p>
            <a:pPr marL="0" indent="0">
              <a:buNone/>
            </a:pPr>
            <a:r>
              <a:rPr lang="en-US" sz="1400" b="1" dirty="0">
                <a:solidFill>
                  <a:schemeClr val="accent1"/>
                </a:solidFill>
                <a:latin typeface="Arial" pitchFamily="34" charset="0"/>
                <a:ea typeface="Arial" pitchFamily="34" charset="-122"/>
                <a:cs typeface="Arial" pitchFamily="34" charset="-120"/>
              </a:rPr>
              <a:t>3 in 10</a:t>
            </a:r>
            <a:endParaRPr lang="en-US" sz="1400" dirty="0"/>
          </a:p>
        </p:txBody>
      </p:sp>
      <p:sp>
        <p:nvSpPr>
          <p:cNvPr id="17" name="text 44"/>
          <p:cNvSpPr txBox="1"/>
          <p:nvPr/>
        </p:nvSpPr>
        <p:spPr>
          <a:xfrm>
            <a:off x="1426464" y="3200400"/>
            <a:ext cx="1499616" cy="402336"/>
          </a:xfrm>
          <a:prstGeom prst="rect">
            <a:avLst/>
          </a:prstGeom>
          <a:noFill/>
          <a:ln/>
        </p:spPr>
        <p:txBody>
          <a:bodyPr wrap="square" lIns="0" tIns="0" rIns="0" bIns="0" rtlCol="0" anchor="ctr"/>
          <a:lstStyle/>
          <a:p>
            <a:pPr marL="0" indent="0">
              <a:buNone/>
            </a:pPr>
            <a:r>
              <a:rPr lang="en-US" sz="1000" dirty="0">
                <a:solidFill>
                  <a:schemeClr val="tx1"/>
                </a:solidFill>
              </a:rPr>
              <a:t>high scorers are invited earlier on the coach's own judgement</a:t>
            </a:r>
            <a:endParaRPr lang="en-US" sz="1000" dirty="0"/>
          </a:p>
        </p:txBody>
      </p:sp>
      <p:sp>
        <p:nvSpPr>
          <p:cNvPr id="18" name="text 45"/>
          <p:cNvSpPr txBox="1"/>
          <p:nvPr/>
        </p:nvSpPr>
        <p:spPr>
          <a:xfrm>
            <a:off x="3410712" y="1325880"/>
            <a:ext cx="2322576" cy="201168"/>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Arial" pitchFamily="34" charset="0"/>
                <a:ea typeface="Arial" pitchFamily="34" charset="-122"/>
                <a:cs typeface="Arial" pitchFamily="34" charset="-120"/>
              </a:rPr>
              <a:t>WHO IT IS ABOUT</a:t>
            </a:r>
            <a:endParaRPr lang="en-US" sz="1000" dirty="0"/>
          </a:p>
        </p:txBody>
      </p:sp>
      <p:sp>
        <p:nvSpPr>
          <p:cNvPr id="19" name="text 46"/>
          <p:cNvSpPr txBox="1"/>
          <p:nvPr/>
        </p:nvSpPr>
        <p:spPr>
          <a:xfrm>
            <a:off x="3410712" y="1563624"/>
            <a:ext cx="2322576" cy="402336"/>
          </a:xfrm>
          <a:prstGeom prst="rect">
            <a:avLst/>
          </a:prstGeom>
          <a:noFill/>
          <a:ln/>
        </p:spPr>
        <p:txBody>
          <a:bodyPr wrap="square" lIns="0" tIns="0" rIns="0" bIns="0" rtlCol="0" anchor="t"/>
          <a:lstStyle/>
          <a:p>
            <a:pPr marL="0" indent="0">
              <a:buNone/>
            </a:pPr>
            <a:r>
              <a:rPr lang="en-US" sz="1200" b="1" dirty="0">
                <a:solidFill>
                  <a:schemeClr val="tx1"/>
                </a:solidFill>
              </a:rPr>
              <a:t>People aged 18 to 66 who just lost their job</a:t>
            </a:r>
            <a:endParaRPr lang="en-US" sz="1200" dirty="0"/>
          </a:p>
        </p:txBody>
      </p:sp>
      <p:sp>
        <p:nvSpPr>
          <p:cNvPr id="20" name="text 47"/>
          <p:cNvSpPr txBox="1"/>
          <p:nvPr/>
        </p:nvSpPr>
        <p:spPr>
          <a:xfrm>
            <a:off x="3410712" y="2020824"/>
            <a:ext cx="2322576" cy="219456"/>
          </a:xfrm>
          <a:prstGeom prst="rect">
            <a:avLst/>
          </a:prstGeom>
          <a:noFill/>
          <a:ln/>
        </p:spPr>
        <p:txBody>
          <a:bodyPr wrap="square" lIns="0" tIns="0" rIns="0" bIns="0" rtlCol="0" anchor="ctr"/>
          <a:lstStyle/>
          <a:p>
            <a:pPr marL="0" indent="0">
              <a:buNone/>
            </a:pPr>
            <a:r>
              <a:rPr lang="en-US" sz="1050" dirty="0">
                <a:solidFill>
                  <a:schemeClr val="tx1"/>
                </a:solidFill>
              </a:rPr>
              <a:t>Still without work after a year, per age group</a:t>
            </a:r>
            <a:endParaRPr lang="en-US" sz="1050" dirty="0"/>
          </a:p>
        </p:txBody>
      </p:sp>
      <p:graphicFrame>
        <p:nvGraphicFramePr>
          <p:cNvPr id="21" name="chart share long-term per age group"/>
          <p:cNvGraphicFramePr/>
          <p:nvPr/>
        </p:nvGraphicFramePr>
        <p:xfrm>
          <a:off x="3310128" y="2240280"/>
          <a:ext cx="2523744" cy="1627632"/>
        </p:xfrm>
        <a:graphic>
          <a:graphicData uri="http://schemas.openxmlformats.org/drawingml/2006/chart">
            <c:chart xmlns:c="http://schemas.openxmlformats.org/drawingml/2006/chart" xmlns:r="http://schemas.openxmlformats.org/officeDocument/2006/relationships" r:id="rId3"/>
          </a:graphicData>
        </a:graphic>
      </p:graphicFrame>
      <p:sp>
        <p:nvSpPr>
          <p:cNvPr id="22" name="text 48"/>
          <p:cNvSpPr txBox="1"/>
          <p:nvPr/>
        </p:nvSpPr>
        <p:spPr>
          <a:xfrm>
            <a:off x="6217920" y="1325880"/>
            <a:ext cx="2322576" cy="201168"/>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Arial" pitchFamily="34" charset="0"/>
                <a:ea typeface="Arial" pitchFamily="34" charset="-122"/>
                <a:cs typeface="Arial" pitchFamily="34" charset="-120"/>
              </a:rPr>
              <a:t>NOT FOR</a:t>
            </a:r>
            <a:endParaRPr lang="en-US" sz="1000" dirty="0"/>
          </a:p>
        </p:txBody>
      </p:sp>
      <p:sp>
        <p:nvSpPr>
          <p:cNvPr id="23" name="text 49"/>
          <p:cNvSpPr txBox="1"/>
          <p:nvPr/>
        </p:nvSpPr>
        <p:spPr>
          <a:xfrm>
            <a:off x="6217920" y="1563624"/>
            <a:ext cx="2322576" cy="8686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rPr>
              <a:t>Employers and recruiters</a:t>
            </a:r>
            <a:endParaRPr lang="en-US" sz="1200" dirty="0"/>
          </a:p>
          <a:p>
            <a:pPr marL="342900" indent="-342900">
              <a:spcAft>
                <a:spcPts val="400"/>
              </a:spcAft>
              <a:buSzPct val="100000"/>
              <a:buChar char="•"/>
            </a:pPr>
            <a:r>
              <a:rPr lang="en-US" sz="1200" dirty="0">
                <a:solidFill>
                  <a:schemeClr val="tx1"/>
                </a:solidFill>
              </a:rPr>
              <a:t>Fraud and enforcement teams</a:t>
            </a:r>
            <a:endParaRPr lang="en-US" sz="1200" dirty="0"/>
          </a:p>
          <a:p>
            <a:pPr marL="342900" indent="-342900">
              <a:spcAft>
                <a:spcPts val="400"/>
              </a:spcAft>
              <a:buSzPct val="100000"/>
              <a:buChar char="•"/>
            </a:pPr>
            <a:r>
              <a:rPr lang="en-US" sz="1200" dirty="0">
                <a:solidFill>
                  <a:schemeClr val="tx1"/>
                </a:solidFill>
              </a:rPr>
              <a:t>Municipalities (bijstand)</a:t>
            </a:r>
            <a:endParaRPr lang="en-US" sz="1200" dirty="0"/>
          </a:p>
        </p:txBody>
      </p:sp>
      <p:sp>
        <p:nvSpPr>
          <p:cNvPr id="24" name="text 50"/>
          <p:cNvSpPr txBox="1"/>
          <p:nvPr/>
        </p:nvSpPr>
        <p:spPr>
          <a:xfrm>
            <a:off x="6217920" y="2606040"/>
            <a:ext cx="2322576" cy="201168"/>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Arial" pitchFamily="34" charset="0"/>
                <a:ea typeface="Arial" pitchFamily="34" charset="-122"/>
                <a:cs typeface="Arial" pitchFamily="34" charset="-120"/>
              </a:rPr>
              <a:t>MISSING FROM THE DATA</a:t>
            </a:r>
            <a:endParaRPr lang="en-US" sz="1000" dirty="0"/>
          </a:p>
        </p:txBody>
      </p:sp>
      <p:sp>
        <p:nvSpPr>
          <p:cNvPr id="25" name="text 51"/>
          <p:cNvSpPr txBox="1"/>
          <p:nvPr/>
        </p:nvSpPr>
        <p:spPr>
          <a:xfrm>
            <a:off x="6217920" y="2843784"/>
            <a:ext cx="2322576" cy="685800"/>
          </a:xfrm>
          <a:prstGeom prst="rect">
            <a:avLst/>
          </a:prstGeom>
          <a:noFill/>
          <a:ln/>
        </p:spPr>
        <p:txBody>
          <a:bodyPr wrap="square" lIns="0" tIns="0" rIns="0" bIns="0" rtlCol="0" anchor="t"/>
          <a:lstStyle/>
          <a:p>
            <a:pPr marL="0" indent="0">
              <a:buNone/>
            </a:pPr>
            <a:r>
              <a:rPr lang="en-US" sz="1200" dirty="0">
                <a:solidFill>
                  <a:schemeClr val="tx1"/>
                </a:solidFill>
              </a:rPr>
              <a:t>People who do not read Dutch well. The LISS questionnaires are in Dutch.</a:t>
            </a:r>
            <a:endParaRPr lang="en-US" sz="1200" dirty="0"/>
          </a:p>
        </p:txBody>
      </p:sp>
      <p:sp>
        <p:nvSpPr>
          <p:cNvPr id="26" name="card 52"/>
          <p:cNvSpPr/>
          <p:nvPr/>
        </p:nvSpPr>
        <p:spPr>
          <a:xfrm>
            <a:off x="457200" y="4069080"/>
            <a:ext cx="8229600" cy="411480"/>
          </a:xfrm>
          <a:prstGeom prst="rect">
            <a:avLst/>
          </a:prstGeom>
          <a:solidFill>
            <a:schemeClr val="accent1"/>
          </a:solidFill>
          <a:ln/>
        </p:spPr>
        <p:txBody>
          <a:bodyPr/>
          <a:lstStyle/>
          <a:p>
            <a:endParaRPr lang="en-US"/>
          </a:p>
        </p:txBody>
      </p:sp>
      <p:sp>
        <p:nvSpPr>
          <p:cNvPr id="27" name="text 53"/>
          <p:cNvSpPr txBox="1"/>
          <p:nvPr/>
        </p:nvSpPr>
        <p:spPr>
          <a:xfrm>
            <a:off x="640080" y="4069080"/>
            <a:ext cx="7863840" cy="411480"/>
          </a:xfrm>
          <a:prstGeom prst="rect">
            <a:avLst/>
          </a:prstGeom>
          <a:noFill/>
          <a:ln/>
        </p:spPr>
        <p:txBody>
          <a:bodyPr wrap="square" lIns="0" tIns="0" rIns="0" bIns="0" rtlCol="0" anchor="ctr"/>
          <a:lstStyle/>
          <a:p>
            <a:pPr marL="0" indent="0">
              <a:buNone/>
            </a:pPr>
            <a:r>
              <a:rPr lang="en-US" sz="1300" b="1" dirty="0">
                <a:solidFill>
                  <a:schemeClr val="accent2"/>
                </a:solidFill>
              </a:rPr>
              <a:t>Why this kind of model:  </a:t>
            </a:r>
            <a:r>
              <a:rPr lang="en-US" sz="1300" dirty="0">
                <a:solidFill>
                  <a:schemeClr val="bg1"/>
                </a:solidFill>
              </a:rPr>
              <a:t>a coach has to be able to explain a score, and to disagree with it.</a:t>
            </a:r>
            <a:endParaRPr lang="en-US" sz="1300" dirty="0"/>
          </a:p>
        </p:txBody>
      </p:sp>
      <p:sp>
        <p:nvSpPr>
          <p:cNvPr id="28" name="Slide Number Placeholder 0"/>
          <p:cNvSpPr>
            <a:spLocks noGrp="1"/>
          </p:cNvSpPr>
          <p:nvPr>
            <p:ph type="sldNum" sz="quarter" idx="4294967295"/>
          </p:nvPr>
        </p:nvSpPr>
        <p:spPr>
          <a:xfrm>
            <a:off x="8138160" y="4663440"/>
            <a:ext cx="548640" cy="292608"/>
          </a:xfrm>
          <a:prstGeom prst="rect">
            <a:avLst/>
          </a:prstGeom>
          <a:extLst>
            <a:ext uri="{C572A759-6A51-4108-AA02-DFA0A04FC94B}">
              <ma14:wrappingTextBoxFlag xmlns="" xmlns:ma14="http://schemas.microsoft.com/office/mac/drawingml/2011/main" val="0"/>
            </a:ext>
          </a:extLst>
        </p:spPr>
        <p:txBody>
          <a:bodyPr/>
          <a:lstStyle>
            <a:lvl1pPr>
              <a:defRPr sz="900">
                <a:solidFill>
                  <a:srgbClr val="595959"/>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74320"/>
            <a:ext cx="8229600" cy="219456"/>
          </a:xfrm>
          <a:prstGeom prst="rect">
            <a:avLst/>
          </a:prstGeom>
          <a:noFill/>
          <a:ln/>
        </p:spPr>
        <p:txBody>
          <a:bodyPr wrap="square" lIns="0" tIns="0" rIns="0" bIns="0" rtlCol="0" anchor="ctr"/>
          <a:lstStyle/>
          <a:p>
            <a:pPr marL="0" indent="0" algn="l">
              <a:buNone/>
            </a:pPr>
            <a:r>
              <a:rPr lang="en-US" sz="1000" b="1" kern="0" spc="150" dirty="0">
                <a:solidFill>
                  <a:schemeClr val="accent1"/>
                </a:solidFill>
                <a:latin typeface="Arial" pitchFamily="34" charset="0"/>
                <a:ea typeface="Arial" pitchFamily="34" charset="-122"/>
                <a:cs typeface="Arial" pitchFamily="34" charset="-120"/>
              </a:rPr>
              <a:t>RUBRIC 3 · SOLUTION DESCRIPTION     K1 · AI TOOL</a:t>
            </a:r>
            <a:endParaRPr lang="en-US" sz="1000" dirty="0"/>
          </a:p>
        </p:txBody>
      </p:sp>
      <p:sp>
        <p:nvSpPr>
          <p:cNvPr id="3" name="Text 0"/>
          <p:cNvSpPr>
            <a:spLocks noGrp="1"/>
          </p:cNvSpPr>
          <p:nvPr>
            <p:ph type="title" idx="101" hasCustomPrompt="1"/>
          </p:nvPr>
        </p:nvSpPr>
        <p:spPr>
          <a:xfrm>
            <a:off x="457200" y="512064"/>
            <a:ext cx="8229600" cy="548640"/>
          </a:xfrm>
          <a:prstGeom prst="rect">
            <a:avLst/>
          </a:prstGeom>
          <a:noFill/>
          <a:ln/>
        </p:spPr>
        <p:txBody>
          <a:bodyPr wrap="square" lIns="0" tIns="0" rIns="0" bIns="0" rtlCol="0" anchor="ctr"/>
          <a:lstStyle/>
          <a:p>
            <a:pPr marL="0" indent="0" algn="l">
              <a:buNone/>
            </a:pPr>
            <a:r>
              <a:rPr lang="en-US" sz="2400" b="1" dirty="0">
                <a:solidFill>
                  <a:schemeClr val="tx1"/>
                </a:solidFill>
              </a:rPr>
              <a:t>From monthly files to one prediction, in seven steps</a:t>
            </a:r>
            <a:endParaRPr lang="en-US" sz="2400" dirty="0"/>
          </a:p>
        </p:txBody>
      </p:sp>
      <p:sp>
        <p:nvSpPr>
          <p:cNvPr id="4" name="Text 0"/>
          <p:cNvSpPr>
            <a:spLocks noGrp="1"/>
          </p:cNvSpPr>
          <p:nvPr>
            <p:ph type="body" idx="102" hasCustomPrompt="1"/>
          </p:nvPr>
        </p:nvSpPr>
        <p:spPr>
          <a:xfrm>
            <a:off x="457200" y="4663440"/>
            <a:ext cx="7589520" cy="292608"/>
          </a:xfrm>
          <a:prstGeom prst="rect">
            <a:avLst/>
          </a:prstGeom>
          <a:noFill/>
          <a:ln/>
        </p:spPr>
        <p:txBody>
          <a:bodyPr wrap="square" lIns="0" tIns="0" rIns="0" bIns="0" rtlCol="0" anchor="ctr"/>
          <a:lstStyle/>
          <a:p>
            <a:pPr marL="0" indent="0" algn="l">
              <a:buNone/>
            </a:pPr>
            <a:r>
              <a:rPr lang="en-US" sz="900" dirty="0">
                <a:solidFill>
                  <a:schemeClr val="accent3"/>
                </a:solidFill>
              </a:rPr>
              <a:t>Source: our notebook (uwv_long_term_unemployment.ipynb), steps 2 to 8 · LISS panel · scikit-learn 1.9</a:t>
            </a:r>
            <a:endParaRPr lang="en-US" sz="900" dirty="0"/>
          </a:p>
        </p:txBody>
      </p:sp>
      <p:sp>
        <p:nvSpPr>
          <p:cNvPr id="5" name="scikit-learn zone"/>
          <p:cNvSpPr/>
          <p:nvPr/>
        </p:nvSpPr>
        <p:spPr>
          <a:xfrm>
            <a:off x="3977640" y="1234440"/>
            <a:ext cx="4800600" cy="1920240"/>
          </a:xfrm>
          <a:prstGeom prst="rect">
            <a:avLst/>
          </a:prstGeom>
          <a:solidFill>
            <a:schemeClr val="accent2">
              <a:alpha val="45000"/>
            </a:schemeClr>
          </a:solidFill>
          <a:ln/>
        </p:spPr>
        <p:txBody>
          <a:bodyPr/>
          <a:lstStyle/>
          <a:p>
            <a:endParaRPr lang="en-US"/>
          </a:p>
        </p:txBody>
      </p:sp>
      <p:sp>
        <p:nvSpPr>
          <p:cNvPr id="6" name="text 54"/>
          <p:cNvSpPr txBox="1"/>
          <p:nvPr/>
        </p:nvSpPr>
        <p:spPr>
          <a:xfrm>
            <a:off x="4069080" y="1298448"/>
            <a:ext cx="3657600" cy="201168"/>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Arial" pitchFamily="34" charset="0"/>
                <a:ea typeface="Arial" pitchFamily="34" charset="-122"/>
                <a:cs typeface="Arial" pitchFamily="34" charset="-120"/>
              </a:rPr>
              <a:t>DONE WITH SCIKIT-LEARN</a:t>
            </a:r>
            <a:endParaRPr lang="en-US" sz="1000" dirty="0"/>
          </a:p>
        </p:txBody>
      </p:sp>
      <p:sp>
        <p:nvSpPr>
          <p:cNvPr id="7" name="step 1"/>
          <p:cNvSpPr/>
          <p:nvPr/>
        </p:nvSpPr>
        <p:spPr>
          <a:xfrm>
            <a:off x="457200" y="1572768"/>
            <a:ext cx="1005840" cy="1463040"/>
          </a:xfrm>
          <a:prstGeom prst="rect">
            <a:avLst/>
          </a:prstGeom>
          <a:solidFill>
            <a:schemeClr val="bg1"/>
          </a:solidFill>
          <a:ln w="12700">
            <a:solidFill>
              <a:srgbClr val="1F4E79"/>
            </a:solidFill>
            <a:prstDash val="solid"/>
          </a:ln>
        </p:spPr>
        <p:txBody>
          <a:bodyPr/>
          <a:lstStyle/>
          <a:p>
            <a:endParaRPr lang="en-US"/>
          </a:p>
        </p:txBody>
      </p:sp>
      <p:sp>
        <p:nvSpPr>
          <p:cNvPr id="8" name="text 55"/>
          <p:cNvSpPr txBox="1"/>
          <p:nvPr/>
        </p:nvSpPr>
        <p:spPr>
          <a:xfrm>
            <a:off x="548640" y="1645920"/>
            <a:ext cx="365760" cy="310896"/>
          </a:xfrm>
          <a:prstGeom prst="rect">
            <a:avLst/>
          </a:prstGeom>
          <a:noFill/>
          <a:ln/>
        </p:spPr>
        <p:txBody>
          <a:bodyPr wrap="square" lIns="0" tIns="0" rIns="0" bIns="0" rtlCol="0" anchor="ctr"/>
          <a:lstStyle/>
          <a:p>
            <a:pPr marL="0" indent="0">
              <a:buNone/>
            </a:pPr>
            <a:r>
              <a:rPr lang="en-US" sz="1800" b="1" dirty="0">
                <a:solidFill>
                  <a:schemeClr val="accent1"/>
                </a:solidFill>
                <a:latin typeface="Arial" pitchFamily="34" charset="0"/>
                <a:ea typeface="Arial" pitchFamily="34" charset="-122"/>
                <a:cs typeface="Arial" pitchFamily="34" charset="-120"/>
              </a:rPr>
              <a:t>1</a:t>
            </a:r>
            <a:endParaRPr lang="en-US" sz="1800" dirty="0"/>
          </a:p>
        </p:txBody>
      </p:sp>
      <p:sp>
        <p:nvSpPr>
          <p:cNvPr id="9" name="text 56"/>
          <p:cNvSpPr txBox="1"/>
          <p:nvPr/>
        </p:nvSpPr>
        <p:spPr>
          <a:xfrm>
            <a:off x="548640" y="1975104"/>
            <a:ext cx="877824" cy="365760"/>
          </a:xfrm>
          <a:prstGeom prst="rect">
            <a:avLst/>
          </a:prstGeom>
          <a:noFill/>
          <a:ln/>
        </p:spPr>
        <p:txBody>
          <a:bodyPr wrap="square" lIns="0" tIns="0" rIns="0" bIns="0" rtlCol="0" anchor="ctr"/>
          <a:lstStyle/>
          <a:p>
            <a:pPr marL="0" indent="0">
              <a:buNone/>
            </a:pPr>
            <a:r>
              <a:rPr lang="en-US" sz="1050" b="1" dirty="0">
                <a:solidFill>
                  <a:schemeClr val="tx1"/>
                </a:solidFill>
              </a:rPr>
              <a:t>LISS monthly files</a:t>
            </a:r>
            <a:endParaRPr lang="en-US" sz="1050" dirty="0"/>
          </a:p>
        </p:txBody>
      </p:sp>
      <p:sp>
        <p:nvSpPr>
          <p:cNvPr id="10" name="text 57"/>
          <p:cNvSpPr txBox="1"/>
          <p:nvPr/>
        </p:nvSpPr>
        <p:spPr>
          <a:xfrm>
            <a:off x="548640" y="2359152"/>
            <a:ext cx="859536" cy="640080"/>
          </a:xfrm>
          <a:prstGeom prst="rect">
            <a:avLst/>
          </a:prstGeom>
          <a:noFill/>
          <a:ln/>
        </p:spPr>
        <p:txBody>
          <a:bodyPr wrap="square" lIns="0" tIns="0" rIns="0" bIns="0" rtlCol="0" anchor="t"/>
          <a:lstStyle/>
          <a:p>
            <a:pPr marL="0" indent="0">
              <a:buNone/>
            </a:pPr>
            <a:r>
              <a:rPr lang="en-US" sz="1000" dirty="0">
                <a:solidFill>
                  <a:schemeClr val="tx1"/>
                </a:solidFill>
              </a:rPr>
              <a:t>220 files: who works, who is looking</a:t>
            </a:r>
            <a:endParaRPr lang="en-US" sz="1000" dirty="0"/>
          </a:p>
        </p:txBody>
      </p:sp>
      <p:sp>
        <p:nvSpPr>
          <p:cNvPr id="11" name="text 58"/>
          <p:cNvSpPr txBox="1"/>
          <p:nvPr/>
        </p:nvSpPr>
        <p:spPr>
          <a:xfrm>
            <a:off x="1463040" y="2075688"/>
            <a:ext cx="198120" cy="365760"/>
          </a:xfrm>
          <a:prstGeom prst="rect">
            <a:avLst/>
          </a:prstGeom>
          <a:noFill/>
          <a:ln/>
        </p:spPr>
        <p:txBody>
          <a:bodyPr wrap="square" lIns="0" tIns="0" rIns="0" bIns="0" rtlCol="0" anchor="ctr"/>
          <a:lstStyle/>
          <a:p>
            <a:pPr marL="0" indent="0" algn="ctr">
              <a:buNone/>
            </a:pPr>
            <a:r>
              <a:rPr lang="en-US" sz="1800" b="1" dirty="0">
                <a:solidFill>
                  <a:schemeClr val="accent1"/>
                </a:solidFill>
              </a:rPr>
              <a:t>›</a:t>
            </a:r>
            <a:endParaRPr lang="en-US" sz="1800" dirty="0"/>
          </a:p>
        </p:txBody>
      </p:sp>
      <p:sp>
        <p:nvSpPr>
          <p:cNvPr id="12" name="step 2"/>
          <p:cNvSpPr/>
          <p:nvPr/>
        </p:nvSpPr>
        <p:spPr>
          <a:xfrm>
            <a:off x="1661160" y="1572768"/>
            <a:ext cx="1005840" cy="1463040"/>
          </a:xfrm>
          <a:prstGeom prst="rect">
            <a:avLst/>
          </a:prstGeom>
          <a:solidFill>
            <a:schemeClr val="bg1"/>
          </a:solidFill>
          <a:ln w="12700">
            <a:solidFill>
              <a:srgbClr val="1F4E79"/>
            </a:solidFill>
            <a:prstDash val="solid"/>
          </a:ln>
        </p:spPr>
        <p:txBody>
          <a:bodyPr/>
          <a:lstStyle/>
          <a:p>
            <a:endParaRPr lang="en-US"/>
          </a:p>
        </p:txBody>
      </p:sp>
      <p:sp>
        <p:nvSpPr>
          <p:cNvPr id="13" name="text 59"/>
          <p:cNvSpPr txBox="1"/>
          <p:nvPr/>
        </p:nvSpPr>
        <p:spPr>
          <a:xfrm>
            <a:off x="1752600" y="1645920"/>
            <a:ext cx="365760" cy="310896"/>
          </a:xfrm>
          <a:prstGeom prst="rect">
            <a:avLst/>
          </a:prstGeom>
          <a:noFill/>
          <a:ln/>
        </p:spPr>
        <p:txBody>
          <a:bodyPr wrap="square" lIns="0" tIns="0" rIns="0" bIns="0" rtlCol="0" anchor="ctr"/>
          <a:lstStyle/>
          <a:p>
            <a:pPr marL="0" indent="0">
              <a:buNone/>
            </a:pPr>
            <a:r>
              <a:rPr lang="en-US" sz="1800" b="1" dirty="0">
                <a:solidFill>
                  <a:schemeClr val="accent1"/>
                </a:solidFill>
                <a:latin typeface="Arial" pitchFamily="34" charset="0"/>
                <a:ea typeface="Arial" pitchFamily="34" charset="-122"/>
                <a:cs typeface="Arial" pitchFamily="34" charset="-120"/>
              </a:rPr>
              <a:t>2</a:t>
            </a:r>
            <a:endParaRPr lang="en-US" sz="1800" dirty="0"/>
          </a:p>
        </p:txBody>
      </p:sp>
      <p:sp>
        <p:nvSpPr>
          <p:cNvPr id="14" name="text 60"/>
          <p:cNvSpPr txBox="1"/>
          <p:nvPr/>
        </p:nvSpPr>
        <p:spPr>
          <a:xfrm>
            <a:off x="1752600" y="1975104"/>
            <a:ext cx="877824" cy="365760"/>
          </a:xfrm>
          <a:prstGeom prst="rect">
            <a:avLst/>
          </a:prstGeom>
          <a:noFill/>
          <a:ln/>
        </p:spPr>
        <p:txBody>
          <a:bodyPr wrap="square" lIns="0" tIns="0" rIns="0" bIns="0" rtlCol="0" anchor="ctr"/>
          <a:lstStyle/>
          <a:p>
            <a:pPr marL="0" indent="0">
              <a:buNone/>
            </a:pPr>
            <a:r>
              <a:rPr lang="en-US" sz="1050" b="1" dirty="0">
                <a:solidFill>
                  <a:schemeClr val="tx1"/>
                </a:solidFill>
              </a:rPr>
              <a:t>Find job losses</a:t>
            </a:r>
            <a:endParaRPr lang="en-US" sz="1050" dirty="0"/>
          </a:p>
        </p:txBody>
      </p:sp>
      <p:sp>
        <p:nvSpPr>
          <p:cNvPr id="15" name="text 61"/>
          <p:cNvSpPr txBox="1"/>
          <p:nvPr/>
        </p:nvSpPr>
        <p:spPr>
          <a:xfrm>
            <a:off x="1752600" y="2359152"/>
            <a:ext cx="859536" cy="640080"/>
          </a:xfrm>
          <a:prstGeom prst="rect">
            <a:avLst/>
          </a:prstGeom>
          <a:noFill/>
          <a:ln/>
        </p:spPr>
        <p:txBody>
          <a:bodyPr wrap="square" lIns="0" tIns="0" rIns="0" bIns="0" rtlCol="0" anchor="t"/>
          <a:lstStyle/>
          <a:p>
            <a:pPr marL="0" indent="0">
              <a:buNone/>
            </a:pPr>
            <a:r>
              <a:rPr lang="en-US" sz="1000" dirty="0">
                <a:solidFill>
                  <a:schemeClr val="tx1"/>
                </a:solidFill>
              </a:rPr>
              <a:t>2,019 rows, one per job loss</a:t>
            </a:r>
            <a:endParaRPr lang="en-US" sz="1000" dirty="0"/>
          </a:p>
        </p:txBody>
      </p:sp>
      <p:sp>
        <p:nvSpPr>
          <p:cNvPr id="16" name="text 62"/>
          <p:cNvSpPr txBox="1"/>
          <p:nvPr/>
        </p:nvSpPr>
        <p:spPr>
          <a:xfrm>
            <a:off x="2667000" y="2075688"/>
            <a:ext cx="198120" cy="365760"/>
          </a:xfrm>
          <a:prstGeom prst="rect">
            <a:avLst/>
          </a:prstGeom>
          <a:noFill/>
          <a:ln/>
        </p:spPr>
        <p:txBody>
          <a:bodyPr wrap="square" lIns="0" tIns="0" rIns="0" bIns="0" rtlCol="0" anchor="ctr"/>
          <a:lstStyle/>
          <a:p>
            <a:pPr marL="0" indent="0" algn="ctr">
              <a:buNone/>
            </a:pPr>
            <a:r>
              <a:rPr lang="en-US" sz="1800" b="1" dirty="0">
                <a:solidFill>
                  <a:schemeClr val="accent1"/>
                </a:solidFill>
              </a:rPr>
              <a:t>›</a:t>
            </a:r>
            <a:endParaRPr lang="en-US" sz="1800" dirty="0"/>
          </a:p>
        </p:txBody>
      </p:sp>
      <p:sp>
        <p:nvSpPr>
          <p:cNvPr id="17" name="step 3"/>
          <p:cNvSpPr/>
          <p:nvPr/>
        </p:nvSpPr>
        <p:spPr>
          <a:xfrm>
            <a:off x="2865120" y="1572768"/>
            <a:ext cx="1005840" cy="1463040"/>
          </a:xfrm>
          <a:prstGeom prst="rect">
            <a:avLst/>
          </a:prstGeom>
          <a:solidFill>
            <a:schemeClr val="bg1"/>
          </a:solidFill>
          <a:ln w="12700">
            <a:solidFill>
              <a:srgbClr val="1F4E79"/>
            </a:solidFill>
            <a:prstDash val="solid"/>
          </a:ln>
        </p:spPr>
        <p:txBody>
          <a:bodyPr/>
          <a:lstStyle/>
          <a:p>
            <a:endParaRPr lang="en-US"/>
          </a:p>
        </p:txBody>
      </p:sp>
      <p:sp>
        <p:nvSpPr>
          <p:cNvPr id="18" name="text 63"/>
          <p:cNvSpPr txBox="1"/>
          <p:nvPr/>
        </p:nvSpPr>
        <p:spPr>
          <a:xfrm>
            <a:off x="2956560" y="1645920"/>
            <a:ext cx="365760" cy="310896"/>
          </a:xfrm>
          <a:prstGeom prst="rect">
            <a:avLst/>
          </a:prstGeom>
          <a:noFill/>
          <a:ln/>
        </p:spPr>
        <p:txBody>
          <a:bodyPr wrap="square" lIns="0" tIns="0" rIns="0" bIns="0" rtlCol="0" anchor="ctr"/>
          <a:lstStyle/>
          <a:p>
            <a:pPr marL="0" indent="0">
              <a:buNone/>
            </a:pPr>
            <a:r>
              <a:rPr lang="en-US" sz="1800" b="1" dirty="0">
                <a:solidFill>
                  <a:schemeClr val="accent1"/>
                </a:solidFill>
                <a:latin typeface="Arial" pitchFamily="34" charset="0"/>
                <a:ea typeface="Arial" pitchFamily="34" charset="-122"/>
                <a:cs typeface="Arial" pitchFamily="34" charset="-120"/>
              </a:rPr>
              <a:t>3</a:t>
            </a:r>
            <a:endParaRPr lang="en-US" sz="1800" dirty="0"/>
          </a:p>
        </p:txBody>
      </p:sp>
      <p:sp>
        <p:nvSpPr>
          <p:cNvPr id="19" name="text 64"/>
          <p:cNvSpPr txBox="1"/>
          <p:nvPr/>
        </p:nvSpPr>
        <p:spPr>
          <a:xfrm>
            <a:off x="2956560" y="1975104"/>
            <a:ext cx="877824" cy="365760"/>
          </a:xfrm>
          <a:prstGeom prst="rect">
            <a:avLst/>
          </a:prstGeom>
          <a:noFill/>
          <a:ln/>
        </p:spPr>
        <p:txBody>
          <a:bodyPr wrap="square" lIns="0" tIns="0" rIns="0" bIns="0" rtlCol="0" anchor="ctr"/>
          <a:lstStyle/>
          <a:p>
            <a:pPr marL="0" indent="0">
              <a:buNone/>
            </a:pPr>
            <a:r>
              <a:rPr lang="en-US" sz="1050" b="1" dirty="0">
                <a:solidFill>
                  <a:schemeClr val="tx1"/>
                </a:solidFill>
              </a:rPr>
              <a:t>Features</a:t>
            </a:r>
            <a:endParaRPr lang="en-US" sz="1050" dirty="0"/>
          </a:p>
        </p:txBody>
      </p:sp>
      <p:sp>
        <p:nvSpPr>
          <p:cNvPr id="20" name="text 65"/>
          <p:cNvSpPr txBox="1"/>
          <p:nvPr/>
        </p:nvSpPr>
        <p:spPr>
          <a:xfrm>
            <a:off x="2956560" y="2359152"/>
            <a:ext cx="859536" cy="640080"/>
          </a:xfrm>
          <a:prstGeom prst="rect">
            <a:avLst/>
          </a:prstGeom>
          <a:noFill/>
          <a:ln/>
        </p:spPr>
        <p:txBody>
          <a:bodyPr wrap="square" lIns="0" tIns="0" rIns="0" bIns="0" rtlCol="0" anchor="t"/>
          <a:lstStyle/>
          <a:p>
            <a:pPr marL="0" indent="0">
              <a:buNone/>
            </a:pPr>
            <a:r>
              <a:rPr lang="en-US" sz="1000" dirty="0">
                <a:solidFill>
                  <a:schemeClr val="tx1"/>
                </a:solidFill>
              </a:rPr>
              <a:t>22, all from before the job loss</a:t>
            </a:r>
            <a:endParaRPr lang="en-US" sz="1000" dirty="0"/>
          </a:p>
        </p:txBody>
      </p:sp>
      <p:sp>
        <p:nvSpPr>
          <p:cNvPr id="21" name="text 66"/>
          <p:cNvSpPr txBox="1"/>
          <p:nvPr/>
        </p:nvSpPr>
        <p:spPr>
          <a:xfrm>
            <a:off x="3870960" y="2075688"/>
            <a:ext cx="198120" cy="365760"/>
          </a:xfrm>
          <a:prstGeom prst="rect">
            <a:avLst/>
          </a:prstGeom>
          <a:noFill/>
          <a:ln/>
        </p:spPr>
        <p:txBody>
          <a:bodyPr wrap="square" lIns="0" tIns="0" rIns="0" bIns="0" rtlCol="0" anchor="ctr"/>
          <a:lstStyle/>
          <a:p>
            <a:pPr marL="0" indent="0" algn="ctr">
              <a:buNone/>
            </a:pPr>
            <a:r>
              <a:rPr lang="en-US" sz="1800" b="1" dirty="0">
                <a:solidFill>
                  <a:schemeClr val="accent1"/>
                </a:solidFill>
              </a:rPr>
              <a:t>›</a:t>
            </a:r>
            <a:endParaRPr lang="en-US" sz="1800" dirty="0"/>
          </a:p>
        </p:txBody>
      </p:sp>
      <p:sp>
        <p:nvSpPr>
          <p:cNvPr id="22" name="step 4"/>
          <p:cNvSpPr/>
          <p:nvPr/>
        </p:nvSpPr>
        <p:spPr>
          <a:xfrm>
            <a:off x="4069080" y="1572768"/>
            <a:ext cx="1005840" cy="1463040"/>
          </a:xfrm>
          <a:prstGeom prst="rect">
            <a:avLst/>
          </a:prstGeom>
          <a:solidFill>
            <a:schemeClr val="accent1"/>
          </a:solidFill>
          <a:ln/>
        </p:spPr>
        <p:txBody>
          <a:bodyPr/>
          <a:lstStyle/>
          <a:p>
            <a:endParaRPr lang="en-US"/>
          </a:p>
        </p:txBody>
      </p:sp>
      <p:sp>
        <p:nvSpPr>
          <p:cNvPr id="23" name="text 67"/>
          <p:cNvSpPr txBox="1"/>
          <p:nvPr/>
        </p:nvSpPr>
        <p:spPr>
          <a:xfrm>
            <a:off x="4160520" y="1645920"/>
            <a:ext cx="365760" cy="310896"/>
          </a:xfrm>
          <a:prstGeom prst="rect">
            <a:avLst/>
          </a:prstGeom>
          <a:noFill/>
          <a:ln/>
        </p:spPr>
        <p:txBody>
          <a:bodyPr wrap="square" lIns="0" tIns="0" rIns="0" bIns="0" rtlCol="0" anchor="ctr"/>
          <a:lstStyle/>
          <a:p>
            <a:pPr marL="0" indent="0">
              <a:buNone/>
            </a:pPr>
            <a:r>
              <a:rPr lang="en-US" sz="1800" b="1" dirty="0">
                <a:solidFill>
                  <a:schemeClr val="accent2"/>
                </a:solidFill>
                <a:latin typeface="Arial" pitchFamily="34" charset="0"/>
                <a:ea typeface="Arial" pitchFamily="34" charset="-122"/>
                <a:cs typeface="Arial" pitchFamily="34" charset="-120"/>
              </a:rPr>
              <a:t>4</a:t>
            </a:r>
            <a:endParaRPr lang="en-US" sz="1800" dirty="0"/>
          </a:p>
        </p:txBody>
      </p:sp>
      <p:sp>
        <p:nvSpPr>
          <p:cNvPr id="24" name="text 68"/>
          <p:cNvSpPr txBox="1"/>
          <p:nvPr/>
        </p:nvSpPr>
        <p:spPr>
          <a:xfrm>
            <a:off x="4160520" y="1975104"/>
            <a:ext cx="877824" cy="365760"/>
          </a:xfrm>
          <a:prstGeom prst="rect">
            <a:avLst/>
          </a:prstGeom>
          <a:noFill/>
          <a:ln/>
        </p:spPr>
        <p:txBody>
          <a:bodyPr wrap="square" lIns="0" tIns="0" rIns="0" bIns="0" rtlCol="0" anchor="ctr"/>
          <a:lstStyle/>
          <a:p>
            <a:pPr marL="0" indent="0">
              <a:buNone/>
            </a:pPr>
            <a:r>
              <a:rPr lang="en-US" sz="1050" b="1" dirty="0">
                <a:solidFill>
                  <a:schemeClr val="bg1"/>
                </a:solidFill>
              </a:rPr>
              <a:t>Split by person</a:t>
            </a:r>
            <a:endParaRPr lang="en-US" sz="1050" dirty="0"/>
          </a:p>
        </p:txBody>
      </p:sp>
      <p:sp>
        <p:nvSpPr>
          <p:cNvPr id="25" name="text 69"/>
          <p:cNvSpPr txBox="1"/>
          <p:nvPr/>
        </p:nvSpPr>
        <p:spPr>
          <a:xfrm>
            <a:off x="4160520" y="2359152"/>
            <a:ext cx="859536" cy="640080"/>
          </a:xfrm>
          <a:prstGeom prst="rect">
            <a:avLst/>
          </a:prstGeom>
          <a:noFill/>
          <a:ln/>
        </p:spPr>
        <p:txBody>
          <a:bodyPr wrap="square" lIns="0" tIns="0" rIns="0" bIns="0" rtlCol="0" anchor="t"/>
          <a:lstStyle/>
          <a:p>
            <a:pPr marL="0" indent="0">
              <a:buNone/>
            </a:pPr>
            <a:r>
              <a:rPr lang="en-US" sz="1000" dirty="0">
                <a:solidFill>
                  <a:schemeClr val="bg1"/>
                </a:solidFill>
              </a:rPr>
              <a:t>1,614 train, 405 test</a:t>
            </a:r>
            <a:endParaRPr lang="en-US" sz="1000" dirty="0"/>
          </a:p>
        </p:txBody>
      </p:sp>
      <p:sp>
        <p:nvSpPr>
          <p:cNvPr id="26" name="text 70"/>
          <p:cNvSpPr txBox="1"/>
          <p:nvPr/>
        </p:nvSpPr>
        <p:spPr>
          <a:xfrm>
            <a:off x="5074920" y="2075688"/>
            <a:ext cx="198120" cy="365760"/>
          </a:xfrm>
          <a:prstGeom prst="rect">
            <a:avLst/>
          </a:prstGeom>
          <a:noFill/>
          <a:ln/>
        </p:spPr>
        <p:txBody>
          <a:bodyPr wrap="square" lIns="0" tIns="0" rIns="0" bIns="0" rtlCol="0" anchor="ctr"/>
          <a:lstStyle/>
          <a:p>
            <a:pPr marL="0" indent="0" algn="ctr">
              <a:buNone/>
            </a:pPr>
            <a:r>
              <a:rPr lang="en-US" sz="1800" b="1" dirty="0">
                <a:solidFill>
                  <a:schemeClr val="accent1"/>
                </a:solidFill>
              </a:rPr>
              <a:t>›</a:t>
            </a:r>
            <a:endParaRPr lang="en-US" sz="1800" dirty="0"/>
          </a:p>
        </p:txBody>
      </p:sp>
      <p:sp>
        <p:nvSpPr>
          <p:cNvPr id="27" name="step 5"/>
          <p:cNvSpPr/>
          <p:nvPr/>
        </p:nvSpPr>
        <p:spPr>
          <a:xfrm>
            <a:off x="5273040" y="1572768"/>
            <a:ext cx="1005840" cy="1463040"/>
          </a:xfrm>
          <a:prstGeom prst="rect">
            <a:avLst/>
          </a:prstGeom>
          <a:solidFill>
            <a:schemeClr val="accent1"/>
          </a:solidFill>
          <a:ln/>
        </p:spPr>
        <p:txBody>
          <a:bodyPr/>
          <a:lstStyle/>
          <a:p>
            <a:endParaRPr lang="en-US"/>
          </a:p>
        </p:txBody>
      </p:sp>
      <p:sp>
        <p:nvSpPr>
          <p:cNvPr id="28" name="text 71"/>
          <p:cNvSpPr txBox="1"/>
          <p:nvPr/>
        </p:nvSpPr>
        <p:spPr>
          <a:xfrm>
            <a:off x="5364480" y="1645920"/>
            <a:ext cx="365760" cy="310896"/>
          </a:xfrm>
          <a:prstGeom prst="rect">
            <a:avLst/>
          </a:prstGeom>
          <a:noFill/>
          <a:ln/>
        </p:spPr>
        <p:txBody>
          <a:bodyPr wrap="square" lIns="0" tIns="0" rIns="0" bIns="0" rtlCol="0" anchor="ctr"/>
          <a:lstStyle/>
          <a:p>
            <a:pPr marL="0" indent="0">
              <a:buNone/>
            </a:pPr>
            <a:r>
              <a:rPr lang="en-US" sz="1800" b="1" dirty="0">
                <a:solidFill>
                  <a:schemeClr val="accent2"/>
                </a:solidFill>
                <a:latin typeface="Arial" pitchFamily="34" charset="0"/>
                <a:ea typeface="Arial" pitchFamily="34" charset="-122"/>
                <a:cs typeface="Arial" pitchFamily="34" charset="-120"/>
              </a:rPr>
              <a:t>5</a:t>
            </a:r>
            <a:endParaRPr lang="en-US" sz="1800" dirty="0"/>
          </a:p>
        </p:txBody>
      </p:sp>
      <p:sp>
        <p:nvSpPr>
          <p:cNvPr id="29" name="text 72"/>
          <p:cNvSpPr txBox="1"/>
          <p:nvPr/>
        </p:nvSpPr>
        <p:spPr>
          <a:xfrm>
            <a:off x="5364480" y="1975104"/>
            <a:ext cx="877824" cy="365760"/>
          </a:xfrm>
          <a:prstGeom prst="rect">
            <a:avLst/>
          </a:prstGeom>
          <a:noFill/>
          <a:ln/>
        </p:spPr>
        <p:txBody>
          <a:bodyPr wrap="square" lIns="0" tIns="0" rIns="0" bIns="0" rtlCol="0" anchor="ctr"/>
          <a:lstStyle/>
          <a:p>
            <a:pPr marL="0" indent="0">
              <a:buNone/>
            </a:pPr>
            <a:r>
              <a:rPr lang="en-US" sz="1050" b="1" dirty="0">
                <a:solidFill>
                  <a:schemeClr val="bg1"/>
                </a:solidFill>
              </a:rPr>
              <a:t>Pipeline</a:t>
            </a:r>
            <a:endParaRPr lang="en-US" sz="1050" dirty="0"/>
          </a:p>
        </p:txBody>
      </p:sp>
      <p:sp>
        <p:nvSpPr>
          <p:cNvPr id="30" name="text 73"/>
          <p:cNvSpPr txBox="1"/>
          <p:nvPr/>
        </p:nvSpPr>
        <p:spPr>
          <a:xfrm>
            <a:off x="5364480" y="2359152"/>
            <a:ext cx="859536" cy="640080"/>
          </a:xfrm>
          <a:prstGeom prst="rect">
            <a:avLst/>
          </a:prstGeom>
          <a:noFill/>
          <a:ln/>
        </p:spPr>
        <p:txBody>
          <a:bodyPr wrap="square" lIns="0" tIns="0" rIns="0" bIns="0" rtlCol="0" anchor="t"/>
          <a:lstStyle/>
          <a:p>
            <a:pPr marL="0" indent="0">
              <a:buNone/>
            </a:pPr>
            <a:r>
              <a:rPr lang="en-US" sz="1000" dirty="0">
                <a:solidFill>
                  <a:schemeClr val="bg1"/>
                </a:solidFill>
              </a:rPr>
              <a:t>impute, scale, one-hot</a:t>
            </a:r>
            <a:endParaRPr lang="en-US" sz="1000" dirty="0"/>
          </a:p>
        </p:txBody>
      </p:sp>
      <p:sp>
        <p:nvSpPr>
          <p:cNvPr id="31" name="text 74"/>
          <p:cNvSpPr txBox="1"/>
          <p:nvPr/>
        </p:nvSpPr>
        <p:spPr>
          <a:xfrm>
            <a:off x="6278880" y="2075688"/>
            <a:ext cx="198120" cy="365760"/>
          </a:xfrm>
          <a:prstGeom prst="rect">
            <a:avLst/>
          </a:prstGeom>
          <a:noFill/>
          <a:ln/>
        </p:spPr>
        <p:txBody>
          <a:bodyPr wrap="square" lIns="0" tIns="0" rIns="0" bIns="0" rtlCol="0" anchor="ctr"/>
          <a:lstStyle/>
          <a:p>
            <a:pPr marL="0" indent="0" algn="ctr">
              <a:buNone/>
            </a:pPr>
            <a:r>
              <a:rPr lang="en-US" sz="1800" b="1" dirty="0">
                <a:solidFill>
                  <a:schemeClr val="accent1"/>
                </a:solidFill>
              </a:rPr>
              <a:t>›</a:t>
            </a:r>
            <a:endParaRPr lang="en-US" sz="1800" dirty="0"/>
          </a:p>
        </p:txBody>
      </p:sp>
      <p:sp>
        <p:nvSpPr>
          <p:cNvPr id="32" name="step 6"/>
          <p:cNvSpPr/>
          <p:nvPr/>
        </p:nvSpPr>
        <p:spPr>
          <a:xfrm>
            <a:off x="6477000" y="1572768"/>
            <a:ext cx="1005840" cy="1463040"/>
          </a:xfrm>
          <a:prstGeom prst="rect">
            <a:avLst/>
          </a:prstGeom>
          <a:solidFill>
            <a:schemeClr val="accent1"/>
          </a:solidFill>
          <a:ln/>
        </p:spPr>
        <p:txBody>
          <a:bodyPr/>
          <a:lstStyle/>
          <a:p>
            <a:endParaRPr lang="en-US"/>
          </a:p>
        </p:txBody>
      </p:sp>
      <p:sp>
        <p:nvSpPr>
          <p:cNvPr id="33" name="text 75"/>
          <p:cNvSpPr txBox="1"/>
          <p:nvPr/>
        </p:nvSpPr>
        <p:spPr>
          <a:xfrm>
            <a:off x="6568440" y="1645920"/>
            <a:ext cx="365760" cy="310896"/>
          </a:xfrm>
          <a:prstGeom prst="rect">
            <a:avLst/>
          </a:prstGeom>
          <a:noFill/>
          <a:ln/>
        </p:spPr>
        <p:txBody>
          <a:bodyPr wrap="square" lIns="0" tIns="0" rIns="0" bIns="0" rtlCol="0" anchor="ctr"/>
          <a:lstStyle/>
          <a:p>
            <a:pPr marL="0" indent="0">
              <a:buNone/>
            </a:pPr>
            <a:r>
              <a:rPr lang="en-US" sz="1800" b="1" dirty="0">
                <a:solidFill>
                  <a:schemeClr val="accent2"/>
                </a:solidFill>
                <a:latin typeface="Arial" pitchFamily="34" charset="0"/>
                <a:ea typeface="Arial" pitchFamily="34" charset="-122"/>
                <a:cs typeface="Arial" pitchFamily="34" charset="-120"/>
              </a:rPr>
              <a:t>6</a:t>
            </a:r>
            <a:endParaRPr lang="en-US" sz="1800" dirty="0"/>
          </a:p>
        </p:txBody>
      </p:sp>
      <p:sp>
        <p:nvSpPr>
          <p:cNvPr id="34" name="text 76"/>
          <p:cNvSpPr txBox="1"/>
          <p:nvPr/>
        </p:nvSpPr>
        <p:spPr>
          <a:xfrm>
            <a:off x="6568440" y="1975104"/>
            <a:ext cx="877824" cy="365760"/>
          </a:xfrm>
          <a:prstGeom prst="rect">
            <a:avLst/>
          </a:prstGeom>
          <a:noFill/>
          <a:ln/>
        </p:spPr>
        <p:txBody>
          <a:bodyPr wrap="square" lIns="0" tIns="0" rIns="0" bIns="0" rtlCol="0" anchor="ctr"/>
          <a:lstStyle/>
          <a:p>
            <a:pPr marL="0" indent="0">
              <a:buNone/>
            </a:pPr>
            <a:r>
              <a:rPr lang="en-US" sz="1050" b="1" dirty="0">
                <a:solidFill>
                  <a:schemeClr val="bg1"/>
                </a:solidFill>
              </a:rPr>
              <a:t>GridSearchCV</a:t>
            </a:r>
            <a:endParaRPr lang="en-US" sz="1050" dirty="0"/>
          </a:p>
        </p:txBody>
      </p:sp>
      <p:sp>
        <p:nvSpPr>
          <p:cNvPr id="35" name="text 77"/>
          <p:cNvSpPr txBox="1"/>
          <p:nvPr/>
        </p:nvSpPr>
        <p:spPr>
          <a:xfrm>
            <a:off x="6568440" y="2359152"/>
            <a:ext cx="859536" cy="640080"/>
          </a:xfrm>
          <a:prstGeom prst="rect">
            <a:avLst/>
          </a:prstGeom>
          <a:noFill/>
          <a:ln/>
        </p:spPr>
        <p:txBody>
          <a:bodyPr wrap="square" lIns="0" tIns="0" rIns="0" bIns="0" rtlCol="0" anchor="t"/>
          <a:lstStyle/>
          <a:p>
            <a:pPr marL="0" indent="0">
              <a:buNone/>
            </a:pPr>
            <a:r>
              <a:rPr lang="en-US" sz="1000" dirty="0">
                <a:solidFill>
                  <a:schemeClr val="bg1"/>
                </a:solidFill>
              </a:rPr>
              <a:t>same 5 folds: KNN, logistic regression, random forest</a:t>
            </a:r>
            <a:endParaRPr lang="en-US" sz="1000" dirty="0"/>
          </a:p>
        </p:txBody>
      </p:sp>
      <p:sp>
        <p:nvSpPr>
          <p:cNvPr id="36" name="text 78"/>
          <p:cNvSpPr txBox="1"/>
          <p:nvPr/>
        </p:nvSpPr>
        <p:spPr>
          <a:xfrm>
            <a:off x="7482840" y="2075688"/>
            <a:ext cx="198120" cy="365760"/>
          </a:xfrm>
          <a:prstGeom prst="rect">
            <a:avLst/>
          </a:prstGeom>
          <a:noFill/>
          <a:ln/>
        </p:spPr>
        <p:txBody>
          <a:bodyPr wrap="square" lIns="0" tIns="0" rIns="0" bIns="0" rtlCol="0" anchor="ctr"/>
          <a:lstStyle/>
          <a:p>
            <a:pPr marL="0" indent="0" algn="ctr">
              <a:buNone/>
            </a:pPr>
            <a:r>
              <a:rPr lang="en-US" sz="1800" b="1" dirty="0">
                <a:solidFill>
                  <a:schemeClr val="accent1"/>
                </a:solidFill>
              </a:rPr>
              <a:t>›</a:t>
            </a:r>
            <a:endParaRPr lang="en-US" sz="1800" dirty="0"/>
          </a:p>
        </p:txBody>
      </p:sp>
      <p:sp>
        <p:nvSpPr>
          <p:cNvPr id="37" name="step 7"/>
          <p:cNvSpPr/>
          <p:nvPr/>
        </p:nvSpPr>
        <p:spPr>
          <a:xfrm>
            <a:off x="7680960" y="1572768"/>
            <a:ext cx="1005840" cy="1463040"/>
          </a:xfrm>
          <a:prstGeom prst="rect">
            <a:avLst/>
          </a:prstGeom>
          <a:solidFill>
            <a:schemeClr val="accent1"/>
          </a:solidFill>
          <a:ln/>
        </p:spPr>
        <p:txBody>
          <a:bodyPr/>
          <a:lstStyle/>
          <a:p>
            <a:endParaRPr lang="en-US"/>
          </a:p>
        </p:txBody>
      </p:sp>
      <p:sp>
        <p:nvSpPr>
          <p:cNvPr id="38" name="text 79"/>
          <p:cNvSpPr txBox="1"/>
          <p:nvPr/>
        </p:nvSpPr>
        <p:spPr>
          <a:xfrm>
            <a:off x="7772400" y="1645920"/>
            <a:ext cx="365760" cy="310896"/>
          </a:xfrm>
          <a:prstGeom prst="rect">
            <a:avLst/>
          </a:prstGeom>
          <a:noFill/>
          <a:ln/>
        </p:spPr>
        <p:txBody>
          <a:bodyPr wrap="square" lIns="0" tIns="0" rIns="0" bIns="0" rtlCol="0" anchor="ctr"/>
          <a:lstStyle/>
          <a:p>
            <a:pPr marL="0" indent="0">
              <a:buNone/>
            </a:pPr>
            <a:r>
              <a:rPr lang="en-US" sz="1800" b="1" dirty="0">
                <a:solidFill>
                  <a:schemeClr val="accent2"/>
                </a:solidFill>
                <a:latin typeface="Arial" pitchFamily="34" charset="0"/>
                <a:ea typeface="Arial" pitchFamily="34" charset="-122"/>
                <a:cs typeface="Arial" pitchFamily="34" charset="-120"/>
              </a:rPr>
              <a:t>7</a:t>
            </a:r>
            <a:endParaRPr lang="en-US" sz="1800" dirty="0"/>
          </a:p>
        </p:txBody>
      </p:sp>
      <p:sp>
        <p:nvSpPr>
          <p:cNvPr id="39" name="text 80"/>
          <p:cNvSpPr txBox="1"/>
          <p:nvPr/>
        </p:nvSpPr>
        <p:spPr>
          <a:xfrm>
            <a:off x="7772400" y="1975104"/>
            <a:ext cx="877824" cy="365760"/>
          </a:xfrm>
          <a:prstGeom prst="rect">
            <a:avLst/>
          </a:prstGeom>
          <a:noFill/>
          <a:ln/>
        </p:spPr>
        <p:txBody>
          <a:bodyPr wrap="square" lIns="0" tIns="0" rIns="0" bIns="0" rtlCol="0" anchor="ctr"/>
          <a:lstStyle/>
          <a:p>
            <a:pPr marL="0" indent="0">
              <a:buNone/>
            </a:pPr>
            <a:r>
              <a:rPr lang="en-US" sz="1050" b="1" dirty="0">
                <a:solidFill>
                  <a:schemeClr val="bg1"/>
                </a:solidFill>
              </a:rPr>
              <a:t>Test once</a:t>
            </a:r>
            <a:endParaRPr lang="en-US" sz="1050" dirty="0"/>
          </a:p>
        </p:txBody>
      </p:sp>
      <p:sp>
        <p:nvSpPr>
          <p:cNvPr id="40" name="text 81"/>
          <p:cNvSpPr txBox="1"/>
          <p:nvPr/>
        </p:nvSpPr>
        <p:spPr>
          <a:xfrm>
            <a:off x="7772400" y="2359152"/>
            <a:ext cx="859536" cy="640080"/>
          </a:xfrm>
          <a:prstGeom prst="rect">
            <a:avLst/>
          </a:prstGeom>
          <a:noFill/>
          <a:ln/>
        </p:spPr>
        <p:txBody>
          <a:bodyPr wrap="square" lIns="0" tIns="0" rIns="0" bIns="0" rtlCol="0" anchor="t"/>
          <a:lstStyle/>
          <a:p>
            <a:pPr marL="0" indent="0">
              <a:buNone/>
            </a:pPr>
            <a:r>
              <a:rPr lang="en-US" sz="1000" dirty="0">
                <a:solidFill>
                  <a:schemeClr val="bg1"/>
                </a:solidFill>
              </a:rPr>
              <a:t>and check per group</a:t>
            </a:r>
            <a:endParaRPr lang="en-US" sz="1000" dirty="0"/>
          </a:p>
        </p:txBody>
      </p:sp>
      <p:sp>
        <p:nvSpPr>
          <p:cNvPr id="41" name="card 82"/>
          <p:cNvSpPr/>
          <p:nvPr/>
        </p:nvSpPr>
        <p:spPr>
          <a:xfrm>
            <a:off x="457200" y="3337560"/>
            <a:ext cx="4023360" cy="731520"/>
          </a:xfrm>
          <a:prstGeom prst="rect">
            <a:avLst/>
          </a:prstGeom>
          <a:solidFill>
            <a:schemeClr val="accent2">
              <a:alpha val="30000"/>
            </a:schemeClr>
          </a:solidFill>
          <a:ln/>
        </p:spPr>
        <p:txBody>
          <a:bodyPr/>
          <a:lstStyle/>
          <a:p>
            <a:endParaRPr lang="en-US"/>
          </a:p>
        </p:txBody>
      </p:sp>
      <p:sp>
        <p:nvSpPr>
          <p:cNvPr id="42" name="card 83"/>
          <p:cNvSpPr/>
          <p:nvPr/>
        </p:nvSpPr>
        <p:spPr>
          <a:xfrm>
            <a:off x="4663440" y="3337560"/>
            <a:ext cx="4023360" cy="731520"/>
          </a:xfrm>
          <a:prstGeom prst="rect">
            <a:avLst/>
          </a:prstGeom>
          <a:solidFill>
            <a:schemeClr val="accent2">
              <a:alpha val="30000"/>
            </a:schemeClr>
          </a:solidFill>
          <a:ln/>
        </p:spPr>
        <p:txBody>
          <a:bodyPr/>
          <a:lstStyle/>
          <a:p>
            <a:endParaRPr lang="en-US"/>
          </a:p>
        </p:txBody>
      </p:sp>
      <p:sp>
        <p:nvSpPr>
          <p:cNvPr id="43" name="text 84"/>
          <p:cNvSpPr txBox="1"/>
          <p:nvPr/>
        </p:nvSpPr>
        <p:spPr>
          <a:xfrm>
            <a:off x="603504" y="3337560"/>
            <a:ext cx="3749040" cy="731520"/>
          </a:xfrm>
          <a:prstGeom prst="rect">
            <a:avLst/>
          </a:prstGeom>
          <a:noFill/>
          <a:ln/>
        </p:spPr>
        <p:txBody>
          <a:bodyPr wrap="square" lIns="0" tIns="0" rIns="0" bIns="0" rtlCol="0" anchor="ctr"/>
          <a:lstStyle/>
          <a:p>
            <a:pPr marL="0" indent="0">
              <a:buNone/>
            </a:pPr>
            <a:r>
              <a:rPr lang="en-US" sz="1000" b="1" dirty="0">
                <a:solidFill>
                  <a:schemeClr val="accent1"/>
                </a:solidFill>
                <a:latin typeface="Arial" pitchFamily="34" charset="0"/>
                <a:ea typeface="Arial" pitchFamily="34" charset="-122"/>
                <a:cs typeface="Arial" pitchFamily="34" charset="-120"/>
              </a:rPr>
              <a:t>INPUT  </a:t>
            </a:r>
            <a:r>
              <a:rPr lang="en-US" sz="1150" dirty="0">
                <a:solidFill>
                  <a:schemeClr val="tx1"/>
                </a:solidFill>
              </a:rPr>
              <a:t>What is known about one job seeker at intake: age, education, household, the job they lost, health.</a:t>
            </a:r>
            <a:endParaRPr lang="en-US" sz="1150" dirty="0"/>
          </a:p>
        </p:txBody>
      </p:sp>
      <p:sp>
        <p:nvSpPr>
          <p:cNvPr id="44" name="text 85"/>
          <p:cNvSpPr txBox="1"/>
          <p:nvPr/>
        </p:nvSpPr>
        <p:spPr>
          <a:xfrm>
            <a:off x="4809744" y="3337560"/>
            <a:ext cx="3749040" cy="731520"/>
          </a:xfrm>
          <a:prstGeom prst="rect">
            <a:avLst/>
          </a:prstGeom>
          <a:noFill/>
          <a:ln/>
        </p:spPr>
        <p:txBody>
          <a:bodyPr wrap="square" lIns="0" tIns="0" rIns="0" bIns="0" rtlCol="0" anchor="ctr"/>
          <a:lstStyle/>
          <a:p>
            <a:pPr marL="0" indent="0">
              <a:buNone/>
            </a:pPr>
            <a:r>
              <a:rPr lang="en-US" sz="1000" b="1" dirty="0">
                <a:solidFill>
                  <a:schemeClr val="accent1"/>
                </a:solidFill>
                <a:latin typeface="Arial" pitchFamily="34" charset="0"/>
                <a:ea typeface="Arial" pitchFamily="34" charset="-122"/>
                <a:cs typeface="Arial" pitchFamily="34" charset="-120"/>
              </a:rPr>
              <a:t>OUTPUT  </a:t>
            </a:r>
            <a:r>
              <a:rPr lang="en-US" sz="1150" dirty="0">
                <a:solidFill>
                  <a:schemeClr val="tx1"/>
                </a:solidFill>
              </a:rPr>
              <a:t>The probability of still being without work after 12 months, and an advice: invite early or start </a:t>
            </a:r>
            <a:r>
              <a:rPr lang="en-US" sz="1150">
                <a:solidFill>
                  <a:schemeClr val="tx1"/>
                </a:solidFill>
              </a:rPr>
              <a:t>online. High means high risk, the reverse of UWV's score.</a:t>
            </a:r>
            <a:endParaRPr lang="en-US" sz="1150" dirty="0"/>
          </a:p>
        </p:txBody>
      </p:sp>
      <p:sp>
        <p:nvSpPr>
          <p:cNvPr id="45" name="text 86"/>
          <p:cNvSpPr txBox="1"/>
          <p:nvPr/>
        </p:nvSpPr>
        <p:spPr>
          <a:xfrm>
            <a:off x="457200" y="4187952"/>
            <a:ext cx="8229600" cy="274320"/>
          </a:xfrm>
          <a:prstGeom prst="rect">
            <a:avLst/>
          </a:prstGeom>
          <a:noFill/>
          <a:ln/>
        </p:spPr>
        <p:txBody>
          <a:bodyPr wrap="square" lIns="0" tIns="0" rIns="0" bIns="0" rtlCol="0" anchor="ctr"/>
          <a:lstStyle/>
          <a:p>
            <a:pPr marL="0" indent="0">
              <a:buNone/>
            </a:pPr>
            <a:r>
              <a:rPr lang="en-US" sz="1050" b="1" dirty="0">
                <a:solidFill>
                  <a:schemeClr val="accent1"/>
                </a:solidFill>
              </a:rPr>
              <a:t>StratifiedGroupKFold · Pipeline + ColumnTransformer · GridSearchCV · DummyClassifier · cross_val_predict · sklearn.metrics</a:t>
            </a:r>
            <a:endParaRPr lang="en-US" sz="1050" dirty="0"/>
          </a:p>
        </p:txBody>
      </p:sp>
      <p:sp>
        <p:nvSpPr>
          <p:cNvPr id="46" name="Slide Number Placeholder 0"/>
          <p:cNvSpPr>
            <a:spLocks noGrp="1"/>
          </p:cNvSpPr>
          <p:nvPr>
            <p:ph type="sldNum" sz="quarter" idx="4294967295"/>
          </p:nvPr>
        </p:nvSpPr>
        <p:spPr>
          <a:xfrm>
            <a:off x="8138160" y="4663440"/>
            <a:ext cx="548640" cy="292608"/>
          </a:xfrm>
          <a:prstGeom prst="rect">
            <a:avLst/>
          </a:prstGeom>
          <a:extLst>
            <a:ext uri="{C572A759-6A51-4108-AA02-DFA0A04FC94B}">
              <ma14:wrappingTextBoxFlag xmlns="" xmlns:ma14="http://schemas.microsoft.com/office/mac/drawingml/2011/main" val="0"/>
            </a:ext>
          </a:extLst>
        </p:spPr>
        <p:txBody>
          <a:bodyPr/>
          <a:lstStyle>
            <a:lvl1pPr>
              <a:defRPr sz="900">
                <a:solidFill>
                  <a:srgbClr val="595959"/>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74320"/>
            <a:ext cx="8229600" cy="219456"/>
          </a:xfrm>
          <a:prstGeom prst="rect">
            <a:avLst/>
          </a:prstGeom>
          <a:noFill/>
          <a:ln/>
        </p:spPr>
        <p:txBody>
          <a:bodyPr wrap="square" lIns="0" tIns="0" rIns="0" bIns="0" rtlCol="0" anchor="ctr"/>
          <a:lstStyle/>
          <a:p>
            <a:pPr marL="0" indent="0" algn="l">
              <a:buNone/>
            </a:pPr>
            <a:r>
              <a:rPr lang="en-US" sz="1000" b="1" kern="0" spc="150" dirty="0">
                <a:solidFill>
                  <a:schemeClr val="accent1"/>
                </a:solidFill>
                <a:latin typeface="Arial" pitchFamily="34" charset="0"/>
                <a:ea typeface="Arial" pitchFamily="34" charset="-122"/>
                <a:cs typeface="Arial" pitchFamily="34" charset="-120"/>
              </a:rPr>
              <a:t>RUBRIC 3 · SOLUTION DESCRIPTION     RUBRIC 5 · WORKING PROTOTYPE</a:t>
            </a:r>
            <a:endParaRPr lang="en-US" sz="1000" dirty="0"/>
          </a:p>
        </p:txBody>
      </p:sp>
      <p:sp>
        <p:nvSpPr>
          <p:cNvPr id="3" name="Text 0"/>
          <p:cNvSpPr>
            <a:spLocks noGrp="1"/>
          </p:cNvSpPr>
          <p:nvPr>
            <p:ph type="title" idx="101" hasCustomPrompt="1"/>
          </p:nvPr>
        </p:nvSpPr>
        <p:spPr>
          <a:xfrm>
            <a:off x="457200" y="512064"/>
            <a:ext cx="8229600" cy="548640"/>
          </a:xfrm>
          <a:prstGeom prst="rect">
            <a:avLst/>
          </a:prstGeom>
          <a:noFill/>
          <a:ln/>
        </p:spPr>
        <p:txBody>
          <a:bodyPr wrap="square" lIns="0" tIns="0" rIns="0" bIns="0" rtlCol="0" anchor="ctr"/>
          <a:lstStyle/>
          <a:p>
            <a:pPr marL="0" indent="0" algn="l">
              <a:buNone/>
            </a:pPr>
            <a:r>
              <a:rPr lang="en-US" sz="2400" b="1" dirty="0">
                <a:solidFill>
                  <a:schemeClr val="tx1"/>
                </a:solidFill>
              </a:rPr>
              <a:t>The best model barely beats one question about age</a:t>
            </a:r>
            <a:endParaRPr lang="en-US" sz="2400" dirty="0"/>
          </a:p>
        </p:txBody>
      </p:sp>
      <p:sp>
        <p:nvSpPr>
          <p:cNvPr id="4" name="Text 0"/>
          <p:cNvSpPr>
            <a:spLocks noGrp="1"/>
          </p:cNvSpPr>
          <p:nvPr>
            <p:ph type="body" idx="102" hasCustomPrompt="1"/>
          </p:nvPr>
        </p:nvSpPr>
        <p:spPr>
          <a:xfrm>
            <a:off x="457200" y="4663440"/>
            <a:ext cx="7589520" cy="292608"/>
          </a:xfrm>
          <a:prstGeom prst="rect">
            <a:avLst/>
          </a:prstGeom>
          <a:noFill/>
          <a:ln/>
        </p:spPr>
        <p:txBody>
          <a:bodyPr wrap="square" lIns="0" tIns="0" rIns="0" bIns="0" rtlCol="0" anchor="ctr"/>
          <a:lstStyle/>
          <a:p>
            <a:pPr marL="0" indent="0" algn="l">
              <a:buNone/>
            </a:pPr>
            <a:r>
              <a:rPr lang="en-US" sz="900" dirty="0">
                <a:solidFill>
                  <a:schemeClr val="accent3"/>
                </a:solidFill>
              </a:rPr>
              <a:t>Source: our notebook, steps 5 to 7 · CV: the same 5 person-grouped folds on 1,614 training rows · test set: 405 job losses, scored once</a:t>
            </a:r>
            <a:endParaRPr lang="en-US" sz="900" dirty="0"/>
          </a:p>
        </p:txBody>
      </p:sp>
      <p:graphicFrame>
        <p:nvGraphicFramePr>
          <p:cNvPr id="6" name="comparison tabl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2743200"/>
        </p:xfrm>
        <a:graphic>
          <a:graphicData uri="http://schemas.openxmlformats.org/drawingml/2006/table">
            <a:tbl>
              <a:tblPr/>
              <a:tblGrid>
                <a:gridCol w="214884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594360">
                  <a:extLst>
                    <a:ext uri="{9D8B030D-6E8A-4147-A177-3AD203B41FA5}">
                      <a16:colId xmlns:a16="http://schemas.microsoft.com/office/drawing/2014/main" val="20004"/>
                    </a:ext>
                  </a:extLst>
                </a:gridCol>
                <a:gridCol w="548640">
                  <a:extLst>
                    <a:ext uri="{9D8B030D-6E8A-4147-A177-3AD203B41FA5}">
                      <a16:colId xmlns:a16="http://schemas.microsoft.com/office/drawing/2014/main" val="20005"/>
                    </a:ext>
                  </a:extLst>
                </a:gridCol>
                <a:gridCol w="868680">
                  <a:extLst>
                    <a:ext uri="{9D8B030D-6E8A-4147-A177-3AD203B41FA5}">
                      <a16:colId xmlns:a16="http://schemas.microsoft.com/office/drawing/2014/main" val="20006"/>
                    </a:ext>
                  </a:extLst>
                </a:gridCol>
              </a:tblGrid>
              <a:tr h="457200">
                <a:tc>
                  <a:txBody>
                    <a:bodyPr/>
                    <a:lstStyle/>
                    <a:p>
                      <a:pPr marL="0" indent="0" algn="l">
                        <a:buNone/>
                      </a:pPr>
                      <a:r>
                        <a:rPr lang="en-US" sz="950" b="1" dirty="0">
                          <a:solidFill>
                            <a:srgbClr val="1F4E79"/>
                          </a:solidFill>
                        </a:rPr>
                        <a:t>Model</a:t>
                      </a:r>
                      <a:endParaRPr lang="en-US" sz="950" dirty="0"/>
                    </a:p>
                  </a:txBody>
                  <a:tcPr marL="64008" marR="64008" marT="0" marB="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marL="0" indent="0" algn="l">
                        <a:buNone/>
                      </a:pPr>
                      <a:r>
                        <a:rPr lang="en-US" sz="950" b="1" dirty="0">
                          <a:solidFill>
                            <a:srgbClr val="1F4E79"/>
                          </a:solidFill>
                        </a:rPr>
                        <a:t>Best hyperparameters</a:t>
                      </a:r>
                      <a:endParaRPr lang="en-US" sz="950" dirty="0"/>
                    </a:p>
                  </a:txBody>
                  <a:tcPr marL="64008" marR="64008" marT="0" marB="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marL="0" indent="0" algn="ctr">
                        <a:buNone/>
                      </a:pPr>
                      <a:r>
                        <a:rPr lang="en-US" sz="950" b="1" dirty="0">
                          <a:solidFill>
                            <a:srgbClr val="1F4E79"/>
                          </a:solidFill>
                        </a:rPr>
                        <a:t>CV balanced accuracy (mean ± std)</a:t>
                      </a:r>
                      <a:endParaRPr lang="en-US" sz="950" dirty="0"/>
                    </a:p>
                  </a:txBody>
                  <a:tcPr marL="64008" marR="64008" marT="0" marB="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marL="0" indent="0" algn="ctr">
                        <a:buNone/>
                      </a:pPr>
                      <a:r>
                        <a:rPr lang="en-US" sz="950" b="1" dirty="0">
                          <a:solidFill>
                            <a:srgbClr val="1F4E79"/>
                          </a:solidFill>
                        </a:rPr>
                        <a:t>Test precision</a:t>
                      </a:r>
                      <a:endParaRPr lang="en-US" sz="950" dirty="0"/>
                    </a:p>
                  </a:txBody>
                  <a:tcPr marL="64008" marR="64008" marT="0" marB="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marL="0" indent="0" algn="ctr">
                        <a:buNone/>
                      </a:pPr>
                      <a:r>
                        <a:rPr lang="en-US" sz="950" b="1" dirty="0">
                          <a:solidFill>
                            <a:srgbClr val="1F4E79"/>
                          </a:solidFill>
                        </a:rPr>
                        <a:t>Test recall</a:t>
                      </a:r>
                      <a:endParaRPr lang="en-US" sz="950" dirty="0"/>
                    </a:p>
                  </a:txBody>
                  <a:tcPr marL="64008" marR="64008" marT="0" marB="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marL="0" indent="0" algn="ctr">
                        <a:buNone/>
                      </a:pPr>
                      <a:r>
                        <a:rPr lang="en-US" sz="950" b="1" dirty="0">
                          <a:solidFill>
                            <a:srgbClr val="1F4E79"/>
                          </a:solidFill>
                        </a:rPr>
                        <a:t>Test F1</a:t>
                      </a:r>
                      <a:endParaRPr lang="en-US" sz="950" dirty="0"/>
                    </a:p>
                  </a:txBody>
                  <a:tcPr marL="64008" marR="64008" marT="0" marB="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marL="0" indent="0" algn="ctr">
                        <a:buNone/>
                      </a:pPr>
                      <a:r>
                        <a:rPr lang="en-US" sz="950" b="1" dirty="0">
                          <a:solidFill>
                            <a:srgbClr val="1F4E79"/>
                          </a:solidFill>
                        </a:rPr>
                        <a:t>Test balanced accuracy</a:t>
                      </a:r>
                      <a:endParaRPr lang="en-US" sz="950" dirty="0"/>
                    </a:p>
                  </a:txBody>
                  <a:tcPr marL="64008" marR="64008" marT="0" marB="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extLst>
                  <a:ext uri="{0D108BD9-81ED-4DB2-BD59-A6C34878D82A}">
                    <a16:rowId xmlns:a16="http://schemas.microsoft.com/office/drawing/2014/main" val="10000"/>
                  </a:ext>
                </a:extLst>
              </a:tr>
              <a:tr h="365760">
                <a:tc>
                  <a:txBody>
                    <a:bodyPr/>
                    <a:lstStyle/>
                    <a:p>
                      <a:pPr marL="0" indent="0" algn="l">
                        <a:buNone/>
                      </a:pPr>
                      <a:r>
                        <a:rPr lang="en-US" sz="1100" dirty="0">
                          <a:solidFill>
                            <a:srgbClr val="000000"/>
                          </a:solidFill>
                        </a:rPr>
                        <a:t>Baseline: most frequent</a:t>
                      </a:r>
                      <a:endParaRPr lang="en-US" sz="1100" dirty="0"/>
                    </a:p>
                  </a:txBody>
                  <a:tcPr marL="64008" marR="64008" marT="0" marB="0" anchor="ctr">
                    <a:lnL w="0" cap="flat" cmpd="sng" algn="ctr">
                      <a:noFill/>
                    </a:lnL>
                    <a:lnR w="0" cap="flat" cmpd="sng" algn="ctr">
                      <a:noFill/>
                    </a:lnR>
                    <a:lnT w="19050" cap="flat" cmpd="sng" algn="ctr">
                      <a:solidFill>
                        <a:srgbClr val="1F4E79"/>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l">
                        <a:buNone/>
                      </a:pPr>
                      <a:r>
                        <a:rPr lang="en-US" sz="950" dirty="0">
                          <a:solidFill>
                            <a:srgbClr val="000000"/>
                          </a:solidFill>
                        </a:rPr>
                        <a:t>none</a:t>
                      </a:r>
                      <a:endParaRPr lang="en-US" sz="950" dirty="0"/>
                    </a:p>
                  </a:txBody>
                  <a:tcPr marL="64008" marR="64008" marT="0" marB="0" anchor="ctr">
                    <a:lnL w="0" cap="flat" cmpd="sng" algn="ctr">
                      <a:noFill/>
                    </a:lnL>
                    <a:lnR w="0" cap="flat" cmpd="sng" algn="ctr">
                      <a:noFill/>
                    </a:lnR>
                    <a:lnT w="19050" cap="flat" cmpd="sng" algn="ctr">
                      <a:solidFill>
                        <a:srgbClr val="1F4E79"/>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0.500 ± 0.000</a:t>
                      </a:r>
                      <a:endParaRPr lang="en-US" sz="1100" dirty="0"/>
                    </a:p>
                  </a:txBody>
                  <a:tcPr marL="64008" marR="64008" marT="0" marB="0" anchor="ctr">
                    <a:lnL w="0" cap="flat" cmpd="sng" algn="ctr">
                      <a:noFill/>
                    </a:lnL>
                    <a:lnR w="0" cap="flat" cmpd="sng" algn="ctr">
                      <a:noFill/>
                    </a:lnR>
                    <a:lnT w="19050" cap="flat" cmpd="sng" algn="ctr">
                      <a:solidFill>
                        <a:srgbClr val="1F4E79"/>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0.000</a:t>
                      </a:r>
                      <a:endParaRPr lang="en-US" sz="1100" dirty="0"/>
                    </a:p>
                  </a:txBody>
                  <a:tcPr marL="64008" marR="64008" marT="0" marB="0" anchor="ctr">
                    <a:lnL w="0" cap="flat" cmpd="sng" algn="ctr">
                      <a:noFill/>
                    </a:lnL>
                    <a:lnR w="0" cap="flat" cmpd="sng" algn="ctr">
                      <a:noFill/>
                    </a:lnR>
                    <a:lnT w="19050" cap="flat" cmpd="sng" algn="ctr">
                      <a:solidFill>
                        <a:srgbClr val="1F4E79"/>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0.000</a:t>
                      </a:r>
                      <a:endParaRPr lang="en-US" sz="1100" dirty="0"/>
                    </a:p>
                  </a:txBody>
                  <a:tcPr marL="64008" marR="64008" marT="0" marB="0" anchor="ctr">
                    <a:lnL w="0" cap="flat" cmpd="sng" algn="ctr">
                      <a:noFill/>
                    </a:lnL>
                    <a:lnR w="0" cap="flat" cmpd="sng" algn="ctr">
                      <a:noFill/>
                    </a:lnR>
                    <a:lnT w="19050" cap="flat" cmpd="sng" algn="ctr">
                      <a:solidFill>
                        <a:srgbClr val="1F4E79"/>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0.000</a:t>
                      </a:r>
                      <a:endParaRPr lang="en-US" sz="1100" dirty="0"/>
                    </a:p>
                  </a:txBody>
                  <a:tcPr marL="64008" marR="64008" marT="0" marB="0" anchor="ctr">
                    <a:lnL w="0" cap="flat" cmpd="sng" algn="ctr">
                      <a:noFill/>
                    </a:lnL>
                    <a:lnR w="0" cap="flat" cmpd="sng" algn="ctr">
                      <a:noFill/>
                    </a:lnR>
                    <a:lnT w="19050" cap="flat" cmpd="sng" algn="ctr">
                      <a:solidFill>
                        <a:srgbClr val="1F4E79"/>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0.500</a:t>
                      </a:r>
                      <a:endParaRPr lang="en-US" sz="1100" dirty="0"/>
                    </a:p>
                  </a:txBody>
                  <a:tcPr marL="64008" marR="64008" marT="0" marB="0" anchor="ctr">
                    <a:lnL w="0" cap="flat" cmpd="sng" algn="ctr">
                      <a:noFill/>
                    </a:lnL>
                    <a:lnR w="0" cap="flat" cmpd="sng" algn="ctr">
                      <a:noFill/>
                    </a:lnR>
                    <a:lnT w="19050" cap="flat" cmpd="sng" algn="ctr">
                      <a:solidFill>
                        <a:srgbClr val="1F4E79"/>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lgn="l">
                        <a:buNone/>
                      </a:pPr>
                      <a:r>
                        <a:rPr lang="en-US" sz="1100" dirty="0">
                          <a:solidFill>
                            <a:srgbClr val="000000"/>
                          </a:solidFill>
                        </a:rPr>
                        <a:t>Baseline: age ≥ 50</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l">
                        <a:buNone/>
                      </a:pPr>
                      <a:r>
                        <a:rPr lang="en-US" sz="950" dirty="0">
                          <a:solidFill>
                            <a:srgbClr val="000000"/>
                          </a:solidFill>
                        </a:rPr>
                        <a:t>threshold 50</a:t>
                      </a:r>
                      <a:endParaRPr lang="en-US" sz="95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0.603 ± 0.020</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0.492</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0.411</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0.448</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0.570</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lgn="l">
                        <a:buNone/>
                      </a:pPr>
                      <a:r>
                        <a:rPr lang="en-US" sz="1100" b="1" dirty="0">
                          <a:solidFill>
                            <a:srgbClr val="000000"/>
                          </a:solidFill>
                        </a:rPr>
                        <a:t>Baseline: best age cutoff</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9DC3E6"/>
                    </a:solidFill>
                  </a:tcPr>
                </a:tc>
                <a:tc>
                  <a:txBody>
                    <a:bodyPr/>
                    <a:lstStyle/>
                    <a:p>
                      <a:pPr marL="0" indent="0" algn="l">
                        <a:buNone/>
                      </a:pPr>
                      <a:r>
                        <a:rPr lang="en-US" sz="950" b="1" dirty="0">
                          <a:solidFill>
                            <a:srgbClr val="000000"/>
                          </a:solidFill>
                        </a:rPr>
                        <a:t>threshold 40</a:t>
                      </a:r>
                      <a:endParaRPr lang="en-US" sz="95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9DC3E6"/>
                    </a:solidFill>
                  </a:tcPr>
                </a:tc>
                <a:tc>
                  <a:txBody>
                    <a:bodyPr/>
                    <a:lstStyle/>
                    <a:p>
                      <a:pPr marL="0" indent="0" algn="ctr">
                        <a:buNone/>
                      </a:pPr>
                      <a:r>
                        <a:rPr lang="en-US" sz="1100" b="1" dirty="0">
                          <a:solidFill>
                            <a:srgbClr val="000000"/>
                          </a:solidFill>
                        </a:rPr>
                        <a:t>0.609 ± 0.018</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9DC3E6"/>
                    </a:solidFill>
                  </a:tcPr>
                </a:tc>
                <a:tc>
                  <a:txBody>
                    <a:bodyPr/>
                    <a:lstStyle/>
                    <a:p>
                      <a:pPr marL="0" indent="0" algn="ctr">
                        <a:buNone/>
                      </a:pPr>
                      <a:r>
                        <a:rPr lang="en-US" sz="1100" b="1" dirty="0">
                          <a:solidFill>
                            <a:srgbClr val="000000"/>
                          </a:solidFill>
                        </a:rPr>
                        <a:t>0.478</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9DC3E6"/>
                    </a:solidFill>
                  </a:tcPr>
                </a:tc>
                <a:tc>
                  <a:txBody>
                    <a:bodyPr/>
                    <a:lstStyle/>
                    <a:p>
                      <a:pPr marL="0" indent="0" algn="ctr">
                        <a:buNone/>
                      </a:pPr>
                      <a:r>
                        <a:rPr lang="en-US" sz="1100" b="1" dirty="0">
                          <a:solidFill>
                            <a:srgbClr val="000000"/>
                          </a:solidFill>
                        </a:rPr>
                        <a:t>0.677</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9DC3E6"/>
                    </a:solidFill>
                  </a:tcPr>
                </a:tc>
                <a:tc>
                  <a:txBody>
                    <a:bodyPr/>
                    <a:lstStyle/>
                    <a:p>
                      <a:pPr marL="0" indent="0" algn="ctr">
                        <a:buNone/>
                      </a:pPr>
                      <a:r>
                        <a:rPr lang="en-US" sz="1100" b="1" dirty="0">
                          <a:solidFill>
                            <a:srgbClr val="000000"/>
                          </a:solidFill>
                        </a:rPr>
                        <a:t>0.560</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9DC3E6"/>
                    </a:solidFill>
                  </a:tcPr>
                </a:tc>
                <a:tc>
                  <a:txBody>
                    <a:bodyPr/>
                    <a:lstStyle/>
                    <a:p>
                      <a:pPr marL="0" indent="0" algn="ctr">
                        <a:buNone/>
                      </a:pPr>
                      <a:r>
                        <a:rPr lang="en-US" sz="1100" b="1" dirty="0">
                          <a:solidFill>
                            <a:srgbClr val="000000"/>
                          </a:solidFill>
                        </a:rPr>
                        <a:t>0.602</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9DC3E6"/>
                    </a:solidFill>
                  </a:tcPr>
                </a:tc>
                <a:extLst>
                  <a:ext uri="{0D108BD9-81ED-4DB2-BD59-A6C34878D82A}">
                    <a16:rowId xmlns:a16="http://schemas.microsoft.com/office/drawing/2014/main" val="10003"/>
                  </a:ext>
                </a:extLst>
              </a:tr>
              <a:tr h="365760">
                <a:tc>
                  <a:txBody>
                    <a:bodyPr/>
                    <a:lstStyle/>
                    <a:p>
                      <a:pPr marL="0" indent="0" algn="l">
                        <a:buNone/>
                      </a:pPr>
                      <a:r>
                        <a:rPr lang="en-US" sz="1100" dirty="0">
                          <a:solidFill>
                            <a:srgbClr val="000000"/>
                          </a:solidFill>
                        </a:rPr>
                        <a:t>KNN</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l">
                        <a:buNone/>
                      </a:pPr>
                      <a:r>
                        <a:rPr lang="en-US" sz="950" dirty="0">
                          <a:solidFill>
                            <a:srgbClr val="000000"/>
                          </a:solidFill>
                        </a:rPr>
                        <a:t>n_neighbors=7, weights=distance</a:t>
                      </a:r>
                      <a:endParaRPr lang="en-US" sz="95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0.590 ± 0.019</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0.467</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0.310</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0.373</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0.542</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lgn="l">
                        <a:buNone/>
                      </a:pPr>
                      <a:r>
                        <a:rPr lang="en-US" sz="1100" b="1" dirty="0">
                          <a:solidFill>
                            <a:srgbClr val="FFFFFF"/>
                          </a:solidFill>
                        </a:rPr>
                        <a:t>Logistic regression (recommended)</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1F4E79"/>
                    </a:solidFill>
                  </a:tcPr>
                </a:tc>
                <a:tc>
                  <a:txBody>
                    <a:bodyPr/>
                    <a:lstStyle/>
                    <a:p>
                      <a:pPr marL="0" indent="0" algn="l">
                        <a:buNone/>
                      </a:pPr>
                      <a:r>
                        <a:rPr lang="en-US" sz="950" b="1" dirty="0">
                          <a:solidFill>
                            <a:srgbClr val="FFFFFF"/>
                          </a:solidFill>
                        </a:rPr>
                        <a:t>C=10, class_weight=balanced</a:t>
                      </a:r>
                      <a:endParaRPr lang="en-US" sz="95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1F4E79"/>
                    </a:solidFill>
                  </a:tcPr>
                </a:tc>
                <a:tc>
                  <a:txBody>
                    <a:bodyPr/>
                    <a:lstStyle/>
                    <a:p>
                      <a:pPr marL="0" indent="0" algn="ctr">
                        <a:buNone/>
                      </a:pPr>
                      <a:r>
                        <a:rPr lang="en-US" sz="1100" b="1" dirty="0">
                          <a:solidFill>
                            <a:srgbClr val="FFFFFF"/>
                          </a:solidFill>
                        </a:rPr>
                        <a:t>0.640 ± 0.018</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1F4E79"/>
                    </a:solidFill>
                  </a:tcPr>
                </a:tc>
                <a:tc>
                  <a:txBody>
                    <a:bodyPr/>
                    <a:lstStyle/>
                    <a:p>
                      <a:pPr marL="0" indent="0" algn="ctr">
                        <a:buNone/>
                      </a:pPr>
                      <a:r>
                        <a:rPr lang="en-US" sz="1100" b="1" dirty="0">
                          <a:solidFill>
                            <a:srgbClr val="FFFFFF"/>
                          </a:solidFill>
                        </a:rPr>
                        <a:t>0.510</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1F4E79"/>
                    </a:solidFill>
                  </a:tcPr>
                </a:tc>
                <a:tc>
                  <a:txBody>
                    <a:bodyPr/>
                    <a:lstStyle/>
                    <a:p>
                      <a:pPr marL="0" indent="0" algn="ctr">
                        <a:buNone/>
                      </a:pPr>
                      <a:r>
                        <a:rPr lang="en-US" sz="1100" b="1" dirty="0">
                          <a:solidFill>
                            <a:srgbClr val="FFFFFF"/>
                          </a:solidFill>
                        </a:rPr>
                        <a:t>0.620</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1F4E79"/>
                    </a:solidFill>
                  </a:tcPr>
                </a:tc>
                <a:tc>
                  <a:txBody>
                    <a:bodyPr/>
                    <a:lstStyle/>
                    <a:p>
                      <a:pPr marL="0" indent="0" algn="ctr">
                        <a:buNone/>
                      </a:pPr>
                      <a:r>
                        <a:rPr lang="en-US" sz="1100" b="1" dirty="0">
                          <a:solidFill>
                            <a:srgbClr val="FFFFFF"/>
                          </a:solidFill>
                        </a:rPr>
                        <a:t>0.560</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1F4E79"/>
                    </a:solidFill>
                  </a:tcPr>
                </a:tc>
                <a:tc>
                  <a:txBody>
                    <a:bodyPr/>
                    <a:lstStyle/>
                    <a:p>
                      <a:pPr marL="0" indent="0" algn="ctr">
                        <a:buNone/>
                      </a:pPr>
                      <a:r>
                        <a:rPr lang="en-US" sz="1100" b="1" dirty="0">
                          <a:solidFill>
                            <a:srgbClr val="FFFFFF"/>
                          </a:solidFill>
                        </a:rPr>
                        <a:t>0.620</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1F4E79"/>
                    </a:solidFill>
                  </a:tcPr>
                </a:tc>
                <a:extLst>
                  <a:ext uri="{0D108BD9-81ED-4DB2-BD59-A6C34878D82A}">
                    <a16:rowId xmlns:a16="http://schemas.microsoft.com/office/drawing/2014/main" val="10005"/>
                  </a:ext>
                </a:extLst>
              </a:tr>
              <a:tr h="457200">
                <a:tc>
                  <a:txBody>
                    <a:bodyPr/>
                    <a:lstStyle/>
                    <a:p>
                      <a:pPr marL="0" indent="0" algn="l">
                        <a:buNone/>
                      </a:pPr>
                      <a:r>
                        <a:rPr lang="en-US" sz="1100" dirty="0">
                          <a:solidFill>
                            <a:srgbClr val="000000"/>
                          </a:solidFill>
                        </a:rPr>
                        <a:t>Random forest</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l">
                        <a:buNone/>
                      </a:pPr>
                      <a:r>
                        <a:rPr lang="en-US" sz="950" dirty="0">
                          <a:solidFill>
                            <a:srgbClr val="000000"/>
                          </a:solidFill>
                        </a:rPr>
                        <a:t>max_depth=12, min_samples_leaf=5, class_weight=balanced</a:t>
                      </a:r>
                      <a:endParaRPr lang="en-US" sz="95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0.642 ± 0.022</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0.494</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0.538</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0.515</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0.593</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87"/>
          <p:cNvSpPr txBox="1"/>
          <p:nvPr/>
        </p:nvSpPr>
        <p:spPr>
          <a:xfrm>
            <a:off x="457200" y="4069080"/>
            <a:ext cx="8229600" cy="411480"/>
          </a:xfrm>
          <a:prstGeom prst="rect">
            <a:avLst/>
          </a:prstGeom>
          <a:noFill/>
          <a:ln/>
        </p:spPr>
        <p:txBody>
          <a:bodyPr wrap="square" lIns="0" tIns="0" rIns="0" bIns="0" rtlCol="0" anchor="ctr"/>
          <a:lstStyle/>
          <a:p>
            <a:pPr marL="0" indent="0">
              <a:buNone/>
            </a:pPr>
            <a:r>
              <a:rPr lang="en-US" sz="1400" b="1" dirty="0">
                <a:solidFill>
                  <a:schemeClr val="accent1"/>
                </a:solidFill>
              </a:rPr>
              <a:t>Logistic regression 0.620</a:t>
            </a:r>
            <a:r>
              <a:rPr lang="en-US" sz="1400" dirty="0">
                <a:solidFill>
                  <a:schemeClr val="tx1"/>
                </a:solidFill>
              </a:rPr>
              <a:t>  against  </a:t>
            </a:r>
            <a:r>
              <a:rPr lang="en-US" sz="1400" b="1" dirty="0">
                <a:solidFill>
                  <a:schemeClr val="accent1"/>
                </a:solidFill>
              </a:rPr>
              <a:t>"invite everyone aged 40 or older" 0.602</a:t>
            </a:r>
            <a:r>
              <a:rPr lang="en-US" sz="1400" dirty="0">
                <a:solidFill>
                  <a:schemeClr val="tx1"/>
                </a:solidFill>
              </a:rPr>
              <a:t>  on the test set. Only a little better.</a:t>
            </a:r>
            <a:endParaRPr lang="en-US" sz="1400" dirty="0"/>
          </a:p>
        </p:txBody>
      </p:sp>
      <p:sp>
        <p:nvSpPr>
          <p:cNvPr id="25" name="Slide Number Placeholder 0"/>
          <p:cNvSpPr>
            <a:spLocks noGrp="1"/>
          </p:cNvSpPr>
          <p:nvPr>
            <p:ph type="sldNum" sz="quarter" idx="4294967295"/>
          </p:nvPr>
        </p:nvSpPr>
        <p:spPr>
          <a:xfrm>
            <a:off x="8138160" y="4663440"/>
            <a:ext cx="548640" cy="292608"/>
          </a:xfrm>
          <a:prstGeom prst="rect">
            <a:avLst/>
          </a:prstGeom>
          <a:extLst>
            <a:ext uri="{C572A759-6A51-4108-AA02-DFA0A04FC94B}">
              <ma14:wrappingTextBoxFlag xmlns="" xmlns:ma14="http://schemas.microsoft.com/office/mac/drawingml/2011/main" val="0"/>
            </a:ext>
          </a:extLst>
        </p:spPr>
        <p:txBody>
          <a:bodyPr/>
          <a:lstStyle>
            <a:lvl1pPr>
              <a:defRPr sz="900">
                <a:solidFill>
                  <a:srgbClr val="595959"/>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74320"/>
            <a:ext cx="8229600" cy="219456"/>
          </a:xfrm>
          <a:prstGeom prst="rect">
            <a:avLst/>
          </a:prstGeom>
          <a:noFill/>
          <a:ln/>
        </p:spPr>
        <p:txBody>
          <a:bodyPr wrap="square" lIns="0" tIns="0" rIns="0" bIns="0" rtlCol="0" anchor="ctr"/>
          <a:lstStyle/>
          <a:p>
            <a:pPr marL="0" indent="0" algn="l">
              <a:buNone/>
            </a:pPr>
            <a:r>
              <a:rPr lang="en-US" sz="1000" b="1" kern="0" spc="150" dirty="0">
                <a:solidFill>
                  <a:schemeClr val="accent1"/>
                </a:solidFill>
                <a:latin typeface="Arial" pitchFamily="34" charset="0"/>
                <a:ea typeface="Arial" pitchFamily="34" charset="-122"/>
                <a:cs typeface="Arial" pitchFamily="34" charset="-120"/>
              </a:rPr>
              <a:t>RUBRIC 5 · WORKING PROTOTYPE     RUBRIC 6 · ETHICAL REASONING</a:t>
            </a:r>
            <a:endParaRPr lang="en-US" sz="1000" dirty="0"/>
          </a:p>
        </p:txBody>
      </p:sp>
      <p:sp>
        <p:nvSpPr>
          <p:cNvPr id="3" name="Text 0"/>
          <p:cNvSpPr>
            <a:spLocks noGrp="1"/>
          </p:cNvSpPr>
          <p:nvPr>
            <p:ph type="title" idx="101" hasCustomPrompt="1"/>
          </p:nvPr>
        </p:nvSpPr>
        <p:spPr>
          <a:xfrm>
            <a:off x="457200" y="512064"/>
            <a:ext cx="8229600" cy="548640"/>
          </a:xfrm>
          <a:prstGeom prst="rect">
            <a:avLst/>
          </a:prstGeom>
          <a:noFill/>
          <a:ln/>
        </p:spPr>
        <p:txBody>
          <a:bodyPr wrap="square" lIns="0" tIns="0" rIns="0" bIns="0" rtlCol="0" anchor="ctr"/>
          <a:lstStyle/>
          <a:p>
            <a:pPr marL="0" indent="0" algn="l">
              <a:buNone/>
            </a:pPr>
            <a:r>
              <a:rPr lang="en-US" sz="2400" b="1" dirty="0">
                <a:solidFill>
                  <a:schemeClr val="tx1"/>
                </a:solidFill>
              </a:rPr>
              <a:t>It finds 98 of the 158, and it misses young people most</a:t>
            </a:r>
            <a:endParaRPr lang="en-US" sz="2400" dirty="0"/>
          </a:p>
        </p:txBody>
      </p:sp>
      <p:sp>
        <p:nvSpPr>
          <p:cNvPr id="4" name="Text 0"/>
          <p:cNvSpPr>
            <a:spLocks noGrp="1"/>
          </p:cNvSpPr>
          <p:nvPr>
            <p:ph type="body" idx="102" hasCustomPrompt="1"/>
          </p:nvPr>
        </p:nvSpPr>
        <p:spPr>
          <a:xfrm>
            <a:off x="457200" y="4663440"/>
            <a:ext cx="7589520" cy="292608"/>
          </a:xfrm>
          <a:prstGeom prst="rect">
            <a:avLst/>
          </a:prstGeom>
          <a:noFill/>
          <a:ln/>
        </p:spPr>
        <p:txBody>
          <a:bodyPr wrap="square" lIns="0" tIns="0" rIns="0" bIns="0" rtlCol="0" anchor="ctr"/>
          <a:lstStyle/>
          <a:p>
            <a:pPr marL="0" indent="0" algn="l">
              <a:buNone/>
            </a:pPr>
            <a:r>
              <a:rPr lang="en-US" sz="900">
                <a:solidFill>
                  <a:schemeClr val="accent3"/>
                </a:solidFill>
              </a:rPr>
              <a:t>Source: our notebook, steps 7 and 8 · logistic regression at the default threshold 0.5 · test set of 405 job losses · CV on 1,614 training rows</a:t>
            </a:r>
            <a:endParaRPr lang="en-US" sz="900" dirty="0"/>
          </a:p>
        </p:txBody>
      </p:sp>
      <p:sp>
        <p:nvSpPr>
          <p:cNvPr id="5" name="text 88"/>
          <p:cNvSpPr txBox="1"/>
          <p:nvPr/>
        </p:nvSpPr>
        <p:spPr>
          <a:xfrm>
            <a:off x="457200" y="1188720"/>
            <a:ext cx="2651760" cy="201168"/>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Arial" pitchFamily="34" charset="0"/>
                <a:ea typeface="Arial" pitchFamily="34" charset="-122"/>
                <a:cs typeface="Arial" pitchFamily="34" charset="-120"/>
              </a:rPr>
              <a:t>CONFUSION MATRIX</a:t>
            </a:r>
            <a:endParaRPr lang="en-US" sz="1000" dirty="0"/>
          </a:p>
        </p:txBody>
      </p:sp>
      <p:sp>
        <p:nvSpPr>
          <p:cNvPr id="6" name="text 89"/>
          <p:cNvSpPr txBox="1"/>
          <p:nvPr/>
        </p:nvSpPr>
        <p:spPr>
          <a:xfrm>
            <a:off x="1214323" y="1444676"/>
            <a:ext cx="1135685" cy="378562"/>
          </a:xfrm>
          <a:prstGeom prst="rect">
            <a:avLst/>
          </a:prstGeom>
          <a:noFill/>
          <a:ln/>
        </p:spPr>
        <p:txBody>
          <a:bodyPr wrap="square" lIns="0" tIns="0" rIns="0" bIns="0" rtlCol="0" anchor="b"/>
          <a:lstStyle/>
          <a:p>
            <a:pPr marL="0" indent="0" algn="ctr">
              <a:buNone/>
            </a:pPr>
            <a:r>
              <a:rPr lang="en-US" sz="1100" dirty="0">
                <a:solidFill>
                  <a:schemeClr val="tx1"/>
                </a:solidFill>
              </a:rPr>
              <a:t>predicted: back in work</a:t>
            </a:r>
            <a:endParaRPr lang="en-US" sz="1100" dirty="0"/>
          </a:p>
        </p:txBody>
      </p:sp>
      <p:sp>
        <p:nvSpPr>
          <p:cNvPr id="7" name="text 90"/>
          <p:cNvSpPr txBox="1"/>
          <p:nvPr/>
        </p:nvSpPr>
        <p:spPr>
          <a:xfrm>
            <a:off x="2392070" y="1444676"/>
            <a:ext cx="1135685" cy="378562"/>
          </a:xfrm>
          <a:prstGeom prst="rect">
            <a:avLst/>
          </a:prstGeom>
          <a:noFill/>
          <a:ln/>
        </p:spPr>
        <p:txBody>
          <a:bodyPr wrap="square" lIns="0" tIns="0" rIns="0" bIns="0" rtlCol="0" anchor="b"/>
          <a:lstStyle/>
          <a:p>
            <a:pPr marL="0" indent="0" algn="ctr">
              <a:buNone/>
            </a:pPr>
            <a:r>
              <a:rPr lang="en-US" sz="1100" dirty="0">
                <a:solidFill>
                  <a:schemeClr val="tx1"/>
                </a:solidFill>
              </a:rPr>
              <a:t>predicted: long-term</a:t>
            </a:r>
            <a:endParaRPr lang="en-US" sz="1100" dirty="0"/>
          </a:p>
        </p:txBody>
      </p:sp>
      <p:sp>
        <p:nvSpPr>
          <p:cNvPr id="8" name="text 91"/>
          <p:cNvSpPr txBox="1"/>
          <p:nvPr/>
        </p:nvSpPr>
        <p:spPr>
          <a:xfrm>
            <a:off x="457200" y="1833753"/>
            <a:ext cx="694030" cy="1135685"/>
          </a:xfrm>
          <a:prstGeom prst="rect">
            <a:avLst/>
          </a:prstGeom>
          <a:noFill/>
          <a:ln/>
        </p:spPr>
        <p:txBody>
          <a:bodyPr wrap="square" lIns="0" tIns="0" rIns="0" bIns="0" rtlCol="0" anchor="ctr"/>
          <a:lstStyle/>
          <a:p>
            <a:pPr marL="0" indent="0" algn="r">
              <a:buNone/>
            </a:pPr>
            <a:r>
              <a:rPr lang="en-US" sz="1100" dirty="0">
                <a:solidFill>
                  <a:schemeClr val="tx1"/>
                </a:solidFill>
              </a:rPr>
              <a:t>actual: back &lt; 12 months</a:t>
            </a:r>
            <a:endParaRPr lang="en-US" sz="1100" dirty="0"/>
          </a:p>
        </p:txBody>
      </p:sp>
      <p:sp>
        <p:nvSpPr>
          <p:cNvPr id="9" name="text 92"/>
          <p:cNvSpPr txBox="1"/>
          <p:nvPr/>
        </p:nvSpPr>
        <p:spPr>
          <a:xfrm>
            <a:off x="457200" y="3011500"/>
            <a:ext cx="694030" cy="1135685"/>
          </a:xfrm>
          <a:prstGeom prst="rect">
            <a:avLst/>
          </a:prstGeom>
          <a:noFill/>
          <a:ln/>
        </p:spPr>
        <p:txBody>
          <a:bodyPr wrap="square" lIns="0" tIns="0" rIns="0" bIns="0" rtlCol="0" anchor="ctr"/>
          <a:lstStyle/>
          <a:p>
            <a:pPr marL="0" indent="0" algn="r">
              <a:buNone/>
            </a:pPr>
            <a:r>
              <a:rPr lang="en-US" sz="1100" dirty="0">
                <a:solidFill>
                  <a:schemeClr val="tx1"/>
                </a:solidFill>
              </a:rPr>
              <a:t>actual: 12+ months</a:t>
            </a:r>
            <a:endParaRPr lang="en-US" sz="1100" dirty="0"/>
          </a:p>
        </p:txBody>
      </p:sp>
      <p:sp>
        <p:nvSpPr>
          <p:cNvPr id="10" name="matrix cell 153"/>
          <p:cNvSpPr/>
          <p:nvPr/>
        </p:nvSpPr>
        <p:spPr>
          <a:xfrm>
            <a:off x="1214323" y="1833753"/>
            <a:ext cx="1135685" cy="1135685"/>
          </a:xfrm>
          <a:prstGeom prst="rect">
            <a:avLst/>
          </a:prstGeom>
          <a:solidFill>
            <a:schemeClr val="accent1"/>
          </a:solidFill>
          <a:ln/>
        </p:spPr>
        <p:txBody>
          <a:bodyPr/>
          <a:lstStyle/>
          <a:p>
            <a:endParaRPr lang="en-US"/>
          </a:p>
        </p:txBody>
      </p:sp>
      <p:sp>
        <p:nvSpPr>
          <p:cNvPr id="11" name="text 93"/>
          <p:cNvSpPr txBox="1"/>
          <p:nvPr/>
        </p:nvSpPr>
        <p:spPr>
          <a:xfrm>
            <a:off x="1214323" y="2002003"/>
            <a:ext cx="1135685" cy="525780"/>
          </a:xfrm>
          <a:prstGeom prst="rect">
            <a:avLst/>
          </a:prstGeom>
          <a:noFill/>
          <a:ln/>
        </p:spPr>
        <p:txBody>
          <a:bodyPr wrap="square" lIns="0" tIns="0" rIns="0" bIns="0" rtlCol="0" anchor="ctr"/>
          <a:lstStyle/>
          <a:p>
            <a:pPr marL="0" indent="0" algn="ctr">
              <a:buNone/>
            </a:pPr>
            <a:r>
              <a:rPr lang="en-US" sz="3200" b="1" dirty="0">
                <a:solidFill>
                  <a:schemeClr val="bg1"/>
                </a:solidFill>
                <a:latin typeface="Arial" pitchFamily="34" charset="0"/>
                <a:ea typeface="Arial" pitchFamily="34" charset="-122"/>
                <a:cs typeface="Arial" pitchFamily="34" charset="-120"/>
              </a:rPr>
              <a:t>153</a:t>
            </a:r>
            <a:endParaRPr lang="en-US" sz="3200" dirty="0"/>
          </a:p>
        </p:txBody>
      </p:sp>
      <p:sp>
        <p:nvSpPr>
          <p:cNvPr id="12" name="text 94"/>
          <p:cNvSpPr txBox="1"/>
          <p:nvPr/>
        </p:nvSpPr>
        <p:spPr>
          <a:xfrm>
            <a:off x="1256386" y="2527783"/>
            <a:ext cx="1051560" cy="336499"/>
          </a:xfrm>
          <a:prstGeom prst="rect">
            <a:avLst/>
          </a:prstGeom>
          <a:noFill/>
          <a:ln/>
        </p:spPr>
        <p:txBody>
          <a:bodyPr wrap="square" lIns="0" tIns="0" rIns="0" bIns="0" rtlCol="0" anchor="ctr"/>
          <a:lstStyle/>
          <a:p>
            <a:pPr marL="0" indent="0" algn="ctr">
              <a:buNone/>
            </a:pPr>
            <a:r>
              <a:rPr lang="en-US" sz="1100" dirty="0">
                <a:solidFill>
                  <a:schemeClr val="bg1"/>
                </a:solidFill>
              </a:rPr>
              <a:t>correct: back in work</a:t>
            </a:r>
            <a:endParaRPr lang="en-US" sz="1100" dirty="0"/>
          </a:p>
        </p:txBody>
      </p:sp>
      <p:sp>
        <p:nvSpPr>
          <p:cNvPr id="13" name="matrix cell 94"/>
          <p:cNvSpPr/>
          <p:nvPr/>
        </p:nvSpPr>
        <p:spPr>
          <a:xfrm>
            <a:off x="2392070" y="1833753"/>
            <a:ext cx="1135685" cy="1135685"/>
          </a:xfrm>
          <a:prstGeom prst="rect">
            <a:avLst/>
          </a:prstGeom>
          <a:solidFill>
            <a:schemeClr val="accent2"/>
          </a:solidFill>
          <a:ln/>
        </p:spPr>
        <p:txBody>
          <a:bodyPr/>
          <a:lstStyle/>
          <a:p>
            <a:endParaRPr lang="en-US"/>
          </a:p>
        </p:txBody>
      </p:sp>
      <p:sp>
        <p:nvSpPr>
          <p:cNvPr id="14" name="text 95"/>
          <p:cNvSpPr txBox="1"/>
          <p:nvPr/>
        </p:nvSpPr>
        <p:spPr>
          <a:xfrm>
            <a:off x="2392070" y="2002003"/>
            <a:ext cx="1135685" cy="525780"/>
          </a:xfrm>
          <a:prstGeom prst="rect">
            <a:avLst/>
          </a:prstGeom>
          <a:noFill/>
          <a:ln/>
        </p:spPr>
        <p:txBody>
          <a:bodyPr wrap="square" lIns="0" tIns="0" rIns="0" bIns="0" rtlCol="0" anchor="ctr"/>
          <a:lstStyle/>
          <a:p>
            <a:pPr marL="0" indent="0" algn="ctr">
              <a:buNone/>
            </a:pPr>
            <a:r>
              <a:rPr lang="en-US" sz="3200" b="1" dirty="0">
                <a:solidFill>
                  <a:schemeClr val="tx1"/>
                </a:solidFill>
                <a:latin typeface="Arial" pitchFamily="34" charset="0"/>
                <a:ea typeface="Arial" pitchFamily="34" charset="-122"/>
                <a:cs typeface="Arial" pitchFamily="34" charset="-120"/>
              </a:rPr>
              <a:t>94</a:t>
            </a:r>
            <a:endParaRPr lang="en-US" sz="3200" dirty="0"/>
          </a:p>
        </p:txBody>
      </p:sp>
      <p:sp>
        <p:nvSpPr>
          <p:cNvPr id="15" name="text 96"/>
          <p:cNvSpPr txBox="1"/>
          <p:nvPr/>
        </p:nvSpPr>
        <p:spPr>
          <a:xfrm>
            <a:off x="2434133" y="2527783"/>
            <a:ext cx="1051560" cy="336499"/>
          </a:xfrm>
          <a:prstGeom prst="rect">
            <a:avLst/>
          </a:prstGeom>
          <a:noFill/>
          <a:ln/>
        </p:spPr>
        <p:txBody>
          <a:bodyPr wrap="square" lIns="0" tIns="0" rIns="0" bIns="0" rtlCol="0" anchor="ctr"/>
          <a:lstStyle/>
          <a:p>
            <a:pPr marL="0" indent="0" algn="ctr">
              <a:buNone/>
            </a:pPr>
            <a:r>
              <a:rPr lang="en-US" sz="1100" dirty="0">
                <a:solidFill>
                  <a:schemeClr val="tx1"/>
                </a:solidFill>
              </a:rPr>
              <a:t>extra invites</a:t>
            </a:r>
            <a:endParaRPr lang="en-US" sz="1100" dirty="0"/>
          </a:p>
        </p:txBody>
      </p:sp>
      <p:sp>
        <p:nvSpPr>
          <p:cNvPr id="16" name="matrix cell 60"/>
          <p:cNvSpPr/>
          <p:nvPr/>
        </p:nvSpPr>
        <p:spPr>
          <a:xfrm>
            <a:off x="1214323" y="3011500"/>
            <a:ext cx="1135685" cy="1135685"/>
          </a:xfrm>
          <a:prstGeom prst="rect">
            <a:avLst/>
          </a:prstGeom>
          <a:solidFill>
            <a:schemeClr val="bg1"/>
          </a:solidFill>
          <a:ln w="25400">
            <a:solidFill>
              <a:srgbClr val="000000"/>
            </a:solidFill>
            <a:prstDash val="solid"/>
          </a:ln>
        </p:spPr>
        <p:txBody>
          <a:bodyPr/>
          <a:lstStyle/>
          <a:p>
            <a:endParaRPr lang="en-US"/>
          </a:p>
        </p:txBody>
      </p:sp>
      <p:sp>
        <p:nvSpPr>
          <p:cNvPr id="17" name="text 97"/>
          <p:cNvSpPr txBox="1"/>
          <p:nvPr/>
        </p:nvSpPr>
        <p:spPr>
          <a:xfrm>
            <a:off x="1214323" y="3179750"/>
            <a:ext cx="1135685" cy="525780"/>
          </a:xfrm>
          <a:prstGeom prst="rect">
            <a:avLst/>
          </a:prstGeom>
          <a:noFill/>
          <a:ln/>
        </p:spPr>
        <p:txBody>
          <a:bodyPr wrap="square" lIns="0" tIns="0" rIns="0" bIns="0" rtlCol="0" anchor="ctr"/>
          <a:lstStyle/>
          <a:p>
            <a:pPr marL="0" indent="0" algn="ctr">
              <a:buNone/>
            </a:pPr>
            <a:r>
              <a:rPr lang="en-US" sz="3200" b="1" dirty="0">
                <a:solidFill>
                  <a:schemeClr val="tx1"/>
                </a:solidFill>
                <a:latin typeface="Arial" pitchFamily="34" charset="0"/>
                <a:ea typeface="Arial" pitchFamily="34" charset="-122"/>
                <a:cs typeface="Arial" pitchFamily="34" charset="-120"/>
              </a:rPr>
              <a:t>60</a:t>
            </a:r>
            <a:endParaRPr lang="en-US" sz="3200" dirty="0"/>
          </a:p>
        </p:txBody>
      </p:sp>
      <p:sp>
        <p:nvSpPr>
          <p:cNvPr id="18" name="text 98"/>
          <p:cNvSpPr txBox="1"/>
          <p:nvPr/>
        </p:nvSpPr>
        <p:spPr>
          <a:xfrm>
            <a:off x="1256386" y="3705530"/>
            <a:ext cx="1051560" cy="336499"/>
          </a:xfrm>
          <a:prstGeom prst="rect">
            <a:avLst/>
          </a:prstGeom>
          <a:noFill/>
          <a:ln/>
        </p:spPr>
        <p:txBody>
          <a:bodyPr wrap="square" lIns="0" tIns="0" rIns="0" bIns="0" rtlCol="0" anchor="ctr"/>
          <a:lstStyle/>
          <a:p>
            <a:pPr marL="0" indent="0" algn="ctr">
              <a:buNone/>
            </a:pPr>
            <a:r>
              <a:rPr lang="en-US" sz="1100" b="1" dirty="0">
                <a:solidFill>
                  <a:schemeClr val="tx1"/>
                </a:solidFill>
              </a:rPr>
              <a:t>missed</a:t>
            </a:r>
            <a:endParaRPr lang="en-US" sz="1100" dirty="0"/>
          </a:p>
        </p:txBody>
      </p:sp>
      <p:sp>
        <p:nvSpPr>
          <p:cNvPr id="19" name="matrix cell 98"/>
          <p:cNvSpPr/>
          <p:nvPr/>
        </p:nvSpPr>
        <p:spPr>
          <a:xfrm>
            <a:off x="2392070" y="3011500"/>
            <a:ext cx="1135685" cy="1135685"/>
          </a:xfrm>
          <a:prstGeom prst="rect">
            <a:avLst/>
          </a:prstGeom>
          <a:solidFill>
            <a:schemeClr val="accent1"/>
          </a:solidFill>
          <a:ln/>
        </p:spPr>
        <p:txBody>
          <a:bodyPr/>
          <a:lstStyle/>
          <a:p>
            <a:endParaRPr lang="en-US"/>
          </a:p>
        </p:txBody>
      </p:sp>
      <p:sp>
        <p:nvSpPr>
          <p:cNvPr id="20" name="text 99"/>
          <p:cNvSpPr txBox="1"/>
          <p:nvPr/>
        </p:nvSpPr>
        <p:spPr>
          <a:xfrm>
            <a:off x="2392070" y="3179750"/>
            <a:ext cx="1135685" cy="525780"/>
          </a:xfrm>
          <a:prstGeom prst="rect">
            <a:avLst/>
          </a:prstGeom>
          <a:noFill/>
          <a:ln/>
        </p:spPr>
        <p:txBody>
          <a:bodyPr wrap="square" lIns="0" tIns="0" rIns="0" bIns="0" rtlCol="0" anchor="ctr"/>
          <a:lstStyle/>
          <a:p>
            <a:pPr marL="0" indent="0" algn="ctr">
              <a:buNone/>
            </a:pPr>
            <a:r>
              <a:rPr lang="en-US" sz="3200" b="1" dirty="0">
                <a:solidFill>
                  <a:schemeClr val="bg1"/>
                </a:solidFill>
                <a:latin typeface="Arial" pitchFamily="34" charset="0"/>
                <a:ea typeface="Arial" pitchFamily="34" charset="-122"/>
                <a:cs typeface="Arial" pitchFamily="34" charset="-120"/>
              </a:rPr>
              <a:t>98</a:t>
            </a:r>
            <a:endParaRPr lang="en-US" sz="3200" dirty="0"/>
          </a:p>
        </p:txBody>
      </p:sp>
      <p:sp>
        <p:nvSpPr>
          <p:cNvPr id="21" name="text 100"/>
          <p:cNvSpPr txBox="1"/>
          <p:nvPr/>
        </p:nvSpPr>
        <p:spPr>
          <a:xfrm>
            <a:off x="2434133" y="3705530"/>
            <a:ext cx="1051560" cy="336499"/>
          </a:xfrm>
          <a:prstGeom prst="rect">
            <a:avLst/>
          </a:prstGeom>
          <a:noFill/>
          <a:ln/>
        </p:spPr>
        <p:txBody>
          <a:bodyPr wrap="square" lIns="0" tIns="0" rIns="0" bIns="0" rtlCol="0" anchor="ctr"/>
          <a:lstStyle/>
          <a:p>
            <a:pPr marL="0" indent="0" algn="ctr">
              <a:buNone/>
            </a:pPr>
            <a:r>
              <a:rPr lang="en-US" sz="1100" dirty="0">
                <a:solidFill>
                  <a:schemeClr val="bg1"/>
                </a:solidFill>
              </a:rPr>
              <a:t>correct: long-term</a:t>
            </a:r>
            <a:endParaRPr lang="en-US" sz="1100" dirty="0"/>
          </a:p>
        </p:txBody>
      </p:sp>
      <p:sp>
        <p:nvSpPr>
          <p:cNvPr id="22" name="text 101"/>
          <p:cNvSpPr txBox="1"/>
          <p:nvPr/>
        </p:nvSpPr>
        <p:spPr>
          <a:xfrm>
            <a:off x="457200" y="4203700"/>
            <a:ext cx="3302000" cy="254000"/>
          </a:xfrm>
          <a:prstGeom prst="rect">
            <a:avLst/>
          </a:prstGeom>
          <a:noFill/>
          <a:ln/>
        </p:spPr>
        <p:txBody>
          <a:bodyPr wrap="square" lIns="0" tIns="0" rIns="0" bIns="0" rtlCol="0" anchor="t"/>
          <a:lstStyle/>
          <a:p>
            <a:pPr marL="0" indent="0">
              <a:buNone/>
            </a:pPr>
            <a:r>
              <a:rPr lang="en-US" sz="1100" b="1" dirty="0">
                <a:solidFill>
                  <a:schemeClr val="tx1"/>
                </a:solidFill>
              </a:rPr>
              <a:t>The 60 missed people wait until month seven.</a:t>
            </a:r>
            <a:endParaRPr lang="en-US" sz="1100" dirty="0"/>
          </a:p>
        </p:txBody>
      </p:sp>
      <p:sp>
        <p:nvSpPr>
          <p:cNvPr id="23" name="text 102"/>
          <p:cNvSpPr txBox="1"/>
          <p:nvPr/>
        </p:nvSpPr>
        <p:spPr>
          <a:xfrm>
            <a:off x="3886200" y="1188720"/>
            <a:ext cx="4724400" cy="200660"/>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Arial" pitchFamily="34" charset="0"/>
                <a:ea typeface="Arial" pitchFamily="34" charset="-122"/>
                <a:cs typeface="Arial" pitchFamily="34" charset="-120"/>
              </a:rPr>
              <a:t>RECALL PER AGE GROUP</a:t>
            </a:r>
            <a:endParaRPr lang="en-US" sz="1000" dirty="0"/>
          </a:p>
        </p:txBody>
      </p:sp>
      <p:sp>
        <p:nvSpPr>
          <p:cNvPr id="24" name="text 103"/>
          <p:cNvSpPr txBox="1"/>
          <p:nvPr/>
        </p:nvSpPr>
        <p:spPr>
          <a:xfrm>
            <a:off x="3886200" y="1389380"/>
            <a:ext cx="4724400" cy="200660"/>
          </a:xfrm>
          <a:prstGeom prst="rect">
            <a:avLst/>
          </a:prstGeom>
          <a:noFill/>
          <a:ln/>
        </p:spPr>
        <p:txBody>
          <a:bodyPr wrap="square" lIns="0" tIns="0" rIns="0" bIns="0" rtlCol="0" anchor="ctr"/>
          <a:lstStyle/>
          <a:p>
            <a:pPr marL="0" indent="0">
              <a:buNone/>
            </a:pPr>
            <a:r>
              <a:rPr lang="en-US" sz="1000" dirty="0">
                <a:solidFill>
                  <a:schemeClr val="tx1"/>
                </a:solidFill>
              </a:rPr>
              <a:t>Share of long-term cases the model finds</a:t>
            </a:r>
            <a:endParaRPr lang="en-US" sz="1000" dirty="0"/>
          </a:p>
        </p:txBody>
      </p:sp>
      <p:graphicFrame>
        <p:nvGraphicFramePr>
          <p:cNvPr id="25" name="chart recall per age group"/>
          <p:cNvGraphicFramePr/>
          <p:nvPr>
            <p:extLst>
              <p:ext uri="{D42A27DB-BD31-4B8C-83A1-F6EECF244321}">
                <p14:modId xmlns:p14="http://schemas.microsoft.com/office/powerpoint/2010/main" val="2517820624"/>
              </p:ext>
            </p:extLst>
          </p:nvPr>
        </p:nvGraphicFramePr>
        <p:xfrm>
          <a:off x="3810000" y="1600200"/>
          <a:ext cx="4876800" cy="2235200"/>
        </p:xfrm>
        <a:graphic>
          <a:graphicData uri="http://schemas.openxmlformats.org/drawingml/2006/chart">
            <c:chart xmlns:c="http://schemas.openxmlformats.org/drawingml/2006/chart" xmlns:r="http://schemas.openxmlformats.org/officeDocument/2006/relationships" r:id="rId3"/>
          </a:graphicData>
        </a:graphic>
      </p:graphicFrame>
      <p:sp>
        <p:nvSpPr>
          <p:cNvPr id="26" name="text 104"/>
          <p:cNvSpPr txBox="1"/>
          <p:nvPr/>
        </p:nvSpPr>
        <p:spPr>
          <a:xfrm>
            <a:off x="3886200" y="3911600"/>
            <a:ext cx="4724400" cy="508000"/>
          </a:xfrm>
          <a:prstGeom prst="rect">
            <a:avLst/>
          </a:prstGeom>
          <a:noFill/>
          <a:ln/>
        </p:spPr>
        <p:txBody>
          <a:bodyPr wrap="square" lIns="0" tIns="0" rIns="0" bIns="0" rtlCol="0" anchor="t"/>
          <a:lstStyle/>
          <a:p>
            <a:pPr marL="0" indent="0">
              <a:buNone/>
            </a:pPr>
            <a:r>
              <a:rPr lang="en-US" sz="1200" b="1" dirty="0">
                <a:solidFill>
                  <a:schemeClr val="tx1"/>
                </a:solidFill>
              </a:rPr>
              <a:t>Men and women: </a:t>
            </a:r>
            <a:r>
              <a:rPr lang="en-US" sz="1200" dirty="0">
                <a:solidFill>
                  <a:schemeClr val="tx1"/>
                </a:solidFill>
              </a:rPr>
              <a:t>0.46 and 0.77 on the test set, 0.59 and 0.62 on more data. Mostly chance.</a:t>
            </a:r>
            <a:endParaRPr lang="en-US" sz="1200" dirty="0"/>
          </a:p>
        </p:txBody>
      </p:sp>
      <p:sp>
        <p:nvSpPr>
          <p:cNvPr id="34" name="Slide Number Placeholder 0"/>
          <p:cNvSpPr>
            <a:spLocks noGrp="1"/>
          </p:cNvSpPr>
          <p:nvPr>
            <p:ph type="sldNum" sz="quarter" idx="4294967295"/>
          </p:nvPr>
        </p:nvSpPr>
        <p:spPr>
          <a:xfrm>
            <a:off x="8138160" y="4663440"/>
            <a:ext cx="548640" cy="292608"/>
          </a:xfrm>
          <a:prstGeom prst="rect">
            <a:avLst/>
          </a:prstGeom>
          <a:extLst>
            <a:ext uri="{C572A759-6A51-4108-AA02-DFA0A04FC94B}">
              <ma14:wrappingTextBoxFlag xmlns="" xmlns:ma14="http://schemas.microsoft.com/office/mac/drawingml/2011/main" val="0"/>
            </a:ext>
          </a:extLst>
        </p:spPr>
        <p:txBody>
          <a:bodyPr/>
          <a:lstStyle>
            <a:lvl1pPr>
              <a:defRPr sz="900">
                <a:solidFill>
                  <a:srgbClr val="595959"/>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74320"/>
            <a:ext cx="8229600" cy="219456"/>
          </a:xfrm>
          <a:prstGeom prst="rect">
            <a:avLst/>
          </a:prstGeom>
          <a:noFill/>
          <a:ln/>
        </p:spPr>
        <p:txBody>
          <a:bodyPr wrap="square" lIns="0" tIns="0" rIns="0" bIns="0" rtlCol="0" anchor="ctr"/>
          <a:lstStyle/>
          <a:p>
            <a:pPr marL="0" indent="0" algn="l">
              <a:buNone/>
            </a:pPr>
            <a:r>
              <a:rPr lang="en-US" sz="1000" b="1" kern="0" spc="150">
                <a:solidFill>
                  <a:schemeClr val="accent1"/>
                </a:solidFill>
                <a:latin typeface="Arial" pitchFamily="34" charset="0"/>
                <a:ea typeface="Arial" pitchFamily="34" charset="-122"/>
                <a:cs typeface="Arial" pitchFamily="34" charset="-120"/>
              </a:rPr>
              <a:t>RUBRIC 5 · WORKING PROTOTYPE</a:t>
            </a:r>
            <a:endParaRPr lang="en-US" sz="1000" dirty="0"/>
          </a:p>
        </p:txBody>
      </p:sp>
      <p:sp>
        <p:nvSpPr>
          <p:cNvPr id="3" name="Text 0"/>
          <p:cNvSpPr>
            <a:spLocks noGrp="1"/>
          </p:cNvSpPr>
          <p:nvPr>
            <p:ph type="title" idx="101" hasCustomPrompt="1"/>
          </p:nvPr>
        </p:nvSpPr>
        <p:spPr>
          <a:xfrm>
            <a:off x="457200" y="512064"/>
            <a:ext cx="8229600" cy="548640"/>
          </a:xfrm>
          <a:prstGeom prst="rect">
            <a:avLst/>
          </a:prstGeom>
          <a:noFill/>
          <a:ln/>
        </p:spPr>
        <p:txBody>
          <a:bodyPr wrap="square" lIns="0" tIns="0" rIns="0" bIns="0" rtlCol="0" anchor="ctr"/>
          <a:lstStyle/>
          <a:p>
            <a:pPr marL="0" indent="0" algn="l">
              <a:buNone/>
            </a:pPr>
            <a:r>
              <a:rPr lang="en-US" sz="2400" b="1">
                <a:solidFill>
                  <a:schemeClr val="tx1"/>
                </a:solidFill>
              </a:rPr>
              <a:t>One live prediction, with reasons a coach can check</a:t>
            </a:r>
            <a:endParaRPr lang="en-US" sz="2400" dirty="0"/>
          </a:p>
        </p:txBody>
      </p:sp>
      <p:sp>
        <p:nvSpPr>
          <p:cNvPr id="4" name="Text 0"/>
          <p:cNvSpPr>
            <a:spLocks noGrp="1"/>
          </p:cNvSpPr>
          <p:nvPr>
            <p:ph type="body" idx="102" hasCustomPrompt="1"/>
          </p:nvPr>
        </p:nvSpPr>
        <p:spPr>
          <a:xfrm>
            <a:off x="457200" y="4663440"/>
            <a:ext cx="7589520" cy="292608"/>
          </a:xfrm>
          <a:prstGeom prst="rect">
            <a:avLst/>
          </a:prstGeom>
          <a:noFill/>
          <a:ln/>
        </p:spPr>
        <p:txBody>
          <a:bodyPr wrap="square" lIns="0" tIns="0" rIns="0" bIns="0" rtlCol="0" anchor="ctr"/>
          <a:lstStyle/>
          <a:p>
            <a:pPr marL="0" indent="0" algn="l">
              <a:buNone/>
            </a:pPr>
            <a:r>
              <a:rPr lang="en-US" sz="900">
                <a:solidFill>
                  <a:schemeClr val="accent3"/>
                </a:solidFill>
              </a:rPr>
              <a:t>Source: our notebook, step 10 · the advice uses threshold 0.35 (step 9: if UWV can see about seven in ten early), the confusion matrix the default 0.5</a:t>
            </a:r>
            <a:endParaRPr lang="en-US" sz="900" dirty="0"/>
          </a:p>
        </p:txBody>
      </p:sp>
      <p:sp>
        <p:nvSpPr>
          <p:cNvPr id="27" name="card 105"/>
          <p:cNvSpPr/>
          <p:nvPr/>
        </p:nvSpPr>
        <p:spPr>
          <a:xfrm>
            <a:off x="457200" y="1234440"/>
            <a:ext cx="8229600" cy="3246120"/>
          </a:xfrm>
          <a:prstGeom prst="rect">
            <a:avLst/>
          </a:prstGeom>
          <a:solidFill>
            <a:schemeClr val="accent1"/>
          </a:solidFill>
          <a:ln/>
        </p:spPr>
        <p:txBody>
          <a:bodyPr/>
          <a:lstStyle/>
          <a:p>
            <a:endParaRPr lang="en-US"/>
          </a:p>
        </p:txBody>
      </p:sp>
      <p:sp>
        <p:nvSpPr>
          <p:cNvPr id="28" name="text 106"/>
          <p:cNvSpPr txBox="1"/>
          <p:nvPr/>
        </p:nvSpPr>
        <p:spPr>
          <a:xfrm>
            <a:off x="660400" y="1371600"/>
            <a:ext cx="2997200" cy="279400"/>
          </a:xfrm>
          <a:prstGeom prst="rect">
            <a:avLst/>
          </a:prstGeom>
          <a:noFill/>
          <a:ln/>
        </p:spPr>
        <p:txBody>
          <a:bodyPr wrap="square" lIns="0" tIns="0" rIns="0" bIns="0" rtlCol="0" anchor="ctr"/>
          <a:lstStyle/>
          <a:p>
            <a:pPr marL="0" indent="0">
              <a:buNone/>
            </a:pPr>
            <a:r>
              <a:rPr lang="en-US" sz="1400" b="1" kern="0" spc="100" dirty="0">
                <a:solidFill>
                  <a:schemeClr val="bg1"/>
                </a:solidFill>
                <a:latin typeface="Arial" pitchFamily="34" charset="0"/>
                <a:ea typeface="Arial" pitchFamily="34" charset="-122"/>
                <a:cs typeface="Arial" pitchFamily="34" charset="-120"/>
              </a:rPr>
              <a:t>LIVE PREDICTION</a:t>
            </a:r>
            <a:endParaRPr lang="en-US" sz="1400" dirty="0"/>
          </a:p>
        </p:txBody>
      </p:sp>
      <p:sp>
        <p:nvSpPr>
          <p:cNvPr id="29" name="text 107"/>
          <p:cNvSpPr txBox="1"/>
          <p:nvPr/>
        </p:nvSpPr>
        <p:spPr>
          <a:xfrm>
            <a:off x="660400" y="1727200"/>
            <a:ext cx="2997200" cy="1092200"/>
          </a:xfrm>
          <a:prstGeom prst="rect">
            <a:avLst/>
          </a:prstGeom>
          <a:noFill/>
          <a:ln/>
        </p:spPr>
        <p:txBody>
          <a:bodyPr wrap="square" lIns="0" tIns="0" rIns="0" bIns="0" rtlCol="0" anchor="ctr"/>
          <a:lstStyle/>
          <a:p>
            <a:pPr marL="0" indent="0">
              <a:buNone/>
            </a:pPr>
            <a:r>
              <a:rPr lang="en-US" sz="1200">
                <a:solidFill>
                  <a:schemeClr val="accent2"/>
                </a:solidFill>
              </a:rPr>
              <a:t>Notebook step 10, a made-up job seeker: 58, lives alone, twelve years in retail on a temporary contract, long-standing disease. Saved output as backup.</a:t>
            </a:r>
            <a:endParaRPr lang="en-US" sz="1200" dirty="0"/>
          </a:p>
        </p:txBody>
      </p:sp>
      <p:sp>
        <p:nvSpPr>
          <p:cNvPr id="30" name="saved output panel"/>
          <p:cNvSpPr/>
          <p:nvPr/>
        </p:nvSpPr>
        <p:spPr>
          <a:xfrm>
            <a:off x="3860800" y="1384300"/>
            <a:ext cx="4648200" cy="2946400"/>
          </a:xfrm>
          <a:prstGeom prst="rect">
            <a:avLst/>
          </a:prstGeom>
          <a:solidFill>
            <a:schemeClr val="bg1"/>
          </a:solidFill>
          <a:ln/>
        </p:spPr>
        <p:txBody>
          <a:bodyPr/>
          <a:lstStyle/>
          <a:p>
            <a:endParaRPr lang="en-US"/>
          </a:p>
        </p:txBody>
      </p:sp>
      <p:sp>
        <p:nvSpPr>
          <p:cNvPr id="31" name="text 108"/>
          <p:cNvSpPr txBox="1"/>
          <p:nvPr/>
        </p:nvSpPr>
        <p:spPr>
          <a:xfrm>
            <a:off x="3962400" y="1447800"/>
            <a:ext cx="4445000" cy="2819400"/>
          </a:xfrm>
          <a:prstGeom prst="rect">
            <a:avLst/>
          </a:prstGeom>
          <a:noFill/>
          <a:ln/>
        </p:spPr>
        <p:txBody>
          <a:bodyPr wrap="square" lIns="0" tIns="0" rIns="0" bIns="0" rtlCol="0" anchor="t"/>
          <a:lstStyle/>
          <a:p>
            <a:pPr marL="0" indent="0">
              <a:spcAft>
                <a:spcPts val="200"/>
              </a:spcAft>
              <a:buNone/>
            </a:pPr>
            <a:r>
              <a:rPr lang="en-US" sz="1300" dirty="0">
                <a:solidFill>
                  <a:schemeClr val="tx1"/>
                </a:solidFill>
                <a:latin typeface="Courier New" pitchFamily="34" charset="0"/>
                <a:ea typeface="Courier New" pitchFamily="34" charset="-122"/>
                <a:cs typeface="Courier New" pitchFamily="34" charset="-120"/>
              </a:rPr>
              <a:t>Model: Logistic regression, threshold 0.35</a:t>
            </a:r>
            <a:endParaRPr lang="en-US" sz="1300" dirty="0"/>
          </a:p>
          <a:p>
            <a:pPr marL="0" indent="0">
              <a:spcAft>
                <a:spcPts val="200"/>
              </a:spcAft>
              <a:buNone/>
            </a:pPr>
            <a:r>
              <a:rPr lang="en-US" sz="1300" dirty="0">
                <a:solidFill>
                  <a:schemeClr val="tx1"/>
                </a:solidFill>
                <a:latin typeface="Courier New" pitchFamily="34" charset="0"/>
                <a:ea typeface="Courier New" pitchFamily="34" charset="-122"/>
                <a:cs typeface="Courier New" pitchFamily="34" charset="-120"/>
              </a:rPr>
              <a:t>Probability of still being without work after 12 months: 82%</a:t>
            </a:r>
            <a:endParaRPr lang="en-US" sz="1300" dirty="0"/>
          </a:p>
          <a:p>
            <a:pPr marL="0" indent="0">
              <a:spcAft>
                <a:spcPts val="200"/>
              </a:spcAft>
              <a:buNone/>
            </a:pPr>
            <a:r>
              <a:rPr lang="en-US" sz="1300" dirty="0">
                <a:solidFill>
                  <a:schemeClr val="tx1"/>
                </a:solidFill>
                <a:latin typeface="Courier New" pitchFamily="34" charset="0"/>
                <a:ea typeface="Courier New" pitchFamily="34" charset="-122"/>
                <a:cs typeface="Courier New" pitchFamily="34" charset="-120"/>
              </a:rPr>
              <a:t>Advice: invite early for a face-to-face conversation</a:t>
            </a:r>
            <a:endParaRPr lang="en-US" sz="1300" dirty="0"/>
          </a:p>
          <a:p>
            <a:pPr marL="0" indent="0">
              <a:spcAft>
                <a:spcPts val="200"/>
              </a:spcAft>
              <a:buNone/>
            </a:pPr>
            <a:r>
              <a:rPr lang="en-US" sz="1300" dirty="0">
                <a:solidFill>
                  <a:schemeClr val="tx1"/>
                </a:solidFill>
                <a:latin typeface="Courier New" pitchFamily="34" charset="0"/>
                <a:ea typeface="Courier New" pitchFamily="34" charset="-122"/>
                <a:cs typeface="Courier New" pitchFamily="34" charset="-120"/>
              </a:rPr>
              <a:t>Raises the risk most: age (+0.75), longstanding_disease_yes (+0.72), years_with_employer (+0.27)</a:t>
            </a:r>
            <a:endParaRPr lang="en-US" sz="1300" dirty="0"/>
          </a:p>
          <a:p>
            <a:pPr marL="0" indent="0">
              <a:spcAft>
                <a:spcPts val="200"/>
              </a:spcAft>
              <a:buNone/>
            </a:pPr>
            <a:r>
              <a:rPr lang="en-US" sz="1300" dirty="0">
                <a:solidFill>
                  <a:schemeClr val="tx1"/>
                </a:solidFill>
                <a:latin typeface="Courier New" pitchFamily="34" charset="0"/>
                <a:ea typeface="Courier New" pitchFamily="34" charset="-122"/>
                <a:cs typeface="Courier New" pitchFamily="34" charset="-120"/>
              </a:rPr>
              <a:t>Lowers the risk most: occupation_other mental work (administrative, sales) (-0.26), household_size (-0.16), net_income (-0.12)</a:t>
            </a:r>
            <a:endParaRPr lang="en-US" sz="1300" dirty="0"/>
          </a:p>
        </p:txBody>
      </p:sp>
      <p:sp>
        <p:nvSpPr>
          <p:cNvPr id="32" name="text 109"/>
          <p:cNvSpPr txBox="1"/>
          <p:nvPr/>
        </p:nvSpPr>
        <p:spPr>
          <a:xfrm>
            <a:off x="660400" y="2971800"/>
            <a:ext cx="2997200" cy="203200"/>
          </a:xfrm>
          <a:prstGeom prst="rect">
            <a:avLst/>
          </a:prstGeom>
          <a:noFill/>
          <a:ln/>
        </p:spPr>
        <p:txBody>
          <a:bodyPr wrap="square" lIns="0" tIns="0" rIns="0" bIns="0" rtlCol="0" anchor="ctr"/>
          <a:lstStyle/>
          <a:p>
            <a:pPr marL="0" indent="0">
              <a:buNone/>
            </a:pPr>
            <a:r>
              <a:rPr lang="en-US" sz="1100" b="1" kern="0" spc="100" dirty="0">
                <a:solidFill>
                  <a:schemeClr val="accent2"/>
                </a:solidFill>
                <a:latin typeface="Arial" pitchFamily="34" charset="0"/>
                <a:ea typeface="Arial" pitchFamily="34" charset="-122"/>
                <a:cs typeface="Arial" pitchFamily="34" charset="-120"/>
              </a:rPr>
              <a:t>WATCH FOR</a:t>
            </a:r>
            <a:endParaRPr lang="en-US" sz="1100" dirty="0"/>
          </a:p>
        </p:txBody>
      </p:sp>
      <p:sp>
        <p:nvSpPr>
          <p:cNvPr id="33" name="text 110"/>
          <p:cNvSpPr txBox="1"/>
          <p:nvPr/>
        </p:nvSpPr>
        <p:spPr>
          <a:xfrm>
            <a:off x="660400" y="3200400"/>
            <a:ext cx="2997200" cy="1143000"/>
          </a:xfrm>
          <a:prstGeom prst="rect">
            <a:avLst/>
          </a:prstGeom>
          <a:noFill/>
          <a:ln/>
        </p:spPr>
        <p:txBody>
          <a:bodyPr wrap="square" lIns="0" tIns="0" rIns="0" bIns="0" rtlCol="0" anchor="t"/>
          <a:lstStyle/>
          <a:p>
            <a:pPr marL="0" indent="0">
              <a:buNone/>
            </a:pPr>
            <a:r>
              <a:rPr lang="en-US" sz="1300" dirty="0">
                <a:solidFill>
                  <a:schemeClr val="bg1"/>
                </a:solidFill>
              </a:rPr>
              <a:t>1  The probability</a:t>
            </a:r>
            <a:endParaRPr lang="en-US" sz="1300" dirty="0"/>
          </a:p>
          <a:p>
            <a:pPr marL="0" indent="0">
              <a:buNone/>
            </a:pPr>
            <a:r>
              <a:rPr lang="en-US" sz="1300" dirty="0">
                <a:solidFill>
                  <a:schemeClr val="bg1"/>
                </a:solidFill>
              </a:rPr>
              <a:t>2  The advice</a:t>
            </a:r>
            <a:endParaRPr lang="en-US" sz="1300" dirty="0"/>
          </a:p>
          <a:p>
            <a:pPr marL="0" indent="0">
              <a:buNone/>
            </a:pPr>
            <a:r>
              <a:rPr lang="en-US" sz="1300" dirty="0">
                <a:solidFill>
                  <a:schemeClr val="bg1"/>
                </a:solidFill>
              </a:rPr>
              <a:t>3  Three answers that raise and three that lower the score</a:t>
            </a:r>
            <a:endParaRPr lang="en-US" sz="1300" dirty="0"/>
          </a:p>
        </p:txBody>
      </p:sp>
      <p:sp>
        <p:nvSpPr>
          <p:cNvPr id="34" name="Slide Number Placeholder 0"/>
          <p:cNvSpPr>
            <a:spLocks noGrp="1"/>
          </p:cNvSpPr>
          <p:nvPr>
            <p:ph type="sldNum" sz="quarter" idx="4294967295"/>
          </p:nvPr>
        </p:nvSpPr>
        <p:spPr>
          <a:xfrm>
            <a:off x="8138160" y="4663440"/>
            <a:ext cx="548640" cy="292608"/>
          </a:xfrm>
          <a:prstGeom prst="rect">
            <a:avLst/>
          </a:prstGeom>
          <a:extLst>
            <a:ext uri="{C572A759-6A51-4108-AA02-DFA0A04FC94B}">
              <ma14:wrappingTextBoxFlag xmlns:ma14="http://schemas.microsoft.com/office/mac/drawingml/2011/main" xmlns="" val="0"/>
            </a:ext>
          </a:extLst>
        </p:spPr>
        <p:txBody>
          <a:bodyPr/>
          <a:lstStyle>
            <a:lvl1pPr>
              <a:defRPr sz="900">
                <a:solidFill>
                  <a:srgbClr val="595959"/>
                </a:solidFill>
              </a:defRPr>
            </a:lvl1pPr>
          </a:lstStyle>
          <a:p>
            <a:pPr algn="r"/>
            <a:fld id="{F7021451-1387-4CA6-816F-3879F97B5CBC}" type="slidenum">
              <a:rPr lang="en-US" b="0"/>
              <a:t>8</a:t>
            </a:fld>
            <a:endParaRPr lang="en-US"/>
          </a:p>
        </p:txBody>
      </p:sp>
    </p:spTree>
    <p:extLst>
      <p:ext uri="{BB962C8B-B14F-4D97-AF65-F5344CB8AC3E}">
        <p14:creationId xmlns:p14="http://schemas.microsoft.com/office/powerpoint/2010/main" val="39996256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74320"/>
            <a:ext cx="8229600" cy="219456"/>
          </a:xfrm>
          <a:prstGeom prst="rect">
            <a:avLst/>
          </a:prstGeom>
          <a:noFill/>
          <a:ln/>
        </p:spPr>
        <p:txBody>
          <a:bodyPr wrap="square" lIns="0" tIns="0" rIns="0" bIns="0" rtlCol="0" anchor="ctr"/>
          <a:lstStyle/>
          <a:p>
            <a:pPr marL="0" indent="0" algn="l">
              <a:buNone/>
            </a:pPr>
            <a:r>
              <a:rPr lang="en-US" sz="1000" b="1" kern="0" spc="150" dirty="0">
                <a:solidFill>
                  <a:schemeClr val="accent1"/>
                </a:solidFill>
                <a:latin typeface="Arial" pitchFamily="34" charset="0"/>
                <a:ea typeface="Arial" pitchFamily="34" charset="-122"/>
                <a:cs typeface="Arial" pitchFamily="34" charset="-120"/>
              </a:rPr>
              <a:t>RUBRIC 4 · PROBLEM-SOLUTION FIT</a:t>
            </a:r>
            <a:endParaRPr lang="en-US" sz="1000" dirty="0"/>
          </a:p>
        </p:txBody>
      </p:sp>
      <p:sp>
        <p:nvSpPr>
          <p:cNvPr id="3" name="Text 0"/>
          <p:cNvSpPr>
            <a:spLocks noGrp="1"/>
          </p:cNvSpPr>
          <p:nvPr>
            <p:ph type="title" idx="101" hasCustomPrompt="1"/>
          </p:nvPr>
        </p:nvSpPr>
        <p:spPr>
          <a:xfrm>
            <a:off x="457200" y="512064"/>
            <a:ext cx="8229600" cy="548640"/>
          </a:xfrm>
          <a:prstGeom prst="rect">
            <a:avLst/>
          </a:prstGeom>
          <a:noFill/>
          <a:ln/>
        </p:spPr>
        <p:txBody>
          <a:bodyPr wrap="square" lIns="0" tIns="0" rIns="0" bIns="0" rtlCol="0" anchor="ctr"/>
          <a:lstStyle/>
          <a:p>
            <a:pPr marL="0" indent="0" algn="l">
              <a:buNone/>
            </a:pPr>
            <a:r>
              <a:rPr lang="en-US" sz="2400" b="1" dirty="0">
                <a:solidFill>
                  <a:schemeClr val="tx1"/>
                </a:solidFill>
              </a:rPr>
              <a:t>A reason a coach can discuss, on a split we can trust</a:t>
            </a:r>
            <a:endParaRPr lang="en-US" sz="2400" dirty="0"/>
          </a:p>
        </p:txBody>
      </p:sp>
      <p:sp>
        <p:nvSpPr>
          <p:cNvPr id="4" name="Text 0"/>
          <p:cNvSpPr>
            <a:spLocks noGrp="1"/>
          </p:cNvSpPr>
          <p:nvPr>
            <p:ph type="body" idx="102" hasCustomPrompt="1"/>
          </p:nvPr>
        </p:nvSpPr>
        <p:spPr>
          <a:xfrm>
            <a:off x="457200" y="4663440"/>
            <a:ext cx="7589520" cy="292608"/>
          </a:xfrm>
          <a:prstGeom prst="rect">
            <a:avLst/>
          </a:prstGeom>
          <a:noFill/>
          <a:ln/>
        </p:spPr>
        <p:txBody>
          <a:bodyPr wrap="square" lIns="0" tIns="0" rIns="0" bIns="0" rtlCol="0" anchor="ctr"/>
          <a:lstStyle/>
          <a:p>
            <a:pPr marL="0" indent="0" algn="l">
              <a:buNone/>
            </a:pPr>
            <a:r>
              <a:rPr lang="en-US" sz="900" dirty="0">
                <a:solidFill>
                  <a:schemeClr val="accent3"/>
                </a:solidFill>
              </a:rPr>
              <a:t>Source: our notebook, step 3 (split) and step 9 (same workload) · long-term cases found out of 158 on the test set</a:t>
            </a:r>
            <a:endParaRPr lang="en-US" sz="900" dirty="0"/>
          </a:p>
        </p:txBody>
      </p:sp>
      <p:sp>
        <p:nvSpPr>
          <p:cNvPr id="5" name="text 111"/>
          <p:cNvSpPr txBox="1"/>
          <p:nvPr/>
        </p:nvSpPr>
        <p:spPr>
          <a:xfrm>
            <a:off x="457200" y="1188720"/>
            <a:ext cx="4754880" cy="201168"/>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Arial" pitchFamily="34" charset="0"/>
                <a:ea typeface="Arial" pitchFamily="34" charset="-122"/>
                <a:cs typeface="Arial" pitchFamily="34" charset="-120"/>
              </a:rPr>
              <a:t>WHY NOT SOMETHING SIMPLER?</a:t>
            </a:r>
            <a:endParaRPr lang="en-US" sz="1000" dirty="0"/>
          </a:p>
        </p:txBody>
      </p:sp>
      <p:sp>
        <p:nvSpPr>
          <p:cNvPr id="6" name="card 112"/>
          <p:cNvSpPr/>
          <p:nvPr/>
        </p:nvSpPr>
        <p:spPr>
          <a:xfrm>
            <a:off x="457200" y="1463040"/>
            <a:ext cx="4754880" cy="877824"/>
          </a:xfrm>
          <a:prstGeom prst="rect">
            <a:avLst/>
          </a:prstGeom>
          <a:solidFill>
            <a:schemeClr val="accent2">
              <a:alpha val="30000"/>
            </a:schemeClr>
          </a:solidFill>
          <a:ln/>
        </p:spPr>
        <p:txBody>
          <a:bodyPr/>
          <a:lstStyle/>
          <a:p>
            <a:endParaRPr lang="en-US"/>
          </a:p>
        </p:txBody>
      </p:sp>
      <p:sp>
        <p:nvSpPr>
          <p:cNvPr id="7" name="text 113"/>
          <p:cNvSpPr txBox="1"/>
          <p:nvPr/>
        </p:nvSpPr>
        <p:spPr>
          <a:xfrm>
            <a:off x="603504" y="1463040"/>
            <a:ext cx="1325880" cy="877824"/>
          </a:xfrm>
          <a:prstGeom prst="rect">
            <a:avLst/>
          </a:prstGeom>
          <a:noFill/>
          <a:ln/>
        </p:spPr>
        <p:txBody>
          <a:bodyPr wrap="square" lIns="0" tIns="0" rIns="0" bIns="0" rtlCol="0" anchor="ctr"/>
          <a:lstStyle/>
          <a:p>
            <a:pPr marL="0" indent="0">
              <a:buNone/>
            </a:pPr>
            <a:r>
              <a:rPr lang="en-US" sz="1200" b="1" dirty="0">
                <a:solidFill>
                  <a:schemeClr val="tx1"/>
                </a:solidFill>
              </a:rPr>
              <a:t>Invite everyone aged 50 or older</a:t>
            </a:r>
            <a:endParaRPr lang="en-US" sz="1200" dirty="0"/>
          </a:p>
        </p:txBody>
      </p:sp>
      <p:sp>
        <p:nvSpPr>
          <p:cNvPr id="8" name="text 114"/>
          <p:cNvSpPr txBox="1"/>
          <p:nvPr/>
        </p:nvSpPr>
        <p:spPr>
          <a:xfrm>
            <a:off x="2011680" y="1536192"/>
            <a:ext cx="731520" cy="457200"/>
          </a:xfrm>
          <a:prstGeom prst="rect">
            <a:avLst/>
          </a:prstGeom>
          <a:noFill/>
          <a:ln/>
        </p:spPr>
        <p:txBody>
          <a:bodyPr wrap="square" lIns="0" tIns="0" rIns="0" bIns="0" rtlCol="0" anchor="ctr"/>
          <a:lstStyle/>
          <a:p>
            <a:pPr marL="0" indent="0" algn="ctr">
              <a:buNone/>
            </a:pPr>
            <a:r>
              <a:rPr lang="en-US" sz="2400" b="1" dirty="0">
                <a:solidFill>
                  <a:schemeClr val="tx1"/>
                </a:solidFill>
                <a:latin typeface="Arial" pitchFamily="34" charset="0"/>
                <a:ea typeface="Arial" pitchFamily="34" charset="-122"/>
                <a:cs typeface="Arial" pitchFamily="34" charset="-120"/>
              </a:rPr>
              <a:t>65</a:t>
            </a:r>
            <a:endParaRPr lang="en-US" sz="2400" dirty="0"/>
          </a:p>
        </p:txBody>
      </p:sp>
      <p:sp>
        <p:nvSpPr>
          <p:cNvPr id="9" name="text 115"/>
          <p:cNvSpPr txBox="1"/>
          <p:nvPr/>
        </p:nvSpPr>
        <p:spPr>
          <a:xfrm>
            <a:off x="2011680" y="2011680"/>
            <a:ext cx="731520" cy="237744"/>
          </a:xfrm>
          <a:prstGeom prst="rect">
            <a:avLst/>
          </a:prstGeom>
          <a:noFill/>
          <a:ln/>
        </p:spPr>
        <p:txBody>
          <a:bodyPr wrap="square" lIns="0" tIns="0" rIns="0" bIns="0" rtlCol="0" anchor="ctr"/>
          <a:lstStyle/>
          <a:p>
            <a:pPr marL="0" indent="0" algn="ctr">
              <a:buNone/>
            </a:pPr>
            <a:r>
              <a:rPr lang="en-US" sz="1000" dirty="0">
                <a:solidFill>
                  <a:schemeClr val="tx1"/>
                </a:solidFill>
              </a:rPr>
              <a:t>the rule</a:t>
            </a:r>
            <a:endParaRPr lang="en-US" sz="1000" dirty="0"/>
          </a:p>
        </p:txBody>
      </p:sp>
      <p:sp>
        <p:nvSpPr>
          <p:cNvPr id="10" name="text 116"/>
          <p:cNvSpPr txBox="1"/>
          <p:nvPr/>
        </p:nvSpPr>
        <p:spPr>
          <a:xfrm>
            <a:off x="2788920" y="1536192"/>
            <a:ext cx="731520" cy="457200"/>
          </a:xfrm>
          <a:prstGeom prst="rect">
            <a:avLst/>
          </a:prstGeom>
          <a:noFill/>
          <a:ln/>
        </p:spPr>
        <p:txBody>
          <a:bodyPr wrap="square" lIns="0" tIns="0" rIns="0" bIns="0" rtlCol="0" anchor="ctr"/>
          <a:lstStyle/>
          <a:p>
            <a:pPr marL="0" indent="0" algn="ctr">
              <a:buNone/>
            </a:pPr>
            <a:r>
              <a:rPr lang="en-US" sz="2400" b="1" dirty="0">
                <a:solidFill>
                  <a:schemeClr val="accent1"/>
                </a:solidFill>
                <a:latin typeface="Arial" pitchFamily="34" charset="0"/>
                <a:ea typeface="Arial" pitchFamily="34" charset="-122"/>
                <a:cs typeface="Arial" pitchFamily="34" charset="-120"/>
              </a:rPr>
              <a:t>78</a:t>
            </a:r>
            <a:endParaRPr lang="en-US" sz="2400" dirty="0"/>
          </a:p>
        </p:txBody>
      </p:sp>
      <p:sp>
        <p:nvSpPr>
          <p:cNvPr id="11" name="text 117"/>
          <p:cNvSpPr txBox="1"/>
          <p:nvPr/>
        </p:nvSpPr>
        <p:spPr>
          <a:xfrm>
            <a:off x="2788920" y="2011680"/>
            <a:ext cx="731520" cy="237744"/>
          </a:xfrm>
          <a:prstGeom prst="rect">
            <a:avLst/>
          </a:prstGeom>
          <a:noFill/>
          <a:ln/>
        </p:spPr>
        <p:txBody>
          <a:bodyPr wrap="square" lIns="0" tIns="0" rIns="0" bIns="0" rtlCol="0" anchor="ctr"/>
          <a:lstStyle/>
          <a:p>
            <a:pPr marL="0" indent="0" algn="ctr">
              <a:buNone/>
            </a:pPr>
            <a:r>
              <a:rPr lang="en-US" sz="1000" b="1" dirty="0">
                <a:solidFill>
                  <a:schemeClr val="accent1"/>
                </a:solidFill>
              </a:rPr>
              <a:t>our model</a:t>
            </a:r>
            <a:endParaRPr lang="en-US" sz="1000" dirty="0"/>
          </a:p>
        </p:txBody>
      </p:sp>
      <p:sp>
        <p:nvSpPr>
          <p:cNvPr id="12" name="text 118"/>
          <p:cNvSpPr txBox="1"/>
          <p:nvPr/>
        </p:nvSpPr>
        <p:spPr>
          <a:xfrm>
            <a:off x="3639312" y="1463040"/>
            <a:ext cx="1463040" cy="877824"/>
          </a:xfrm>
          <a:prstGeom prst="rect">
            <a:avLst/>
          </a:prstGeom>
          <a:noFill/>
          <a:ln/>
        </p:spPr>
        <p:txBody>
          <a:bodyPr wrap="square" lIns="0" tIns="0" rIns="0" bIns="0" rtlCol="0" anchor="ctr"/>
          <a:lstStyle/>
          <a:p>
            <a:pPr marL="0" indent="0">
              <a:buNone/>
            </a:pPr>
            <a:r>
              <a:rPr lang="en-US" sz="1100" dirty="0">
                <a:solidFill>
                  <a:schemeClr val="tx1"/>
                </a:solidFill>
              </a:rPr>
              <a:t>The model finds more at the same workload</a:t>
            </a:r>
            <a:endParaRPr lang="en-US" sz="1100" dirty="0"/>
          </a:p>
        </p:txBody>
      </p:sp>
      <p:sp>
        <p:nvSpPr>
          <p:cNvPr id="13" name="card 119"/>
          <p:cNvSpPr/>
          <p:nvPr/>
        </p:nvSpPr>
        <p:spPr>
          <a:xfrm>
            <a:off x="457200" y="2450592"/>
            <a:ext cx="4754880" cy="877824"/>
          </a:xfrm>
          <a:prstGeom prst="rect">
            <a:avLst/>
          </a:prstGeom>
          <a:solidFill>
            <a:schemeClr val="accent2">
              <a:alpha val="30000"/>
            </a:schemeClr>
          </a:solidFill>
          <a:ln/>
        </p:spPr>
        <p:txBody>
          <a:bodyPr/>
          <a:lstStyle/>
          <a:p>
            <a:endParaRPr lang="en-US"/>
          </a:p>
        </p:txBody>
      </p:sp>
      <p:sp>
        <p:nvSpPr>
          <p:cNvPr id="14" name="text 120"/>
          <p:cNvSpPr txBox="1"/>
          <p:nvPr/>
        </p:nvSpPr>
        <p:spPr>
          <a:xfrm>
            <a:off x="603504" y="2450592"/>
            <a:ext cx="1325880" cy="877824"/>
          </a:xfrm>
          <a:prstGeom prst="rect">
            <a:avLst/>
          </a:prstGeom>
          <a:noFill/>
          <a:ln/>
        </p:spPr>
        <p:txBody>
          <a:bodyPr wrap="square" lIns="0" tIns="0" rIns="0" bIns="0" rtlCol="0" anchor="ctr"/>
          <a:lstStyle/>
          <a:p>
            <a:pPr marL="0" indent="0">
              <a:buNone/>
            </a:pPr>
            <a:r>
              <a:rPr lang="en-US" sz="1200" b="1" dirty="0">
                <a:solidFill>
                  <a:schemeClr val="tx1"/>
                </a:solidFill>
              </a:rPr>
              <a:t>Invite everyone aged 40 or older</a:t>
            </a:r>
            <a:endParaRPr lang="en-US" sz="1200" dirty="0"/>
          </a:p>
        </p:txBody>
      </p:sp>
      <p:sp>
        <p:nvSpPr>
          <p:cNvPr id="15" name="text 121"/>
          <p:cNvSpPr txBox="1"/>
          <p:nvPr/>
        </p:nvSpPr>
        <p:spPr>
          <a:xfrm>
            <a:off x="2011680" y="2523744"/>
            <a:ext cx="731520" cy="457200"/>
          </a:xfrm>
          <a:prstGeom prst="rect">
            <a:avLst/>
          </a:prstGeom>
          <a:noFill/>
          <a:ln/>
        </p:spPr>
        <p:txBody>
          <a:bodyPr wrap="square" lIns="0" tIns="0" rIns="0" bIns="0" rtlCol="0" anchor="ctr"/>
          <a:lstStyle/>
          <a:p>
            <a:pPr marL="0" indent="0" algn="ctr">
              <a:buNone/>
            </a:pPr>
            <a:r>
              <a:rPr lang="en-US" sz="2400" b="1" dirty="0">
                <a:solidFill>
                  <a:schemeClr val="tx1"/>
                </a:solidFill>
                <a:latin typeface="Arial" pitchFamily="34" charset="0"/>
                <a:ea typeface="Arial" pitchFamily="34" charset="-122"/>
                <a:cs typeface="Arial" pitchFamily="34" charset="-120"/>
              </a:rPr>
              <a:t>107</a:t>
            </a:r>
            <a:endParaRPr lang="en-US" sz="2400" dirty="0"/>
          </a:p>
        </p:txBody>
      </p:sp>
      <p:sp>
        <p:nvSpPr>
          <p:cNvPr id="16" name="text 122"/>
          <p:cNvSpPr txBox="1"/>
          <p:nvPr/>
        </p:nvSpPr>
        <p:spPr>
          <a:xfrm>
            <a:off x="2011680" y="2999232"/>
            <a:ext cx="731520" cy="237744"/>
          </a:xfrm>
          <a:prstGeom prst="rect">
            <a:avLst/>
          </a:prstGeom>
          <a:noFill/>
          <a:ln/>
        </p:spPr>
        <p:txBody>
          <a:bodyPr wrap="square" lIns="0" tIns="0" rIns="0" bIns="0" rtlCol="0" anchor="ctr"/>
          <a:lstStyle/>
          <a:p>
            <a:pPr marL="0" indent="0" algn="ctr">
              <a:buNone/>
            </a:pPr>
            <a:r>
              <a:rPr lang="en-US" sz="1000" dirty="0">
                <a:solidFill>
                  <a:schemeClr val="tx1"/>
                </a:solidFill>
              </a:rPr>
              <a:t>the rule</a:t>
            </a:r>
            <a:endParaRPr lang="en-US" sz="1000" dirty="0"/>
          </a:p>
        </p:txBody>
      </p:sp>
      <p:sp>
        <p:nvSpPr>
          <p:cNvPr id="17" name="text 123"/>
          <p:cNvSpPr txBox="1"/>
          <p:nvPr/>
        </p:nvSpPr>
        <p:spPr>
          <a:xfrm>
            <a:off x="2788920" y="2523744"/>
            <a:ext cx="731520" cy="457200"/>
          </a:xfrm>
          <a:prstGeom prst="rect">
            <a:avLst/>
          </a:prstGeom>
          <a:noFill/>
          <a:ln/>
        </p:spPr>
        <p:txBody>
          <a:bodyPr wrap="square" lIns="0" tIns="0" rIns="0" bIns="0" rtlCol="0" anchor="ctr"/>
          <a:lstStyle/>
          <a:p>
            <a:pPr marL="0" indent="0" algn="ctr">
              <a:buNone/>
            </a:pPr>
            <a:r>
              <a:rPr lang="en-US" sz="2400" b="1" dirty="0">
                <a:solidFill>
                  <a:schemeClr val="accent1"/>
                </a:solidFill>
                <a:latin typeface="Arial" pitchFamily="34" charset="0"/>
                <a:ea typeface="Arial" pitchFamily="34" charset="-122"/>
                <a:cs typeface="Arial" pitchFamily="34" charset="-120"/>
              </a:rPr>
              <a:t>114</a:t>
            </a:r>
            <a:endParaRPr lang="en-US" sz="2400" dirty="0"/>
          </a:p>
        </p:txBody>
      </p:sp>
      <p:sp>
        <p:nvSpPr>
          <p:cNvPr id="18" name="text 124"/>
          <p:cNvSpPr txBox="1"/>
          <p:nvPr/>
        </p:nvSpPr>
        <p:spPr>
          <a:xfrm>
            <a:off x="2788920" y="2999232"/>
            <a:ext cx="731520" cy="237744"/>
          </a:xfrm>
          <a:prstGeom prst="rect">
            <a:avLst/>
          </a:prstGeom>
          <a:noFill/>
          <a:ln/>
        </p:spPr>
        <p:txBody>
          <a:bodyPr wrap="square" lIns="0" tIns="0" rIns="0" bIns="0" rtlCol="0" anchor="ctr"/>
          <a:lstStyle/>
          <a:p>
            <a:pPr marL="0" indent="0" algn="ctr">
              <a:buNone/>
            </a:pPr>
            <a:r>
              <a:rPr lang="en-US" sz="1000" b="1" dirty="0">
                <a:solidFill>
                  <a:schemeClr val="accent1"/>
                </a:solidFill>
              </a:rPr>
              <a:t>our model</a:t>
            </a:r>
            <a:endParaRPr lang="en-US" sz="1000" dirty="0"/>
          </a:p>
        </p:txBody>
      </p:sp>
      <p:sp>
        <p:nvSpPr>
          <p:cNvPr id="19" name="text 125"/>
          <p:cNvSpPr txBox="1"/>
          <p:nvPr/>
        </p:nvSpPr>
        <p:spPr>
          <a:xfrm>
            <a:off x="3639312" y="2450592"/>
            <a:ext cx="1463040" cy="877824"/>
          </a:xfrm>
          <a:prstGeom prst="rect">
            <a:avLst/>
          </a:prstGeom>
          <a:noFill/>
          <a:ln/>
        </p:spPr>
        <p:txBody>
          <a:bodyPr wrap="square" lIns="0" tIns="0" rIns="0" bIns="0" rtlCol="0" anchor="ctr"/>
          <a:lstStyle/>
          <a:p>
            <a:pPr marL="0" indent="0">
              <a:buNone/>
            </a:pPr>
            <a:r>
              <a:rPr lang="en-US" sz="1100" dirty="0">
                <a:solidFill>
                  <a:schemeClr val="tx1"/>
                </a:solidFill>
              </a:rPr>
              <a:t>About as good, for 18 more invitations</a:t>
            </a:r>
            <a:endParaRPr lang="en-US" sz="1100" dirty="0"/>
          </a:p>
        </p:txBody>
      </p:sp>
      <p:sp>
        <p:nvSpPr>
          <p:cNvPr id="20" name="text 126"/>
          <p:cNvSpPr txBox="1"/>
          <p:nvPr/>
        </p:nvSpPr>
        <p:spPr>
          <a:xfrm>
            <a:off x="457200" y="3493008"/>
            <a:ext cx="4754880" cy="201168"/>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Arial" pitchFamily="34" charset="0"/>
                <a:ea typeface="Arial" pitchFamily="34" charset="-122"/>
                <a:cs typeface="Arial" pitchFamily="34" charset="-120"/>
              </a:rPr>
              <a:t>WHAT THE MODEL ADDS</a:t>
            </a:r>
            <a:endParaRPr lang="en-US" sz="1000" dirty="0"/>
          </a:p>
        </p:txBody>
      </p:sp>
      <p:sp>
        <p:nvSpPr>
          <p:cNvPr id="21" name="text 127"/>
          <p:cNvSpPr txBox="1"/>
          <p:nvPr/>
        </p:nvSpPr>
        <p:spPr>
          <a:xfrm>
            <a:off x="457200" y="3730752"/>
            <a:ext cx="4754880" cy="749808"/>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A reason a coach can discuss with the job seeker</a:t>
            </a:r>
            <a:endParaRPr lang="en-US" sz="1200" dirty="0"/>
          </a:p>
          <a:p>
            <a:pPr marL="342900" indent="-342900">
              <a:spcAft>
                <a:spcPts val="300"/>
              </a:spcAft>
              <a:buSzPct val="100000"/>
              <a:buChar char="•"/>
            </a:pPr>
            <a:r>
              <a:rPr lang="en-US" sz="1200" dirty="0">
                <a:solidFill>
                  <a:schemeClr val="tx1"/>
                </a:solidFill>
              </a:rPr>
              <a:t>A threshold that follows UWV's capacity</a:t>
            </a:r>
            <a:endParaRPr lang="en-US" sz="1200" dirty="0"/>
          </a:p>
          <a:p>
            <a:pPr marL="342900" indent="-342900">
              <a:spcAft>
                <a:spcPts val="300"/>
              </a:spcAft>
              <a:buSzPct val="100000"/>
              <a:buChar char="•"/>
            </a:pPr>
            <a:r>
              <a:rPr lang="en-US" sz="1200" b="1" dirty="0">
                <a:solidFill>
                  <a:schemeClr val="tx1"/>
                </a:solidFill>
              </a:rPr>
              <a:t>Honest answer: these are reasons of fit, not of accuracy</a:t>
            </a:r>
            <a:endParaRPr lang="en-US" sz="1200" dirty="0"/>
          </a:p>
        </p:txBody>
      </p:sp>
      <p:sp>
        <p:nvSpPr>
          <p:cNvPr id="22" name="card 128"/>
          <p:cNvSpPr/>
          <p:nvPr/>
        </p:nvSpPr>
        <p:spPr>
          <a:xfrm>
            <a:off x="5440680" y="1188720"/>
            <a:ext cx="3246120" cy="3291840"/>
          </a:xfrm>
          <a:prstGeom prst="rect">
            <a:avLst/>
          </a:prstGeom>
          <a:solidFill>
            <a:schemeClr val="accent1"/>
          </a:solidFill>
          <a:ln/>
        </p:spPr>
        <p:txBody>
          <a:bodyPr/>
          <a:lstStyle/>
          <a:p>
            <a:endParaRPr lang="en-US"/>
          </a:p>
        </p:txBody>
      </p:sp>
      <p:sp>
        <p:nvSpPr>
          <p:cNvPr id="23" name="text 129"/>
          <p:cNvSpPr txBox="1"/>
          <p:nvPr/>
        </p:nvSpPr>
        <p:spPr>
          <a:xfrm>
            <a:off x="5623560" y="1298448"/>
            <a:ext cx="2880360" cy="201168"/>
          </a:xfrm>
          <a:prstGeom prst="rect">
            <a:avLst/>
          </a:prstGeom>
          <a:noFill/>
          <a:ln/>
        </p:spPr>
        <p:txBody>
          <a:bodyPr wrap="square" lIns="0" tIns="0" rIns="0" bIns="0" rtlCol="0" anchor="ctr"/>
          <a:lstStyle/>
          <a:p>
            <a:pPr marL="0" indent="0">
              <a:buNone/>
            </a:pPr>
            <a:r>
              <a:rPr lang="en-US" sz="1000" b="1" kern="0" spc="100" dirty="0">
                <a:solidFill>
                  <a:schemeClr val="accent2"/>
                </a:solidFill>
                <a:latin typeface="Arial" pitchFamily="34" charset="0"/>
                <a:ea typeface="Arial" pitchFamily="34" charset="-122"/>
                <a:cs typeface="Arial" pitchFamily="34" charset="-120"/>
              </a:rPr>
              <a:t>THE DECISION WE DEFEND HARDEST</a:t>
            </a:r>
            <a:endParaRPr lang="en-US" sz="1000" dirty="0"/>
          </a:p>
        </p:txBody>
      </p:sp>
      <p:sp>
        <p:nvSpPr>
          <p:cNvPr id="24" name="text 130"/>
          <p:cNvSpPr txBox="1"/>
          <p:nvPr/>
        </p:nvSpPr>
        <p:spPr>
          <a:xfrm>
            <a:off x="5623560" y="1536192"/>
            <a:ext cx="2880360" cy="384048"/>
          </a:xfrm>
          <a:prstGeom prst="rect">
            <a:avLst/>
          </a:prstGeom>
          <a:noFill/>
          <a:ln/>
        </p:spPr>
        <p:txBody>
          <a:bodyPr wrap="square" lIns="0" tIns="0" rIns="0" bIns="0" rtlCol="0" anchor="ctr"/>
          <a:lstStyle/>
          <a:p>
            <a:pPr marL="0" indent="0">
              <a:buNone/>
            </a:pPr>
            <a:r>
              <a:rPr lang="en-US" sz="2000" b="1" dirty="0">
                <a:solidFill>
                  <a:schemeClr val="bg1"/>
                </a:solidFill>
                <a:latin typeface="Arial" pitchFamily="34" charset="0"/>
                <a:ea typeface="Arial" pitchFamily="34" charset="-122"/>
                <a:cs typeface="Arial" pitchFamily="34" charset="-120"/>
              </a:rPr>
              <a:t>Splitting by person</a:t>
            </a:r>
            <a:endParaRPr lang="en-US" sz="2000" dirty="0"/>
          </a:p>
        </p:txBody>
      </p:sp>
      <p:sp>
        <p:nvSpPr>
          <p:cNvPr id="25" name="text 131"/>
          <p:cNvSpPr txBox="1"/>
          <p:nvPr/>
        </p:nvSpPr>
        <p:spPr>
          <a:xfrm>
            <a:off x="5623560" y="2011680"/>
            <a:ext cx="2880360" cy="685800"/>
          </a:xfrm>
          <a:prstGeom prst="rect">
            <a:avLst/>
          </a:prstGeom>
          <a:noFill/>
          <a:ln/>
        </p:spPr>
        <p:txBody>
          <a:bodyPr wrap="square" lIns="0" tIns="0" rIns="0" bIns="0" rtlCol="0" anchor="ctr"/>
          <a:lstStyle/>
          <a:p>
            <a:pPr marL="0" indent="0">
              <a:buNone/>
            </a:pPr>
            <a:r>
              <a:rPr lang="en-US" sz="4800" b="1" dirty="0">
                <a:solidFill>
                  <a:schemeClr val="accent2"/>
                </a:solidFill>
                <a:latin typeface="Arial" pitchFamily="34" charset="0"/>
                <a:ea typeface="Arial" pitchFamily="34" charset="-122"/>
                <a:cs typeface="Arial" pitchFamily="34" charset="-120"/>
              </a:rPr>
              <a:t>352</a:t>
            </a:r>
            <a:endParaRPr lang="en-US" sz="4800" dirty="0"/>
          </a:p>
        </p:txBody>
      </p:sp>
      <p:sp>
        <p:nvSpPr>
          <p:cNvPr id="26" name="text 132"/>
          <p:cNvSpPr txBox="1"/>
          <p:nvPr/>
        </p:nvSpPr>
        <p:spPr>
          <a:xfrm>
            <a:off x="5623560" y="2697480"/>
            <a:ext cx="2880360" cy="274320"/>
          </a:xfrm>
          <a:prstGeom prst="rect">
            <a:avLst/>
          </a:prstGeom>
          <a:noFill/>
          <a:ln/>
        </p:spPr>
        <p:txBody>
          <a:bodyPr wrap="square" lIns="0" tIns="0" rIns="0" bIns="0" rtlCol="0" anchor="ctr"/>
          <a:lstStyle/>
          <a:p>
            <a:pPr marL="0" indent="0">
              <a:buNone/>
            </a:pPr>
            <a:r>
              <a:rPr lang="en-US" sz="1300" b="1" dirty="0">
                <a:solidFill>
                  <a:schemeClr val="bg1"/>
                </a:solidFill>
              </a:rPr>
              <a:t>people lost a job more than once</a:t>
            </a:r>
            <a:endParaRPr lang="en-US" sz="1300" dirty="0"/>
          </a:p>
        </p:txBody>
      </p:sp>
      <p:sp>
        <p:nvSpPr>
          <p:cNvPr id="27" name="text 133"/>
          <p:cNvSpPr txBox="1"/>
          <p:nvPr/>
        </p:nvSpPr>
        <p:spPr>
          <a:xfrm>
            <a:off x="5623560" y="3108960"/>
            <a:ext cx="2880360" cy="1234440"/>
          </a:xfrm>
          <a:prstGeom prst="rect">
            <a:avLst/>
          </a:prstGeom>
          <a:noFill/>
          <a:ln/>
        </p:spPr>
        <p:txBody>
          <a:bodyPr wrap="square" lIns="0" tIns="0" rIns="0" bIns="0" rtlCol="0" anchor="t"/>
          <a:lstStyle/>
          <a:p>
            <a:pPr marL="0" indent="0">
              <a:spcAft>
                <a:spcPts val="600"/>
              </a:spcAft>
              <a:buNone/>
            </a:pPr>
            <a:r>
              <a:rPr lang="en-US" sz="1200" dirty="0">
                <a:solidFill>
                  <a:schemeClr val="bg1"/>
                </a:solidFill>
              </a:rPr>
              <a:t>A normal split would let the model recognise them.</a:t>
            </a:r>
            <a:endParaRPr lang="en-US" sz="1200" dirty="0"/>
          </a:p>
          <a:p>
            <a:pPr marL="0" indent="0">
              <a:spcAft>
                <a:spcPts val="600"/>
              </a:spcAft>
              <a:buNone/>
            </a:pPr>
            <a:r>
              <a:rPr lang="en-US" sz="1200" dirty="0">
                <a:solidFill>
                  <a:schemeClr val="bg1"/>
                </a:solidFill>
              </a:rPr>
              <a:t>StratifiedGroupKFold keeps each person on one side: persons in both train and test, 0.</a:t>
            </a:r>
            <a:endParaRPr lang="en-US" sz="1200" dirty="0"/>
          </a:p>
        </p:txBody>
      </p:sp>
      <p:sp>
        <p:nvSpPr>
          <p:cNvPr id="28" name="Slide Number Placeholder 0"/>
          <p:cNvSpPr>
            <a:spLocks noGrp="1"/>
          </p:cNvSpPr>
          <p:nvPr>
            <p:ph type="sldNum" sz="quarter" idx="4294967295"/>
          </p:nvPr>
        </p:nvSpPr>
        <p:spPr>
          <a:xfrm>
            <a:off x="8138160" y="4663440"/>
            <a:ext cx="548640" cy="292608"/>
          </a:xfrm>
          <a:prstGeom prst="rect">
            <a:avLst/>
          </a:prstGeom>
          <a:extLst>
            <a:ext uri="{C572A759-6A51-4108-AA02-DFA0A04FC94B}">
              <ma14:wrappingTextBoxFlag xmlns="" xmlns:ma14="http://schemas.microsoft.com/office/mac/drawingml/2011/main" val="0"/>
            </a:ext>
          </a:extLst>
        </p:spPr>
        <p:txBody>
          <a:bodyPr/>
          <a:lstStyle>
            <a:lvl1pPr>
              <a:defRPr sz="900">
                <a:solidFill>
                  <a:srgbClr val="595959"/>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74320"/>
            <a:ext cx="8229600" cy="219456"/>
          </a:xfrm>
          <a:prstGeom prst="rect">
            <a:avLst/>
          </a:prstGeom>
          <a:noFill/>
          <a:ln/>
        </p:spPr>
        <p:txBody>
          <a:bodyPr wrap="square" lIns="0" tIns="0" rIns="0" bIns="0" rtlCol="0" anchor="ctr"/>
          <a:lstStyle/>
          <a:p>
            <a:pPr marL="0" indent="0" algn="l">
              <a:buNone/>
            </a:pPr>
            <a:r>
              <a:rPr lang="en-US" sz="1000" b="1" kern="0" spc="150" dirty="0">
                <a:solidFill>
                  <a:schemeClr val="accent1"/>
                </a:solidFill>
                <a:latin typeface="Arial" pitchFamily="34" charset="0"/>
                <a:ea typeface="Arial" pitchFamily="34" charset="-122"/>
                <a:cs typeface="Arial" pitchFamily="34" charset="-120"/>
              </a:rPr>
              <a:t>RUBRIC 6 · ETHICAL REASONING</a:t>
            </a:r>
            <a:endParaRPr lang="en-US" sz="1000" dirty="0"/>
          </a:p>
        </p:txBody>
      </p:sp>
      <p:sp>
        <p:nvSpPr>
          <p:cNvPr id="3" name="Text 0"/>
          <p:cNvSpPr>
            <a:spLocks noGrp="1"/>
          </p:cNvSpPr>
          <p:nvPr>
            <p:ph type="title" idx="101" hasCustomPrompt="1"/>
          </p:nvPr>
        </p:nvSpPr>
        <p:spPr>
          <a:xfrm>
            <a:off x="457200" y="512064"/>
            <a:ext cx="8229600" cy="548640"/>
          </a:xfrm>
          <a:prstGeom prst="rect">
            <a:avLst/>
          </a:prstGeom>
          <a:noFill/>
          <a:ln/>
        </p:spPr>
        <p:txBody>
          <a:bodyPr wrap="square" lIns="0" tIns="0" rIns="0" bIns="0" rtlCol="0" anchor="ctr"/>
          <a:lstStyle/>
          <a:p>
            <a:pPr marL="0" indent="0" algn="l">
              <a:buNone/>
            </a:pPr>
            <a:r>
              <a:rPr lang="en-US" sz="2400" b="1" dirty="0">
                <a:solidFill>
                  <a:schemeClr val="tx1"/>
                </a:solidFill>
              </a:rPr>
              <a:t>Three risks for the job seeker, and what we did</a:t>
            </a:r>
            <a:endParaRPr lang="en-US" sz="2400" dirty="0"/>
          </a:p>
        </p:txBody>
      </p:sp>
      <p:sp>
        <p:nvSpPr>
          <p:cNvPr id="4" name="Text 0"/>
          <p:cNvSpPr>
            <a:spLocks noGrp="1"/>
          </p:cNvSpPr>
          <p:nvPr>
            <p:ph type="body" idx="102" hasCustomPrompt="1"/>
          </p:nvPr>
        </p:nvSpPr>
        <p:spPr>
          <a:xfrm>
            <a:off x="457200" y="4663440"/>
            <a:ext cx="7589520" cy="292608"/>
          </a:xfrm>
          <a:prstGeom prst="rect">
            <a:avLst/>
          </a:prstGeom>
          <a:noFill/>
          <a:ln/>
        </p:spPr>
        <p:txBody>
          <a:bodyPr wrap="square" lIns="0" tIns="0" rIns="0" bIns="0" rtlCol="0" anchor="ctr"/>
          <a:lstStyle/>
          <a:p>
            <a:pPr marL="0" indent="0" algn="l">
              <a:buNone/>
            </a:pPr>
            <a:r>
              <a:rPr lang="en-US" sz="900" dirty="0">
                <a:solidFill>
                  <a:schemeClr val="accent3"/>
                </a:solidFill>
              </a:rPr>
              <a:t>Sources: ETHICS.md · our notebook, step 8 · UWV (2022)</a:t>
            </a:r>
            <a:endParaRPr lang="en-US" sz="900" dirty="0"/>
          </a:p>
        </p:txBody>
      </p:sp>
      <p:graphicFrame>
        <p:nvGraphicFramePr>
          <p:cNvPr id="9" name="risk table"/>
          <p:cNvGraphicFramePr>
            <a:graphicFrameLocks noGrp="1"/>
          </p:cNvGraphicFramePr>
          <p:nvPr>
            <p:extLst>
              <p:ext uri="{D42A27DB-BD31-4B8C-83A1-F6EECF244321}">
                <p14:modId xmlns:p14="http://schemas.microsoft.com/office/powerpoint/2010/main" val="1516695848"/>
              </p:ext>
            </p:extLst>
          </p:nvPr>
        </p:nvGraphicFramePr>
        <p:xfrm>
          <a:off x="457200" y="1188720"/>
          <a:ext cx="8229600" cy="2249424"/>
        </p:xfrm>
        <a:graphic>
          <a:graphicData uri="http://schemas.openxmlformats.org/drawingml/2006/table">
            <a:tbl>
              <a:tblPr/>
              <a:tblGrid>
                <a:gridCol w="22402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246120">
                  <a:extLst>
                    <a:ext uri="{9D8B030D-6E8A-4147-A177-3AD203B41FA5}">
                      <a16:colId xmlns:a16="http://schemas.microsoft.com/office/drawing/2014/main" val="20002"/>
                    </a:ext>
                  </a:extLst>
                </a:gridCol>
              </a:tblGrid>
              <a:tr h="310896">
                <a:tc>
                  <a:txBody>
                    <a:bodyPr/>
                    <a:lstStyle/>
                    <a:p>
                      <a:pPr marL="0" indent="0">
                        <a:buNone/>
                      </a:pPr>
                      <a:r>
                        <a:rPr lang="en-US" sz="900" b="1" dirty="0">
                          <a:solidFill>
                            <a:srgbClr val="1F4E79"/>
                          </a:solidFill>
                          <a:latin typeface="Arial" pitchFamily="34" charset="0"/>
                          <a:ea typeface="Arial" pitchFamily="34" charset="-122"/>
                          <a:cs typeface="Arial" pitchFamily="34" charset="-120"/>
                        </a:rPr>
                        <a:t>RISK</a:t>
                      </a:r>
                      <a:endParaRPr lang="en-US" sz="9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marL="0" indent="0">
                        <a:buNone/>
                      </a:pPr>
                      <a:r>
                        <a:rPr lang="en-US" sz="900" b="1" dirty="0">
                          <a:solidFill>
                            <a:srgbClr val="1F4E79"/>
                          </a:solidFill>
                          <a:latin typeface="Arial" pitchFamily="34" charset="0"/>
                          <a:ea typeface="Arial" pitchFamily="34" charset="-122"/>
                          <a:cs typeface="Arial" pitchFamily="34" charset="-120"/>
                        </a:rPr>
                        <a:t>CONSEQUENCE FOR THE JOB SEEKER</a:t>
                      </a:r>
                      <a:endParaRPr lang="en-US" sz="9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marL="0" indent="0">
                        <a:buNone/>
                      </a:pPr>
                      <a:r>
                        <a:rPr lang="en-US" sz="900" b="1" dirty="0">
                          <a:solidFill>
                            <a:srgbClr val="1F4E79"/>
                          </a:solidFill>
                          <a:latin typeface="Arial" pitchFamily="34" charset="0"/>
                          <a:ea typeface="Arial" pitchFamily="34" charset="-122"/>
                          <a:cs typeface="Arial" pitchFamily="34" charset="-120"/>
                        </a:rPr>
                        <a:t>WHAT WE DID</a:t>
                      </a:r>
                      <a:endParaRPr lang="en-US" sz="9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extLst>
                  <a:ext uri="{0D108BD9-81ED-4DB2-BD59-A6C34878D82A}">
                    <a16:rowId xmlns:a16="http://schemas.microsoft.com/office/drawing/2014/main" val="10000"/>
                  </a:ext>
                </a:extLst>
              </a:tr>
              <a:tr h="603504">
                <a:tc>
                  <a:txBody>
                    <a:bodyPr/>
                    <a:lstStyle/>
                    <a:p>
                      <a:pPr marL="0" indent="0">
                        <a:buNone/>
                      </a:pPr>
                      <a:r>
                        <a:rPr lang="en-US" sz="1150" b="1" dirty="0">
                          <a:solidFill>
                            <a:srgbClr val="000000"/>
                          </a:solidFill>
                        </a:rPr>
                        <a:t>The model misses young people who get stuck</a:t>
                      </a:r>
                      <a:endParaRPr lang="en-US" sz="1150" dirty="0"/>
                    </a:p>
                  </a:txBody>
                  <a:tcPr marL="73152" marR="73152" marT="0" marB="0" anchor="ctr">
                    <a:lnL w="0" cap="flat" cmpd="sng" algn="ctr">
                      <a:noFill/>
                    </a:lnL>
                    <a:lnR w="0" cap="flat" cmpd="sng" algn="ctr">
                      <a:noFill/>
                    </a:lnR>
                    <a:lnT w="19050" cap="flat" cmpd="sng" algn="ctr">
                      <a:solidFill>
                        <a:srgbClr val="1F4E79"/>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buNone/>
                      </a:pPr>
                      <a:r>
                        <a:rPr lang="en-US" sz="1150" dirty="0">
                          <a:solidFill>
                            <a:srgbClr val="000000"/>
                          </a:solidFill>
                        </a:rPr>
                        <a:t>They wait until month seven for a first conversation.</a:t>
                      </a:r>
                      <a:endParaRPr lang="en-US" sz="1150" dirty="0"/>
                    </a:p>
                  </a:txBody>
                  <a:tcPr marL="73152" marR="73152" marT="0" marB="0" anchor="ctr">
                    <a:lnL w="0" cap="flat" cmpd="sng" algn="ctr">
                      <a:noFill/>
                    </a:lnL>
                    <a:lnR w="0" cap="flat" cmpd="sng" algn="ctr">
                      <a:noFill/>
                    </a:lnR>
                    <a:lnT w="19050" cap="flat" cmpd="sng" algn="ctr">
                      <a:solidFill>
                        <a:srgbClr val="1F4E79"/>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buNone/>
                      </a:pPr>
                      <a:r>
                        <a:rPr lang="en-US" sz="1150" dirty="0">
                          <a:solidFill>
                            <a:srgbClr val="000000"/>
                          </a:solidFill>
                        </a:rPr>
                        <a:t>A score may only add help. A coach can always invite.</a:t>
                      </a:r>
                      <a:endParaRPr lang="en-US" sz="1150" dirty="0"/>
                    </a:p>
                  </a:txBody>
                  <a:tcPr marL="73152" marR="73152" marT="0" marB="0" anchor="ctr">
                    <a:lnL w="0" cap="flat" cmpd="sng" algn="ctr">
                      <a:noFill/>
                    </a:lnL>
                    <a:lnR w="0" cap="flat" cmpd="sng" algn="ctr">
                      <a:noFill/>
                    </a:lnR>
                    <a:lnT w="19050" cap="flat" cmpd="sng" algn="ctr">
                      <a:solidFill>
                        <a:srgbClr val="1F4E79"/>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extLst>
                  <a:ext uri="{0D108BD9-81ED-4DB2-BD59-A6C34878D82A}">
                    <a16:rowId xmlns:a16="http://schemas.microsoft.com/office/drawing/2014/main" val="10001"/>
                  </a:ext>
                </a:extLst>
              </a:tr>
              <a:tr h="731520">
                <a:tc>
                  <a:txBody>
                    <a:bodyPr/>
                    <a:lstStyle/>
                    <a:p>
                      <a:pPr marL="0" indent="0">
                        <a:buNone/>
                      </a:pPr>
                      <a:r>
                        <a:rPr lang="en-US" sz="1150" b="1" dirty="0">
                          <a:solidFill>
                            <a:srgbClr val="000000"/>
                          </a:solidFill>
                        </a:rPr>
                        <a:t>Scoring people on where they were born</a:t>
                      </a:r>
                      <a:endParaRPr lang="en-US" sz="1150" dirty="0"/>
                    </a:p>
                  </a:txBody>
                  <a:tcPr marL="73152" marR="73152"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buNone/>
                      </a:pPr>
                      <a:r>
                        <a:rPr lang="en-US" sz="1150" dirty="0">
                          <a:solidFill>
                            <a:srgbClr val="000000"/>
                          </a:solidFill>
                        </a:rPr>
                        <a:t>A score for something they cannot change.</a:t>
                      </a:r>
                      <a:endParaRPr lang="en-US" sz="1150" dirty="0"/>
                    </a:p>
                  </a:txBody>
                  <a:tcPr marL="73152" marR="73152"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buNone/>
                      </a:pPr>
                      <a:r>
                        <a:rPr lang="en-US" sz="1150">
                          <a:solidFill>
                            <a:srgbClr val="000000"/>
                          </a:solidFill>
                        </a:rPr>
                        <a:t>Migration background left out, still checked per group. Gender is still in: first fix for the next version.</a:t>
                      </a:r>
                      <a:endParaRPr lang="en-US" sz="1150" dirty="0"/>
                    </a:p>
                  </a:txBody>
                  <a:tcPr marL="73152" marR="73152"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extLst>
                  <a:ext uri="{0D108BD9-81ED-4DB2-BD59-A6C34878D82A}">
                    <a16:rowId xmlns:a16="http://schemas.microsoft.com/office/drawing/2014/main" val="10002"/>
                  </a:ext>
                </a:extLst>
              </a:tr>
              <a:tr h="603504">
                <a:tc>
                  <a:txBody>
                    <a:bodyPr/>
                    <a:lstStyle/>
                    <a:p>
                      <a:pPr marL="0" indent="0">
                        <a:buNone/>
                      </a:pPr>
                      <a:r>
                        <a:rPr lang="en-US" sz="1150" b="1" dirty="0">
                          <a:solidFill>
                            <a:srgbClr val="000000"/>
                          </a:solidFill>
                        </a:rPr>
                        <a:t>Health is private</a:t>
                      </a:r>
                      <a:endParaRPr lang="en-US" sz="1150" dirty="0"/>
                    </a:p>
                  </a:txBody>
                  <a:tcPr marL="73152" marR="73152"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buNone/>
                      </a:pPr>
                      <a:r>
                        <a:rPr lang="en-US" sz="1150" dirty="0">
                          <a:solidFill>
                            <a:srgbClr val="000000"/>
                          </a:solidFill>
                        </a:rPr>
                        <a:t>Keeping it private could quietly mean less help.</a:t>
                      </a:r>
                      <a:endParaRPr lang="en-US" sz="1150" dirty="0"/>
                    </a:p>
                  </a:txBody>
                  <a:tcPr marL="73152" marR="73152"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buNone/>
                      </a:pPr>
                      <a:r>
                        <a:rPr lang="en-US" sz="1150" dirty="0">
                          <a:solidFill>
                            <a:srgbClr val="000000"/>
                          </a:solidFill>
                        </a:rPr>
                        <a:t>Answering is voluntary. Declining can never lower the chance of an invitation.</a:t>
                      </a:r>
                      <a:endParaRPr lang="en-US" sz="1150" dirty="0"/>
                    </a:p>
                  </a:txBody>
                  <a:tcPr marL="73152" marR="73152"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card 134"/>
          <p:cNvSpPr/>
          <p:nvPr/>
        </p:nvSpPr>
        <p:spPr>
          <a:xfrm>
            <a:off x="457200" y="3611880"/>
            <a:ext cx="8229600" cy="658368"/>
          </a:xfrm>
          <a:prstGeom prst="rect">
            <a:avLst/>
          </a:prstGeom>
          <a:solidFill>
            <a:schemeClr val="accent1"/>
          </a:solidFill>
          <a:ln/>
        </p:spPr>
        <p:txBody>
          <a:bodyPr/>
          <a:lstStyle/>
          <a:p>
            <a:endParaRPr lang="en-US"/>
          </a:p>
        </p:txBody>
      </p:sp>
      <p:sp>
        <p:nvSpPr>
          <p:cNvPr id="7" name="text 135"/>
          <p:cNvSpPr txBox="1"/>
          <p:nvPr/>
        </p:nvSpPr>
        <p:spPr>
          <a:xfrm>
            <a:off x="640080" y="3611880"/>
            <a:ext cx="5943600" cy="658368"/>
          </a:xfrm>
          <a:prstGeom prst="rect">
            <a:avLst/>
          </a:prstGeom>
          <a:noFill/>
          <a:ln/>
        </p:spPr>
        <p:txBody>
          <a:bodyPr wrap="square" lIns="0" tIns="0" rIns="0" bIns="0" rtlCol="0" anchor="ctr"/>
          <a:lstStyle/>
          <a:p>
            <a:pPr marL="0" indent="0">
              <a:buNone/>
            </a:pPr>
            <a:r>
              <a:rPr lang="en-US" sz="1300" b="1">
                <a:solidFill>
                  <a:srgbClr val="9DC3E6"/>
                </a:solidFill>
              </a:rPr>
              <a:t>Accurate?</a:t>
            </a:r>
            <a:r>
              <a:rPr lang="en-US" sz="1300">
                <a:solidFill>
                  <a:srgbClr val="FFFFFF"/>
                </a:solidFill>
              </a:rPr>
              <a:t> Barely better than an age rule.  </a:t>
            </a:r>
            <a:r>
              <a:rPr lang="en-US" sz="1300" b="1">
                <a:solidFill>
                  <a:srgbClr val="9DC3E6"/>
                </a:solidFill>
              </a:rPr>
              <a:t>Fair?</a:t>
            </a:r>
            <a:r>
              <a:rPr lang="en-US" sz="1300">
                <a:solidFill>
                  <a:srgbClr val="FFFFFF"/>
                </a:solidFill>
              </a:rPr>
              <a:t> No, it misses young people most.</a:t>
            </a:r>
            <a:br>
              <a:rPr lang="en-US" sz="1300">
                <a:solidFill>
                  <a:srgbClr val="FFFFFF"/>
                </a:solidFill>
              </a:rPr>
            </a:br>
            <a:r>
              <a:rPr lang="en-US" sz="1300" b="1">
                <a:solidFill>
                  <a:srgbClr val="9DC3E6"/>
                </a:solidFill>
              </a:rPr>
              <a:t>Use it?</a:t>
            </a:r>
            <a:r>
              <a:rPr lang="en-US" sz="1300">
                <a:solidFill>
                  <a:srgbClr val="FFFFFF"/>
                </a:solidFill>
              </a:rPr>
              <a:t> Not as it is: it may only add help.</a:t>
            </a:r>
            <a:endParaRPr lang="en-US" sz="1300" dirty="0">
              <a:solidFill>
                <a:srgbClr val="FFFFFF"/>
              </a:solidFill>
            </a:endParaRPr>
          </a:p>
        </p:txBody>
      </p:sp>
      <p:sp>
        <p:nvSpPr>
          <p:cNvPr id="8" name="text 136"/>
          <p:cNvSpPr txBox="1"/>
          <p:nvPr/>
        </p:nvSpPr>
        <p:spPr>
          <a:xfrm>
            <a:off x="6675120" y="3611880"/>
            <a:ext cx="1828800" cy="658368"/>
          </a:xfrm>
          <a:prstGeom prst="rect">
            <a:avLst/>
          </a:prstGeom>
          <a:noFill/>
          <a:ln/>
        </p:spPr>
        <p:txBody>
          <a:bodyPr wrap="square" lIns="0" tIns="0" rIns="0" bIns="0" rtlCol="0" anchor="ctr"/>
          <a:lstStyle/>
          <a:p>
            <a:pPr marL="0" indent="0" algn="r">
              <a:buNone/>
            </a:pPr>
            <a:r>
              <a:rPr lang="en-US" sz="2200" b="1" dirty="0">
                <a:solidFill>
                  <a:schemeClr val="bg1"/>
                </a:solidFill>
                <a:latin typeface="Arial" pitchFamily="34" charset="0"/>
                <a:ea typeface="Arial" pitchFamily="34" charset="-122"/>
                <a:cs typeface="Arial" pitchFamily="34" charset="-120"/>
              </a:rPr>
              <a:t>Questions?</a:t>
            </a:r>
            <a:endParaRPr lang="en-US" sz="2200" dirty="0"/>
          </a:p>
        </p:txBody>
      </p:sp>
      <p:sp>
        <p:nvSpPr>
          <p:cNvPr id="5" name="text 137"/>
          <p:cNvSpPr txBox="1"/>
          <p:nvPr/>
        </p:nvSpPr>
        <p:spPr>
          <a:xfrm>
            <a:off x="457200" y="4334256"/>
            <a:ext cx="8229600" cy="219456"/>
          </a:xfrm>
          <a:prstGeom prst="rect">
            <a:avLst/>
          </a:prstGeom>
          <a:noFill/>
          <a:ln/>
        </p:spPr>
        <p:txBody>
          <a:bodyPr wrap="square" lIns="0" tIns="0" rIns="0" bIns="0" rtlCol="0" anchor="ctr"/>
          <a:lstStyle/>
          <a:p>
            <a:pPr marL="0" indent="0" algn="r">
              <a:buNone/>
            </a:pPr>
            <a:r>
              <a:rPr lang="en-US" sz="1000" dirty="0">
                <a:solidFill>
                  <a:schemeClr val="accent1"/>
                </a:solidFill>
              </a:rPr>
              <a:t>Notebook, README and ethics: github.com/lucasjansze/Hackathon_5</a:t>
            </a:r>
            <a:endParaRPr lang="en-US" sz="1000" dirty="0"/>
          </a:p>
        </p:txBody>
      </p:sp>
      <p:sp>
        <p:nvSpPr>
          <p:cNvPr id="25" name="Slide Number Placeholder 0"/>
          <p:cNvSpPr>
            <a:spLocks noGrp="1"/>
          </p:cNvSpPr>
          <p:nvPr>
            <p:ph type="sldNum" sz="quarter" idx="4294967295"/>
          </p:nvPr>
        </p:nvSpPr>
        <p:spPr>
          <a:xfrm>
            <a:off x="8138160" y="4663440"/>
            <a:ext cx="548640" cy="292608"/>
          </a:xfrm>
          <a:prstGeom prst="rect">
            <a:avLst/>
          </a:prstGeom>
          <a:extLst>
            <a:ext uri="{C572A759-6A51-4108-AA02-DFA0A04FC94B}">
              <ma14:wrappingTextBoxFlag xmlns="" xmlns:ma14="http://schemas.microsoft.com/office/mac/drawingml/2011/main" val="0"/>
            </a:ext>
          </a:extLst>
        </p:spPr>
        <p:txBody>
          <a:bodyPr/>
          <a:lstStyle>
            <a:lvl1pPr>
              <a:defRPr sz="900">
                <a:solidFill>
                  <a:srgbClr val="595959"/>
                </a:solidFill>
              </a:defRPr>
            </a:lvl1pPr>
          </a:lstStyle>
          <a:p>
            <a:pPr algn="r"/>
            <a:fld id="{F7021451-1387-4CA6-816F-3879F97B5CBC}" type="slidenum">
              <a:rPr lang="en-US" b="0"/>
              <a:t>10</a:t>
            </a:fld>
            <a:endParaRPr lang="en-US"/>
          </a:p>
        </p:txBody>
      </p:sp>
    </p:spTree>
  </p:cSld>
  <p:clrMapOvr>
    <a:masterClrMapping/>
  </p:clrMapOvr>
</p:sld>
</file>

<file path=ppt/theme/theme1.xml><?xml version="1.0" encoding="utf-8"?>
<a:theme xmlns:a="http://schemas.openxmlformats.org/drawingml/2006/main" name="Who needs early help">
  <a:themeElements>
    <a:clrScheme name="Who needs early help">
      <a:dk1>
        <a:srgbClr val="000000"/>
      </a:dk1>
      <a:lt1>
        <a:srgbClr val="FFFFFF"/>
      </a:lt1>
      <a:dk2>
        <a:srgbClr val="1F4E79"/>
      </a:dk2>
      <a:lt2>
        <a:srgbClr val="FFFFFF"/>
      </a:lt2>
      <a:accent1>
        <a:srgbClr val="1F4E79"/>
      </a:accent1>
      <a:accent2>
        <a:srgbClr val="9DC3E6"/>
      </a:accent2>
      <a:accent3>
        <a:srgbClr val="595959"/>
      </a:accent3>
      <a:accent4>
        <a:srgbClr val="1F4E79"/>
      </a:accent4>
      <a:accent5>
        <a:srgbClr val="9DC3E6"/>
      </a:accent5>
      <a:accent6>
        <a:srgbClr val="595959"/>
      </a:accent6>
      <a:hlink>
        <a:srgbClr val="1F4E79"/>
      </a:hlink>
      <a:folHlink>
        <a:srgbClr val="1F4E79"/>
      </a:folHlink>
    </a:clrScheme>
    <a:fontScheme name="Who needs early help">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3771</Words>
  <Application>Microsoft Office PowerPoint</Application>
  <PresentationFormat>Diavoorstelling (16:9)</PresentationFormat>
  <Paragraphs>342</Paragraphs>
  <Slides>10</Slides>
  <Notes>10</Notes>
  <HiddenSlides>0</HiddenSlides>
  <MMClips>0</MMClips>
  <ScaleCrop>false</ScaleCrop>
  <HeadingPairs>
    <vt:vector size="6" baseType="variant">
      <vt:variant>
        <vt:lpstr>Gebruikte lettertypen</vt:lpstr>
      </vt:variant>
      <vt:variant>
        <vt:i4>3</vt:i4>
      </vt:variant>
      <vt:variant>
        <vt:lpstr>Thema</vt:lpstr>
      </vt:variant>
      <vt:variant>
        <vt:i4>1</vt:i4>
      </vt:variant>
      <vt:variant>
        <vt:lpstr>Diatitels</vt:lpstr>
      </vt:variant>
      <vt:variant>
        <vt:i4>10</vt:i4>
      </vt:variant>
    </vt:vector>
  </HeadingPairs>
  <TitlesOfParts>
    <vt:vector size="14" baseType="lpstr">
      <vt:lpstr>Arial</vt:lpstr>
      <vt:lpstr>Calibri</vt:lpstr>
      <vt:lpstr>Courier New</vt:lpstr>
      <vt:lpstr>Who needs early help</vt:lpstr>
      <vt:lpstr>Who needs early help?</vt:lpstr>
      <vt:lpstr>Some who get stuck are not seen until month seven</vt:lpstr>
      <vt:lpstr>Decent work for all, so we check who the model misses</vt:lpstr>
      <vt:lpstr>For the work coach, about people who just lost a job</vt:lpstr>
      <vt:lpstr>From monthly files to one prediction, in seven steps</vt:lpstr>
      <vt:lpstr>The best model barely beats one question about age</vt:lpstr>
      <vt:lpstr>It finds 98 of the 158, and it misses young people most</vt:lpstr>
      <vt:lpstr>One live prediction, with reasons a coach can check</vt:lpstr>
      <vt:lpstr>A reason a coach can discuss, on a split we can trust</vt:lpstr>
      <vt:lpstr>Three risks for the job seeker, and what we did</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Who needs early help? Hackathon 5 presentation</dc:title>
  <dc:subject>PptxGenJS Presentation</dc:subject>
  <dc:creator>Lucas Jansze, Minhyeok Sung</dc:creator>
  <cp:lastModifiedBy>Lucas jansze Jansze (23052236)</cp:lastModifiedBy>
  <cp:revision>2</cp:revision>
  <dcterms:created xsi:type="dcterms:W3CDTF">2026-10-07T18:47:44Z</dcterms:created>
  <dcterms:modified xsi:type="dcterms:W3CDTF">2026-10-08T09:29:13Z</dcterms:modified>
</cp:coreProperties>
</file>