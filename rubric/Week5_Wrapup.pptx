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16:45. Nobody packs up — 'one more thing', twenty minutes. Say the tool, not the SDG: 'Friday's tool is scikit-learn — the one you used all day. Which SDG it has to serve, you hear on Friday.' Then the honest part: today we cheated a little. The breast-cancer data was clean, all numbers, no gaps. Tomorrow you bring data you found yourself, and it will be messy. So the next twenty minutes are the recipe for doing it properly. Promise them: every step is small, and all of it is in the last section of today's notebook, ready to copy. They do not need to take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Left card: what today's data gave us for free. Right card: what real data does to you. Read two or three of the right-hand items with a face. Then the sentence in the band, and say it twice: the model is one line of code — .fit(). Everything around that line is the actual job, and it is also where almost every mistake happens. A model trained on badly prepared data does not crash; it just quietly gives you a wrong number with two decimals. That is what makes this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 the map. Eight steps, in this order, and the order matters. Walk the arrows quickly; each one gets its own slide. The notebook's wrap-up section has the same eight steps with the same names, so tomorrow they can literally go down the list. Point at step 2: we split BEFORE cleaning. That is the one people get wrong most often. Our example for all eight: the Titanic — 891 real passengers, and the question 'who survived?'. It has every problem your Friday data will have, and it asks the question this course keeps asking: who did the system favour?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Step 1, look before you touch. Four questions, four lines of pandas — show the code, do not teach pandas; the notebook explains the four lines. Then the Titanic answers: 177 ages missing, deck almost empty (drop it), only 38% survived — remember that number — and 15 people with a fare of 0. Ask the room: is a fare of 0 real? Crew? Free ticket? A gap in disguise? Answer: you cannot tell from the numbers; you have to find out and write down what you decided. Then the red box — the cheat column. The Titanic file has a column 'alive' which is just 'survived' in words. A model that sees it scores 100%. Rule of thumb, make them repeat it: a score that looks too good to be true is a bug, not a victory. On Friday: for every column ask 'would I know this BEFORE I need the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Left: split first. The test set is an exam in a sealed envelope; it goes in the drawer before you clean, fill or tune anything, and you open it once, at the end. New word: stratify=y — both parts get the same 38% survivors. Always, for classification. Right: the lazy model. DummyClassifier always says the most common answer — 'did not survive' — and scores 61% accuracy while finding zero survivors. Let that sink in: 61% for a model that learned nothing. So every model has to beat the lazy model, and accuracy is the wrong scoreboard when one answer is much more common. That is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 model eats only numbers, with no gaps, and KNN and logistic regression want them on the same scale. Three jobs, three tools — you do not need to remember the class names, they are in the notebook. Gaps: fill with the median of the training passengers. Words: one-hot — 'sex' becomes two yes/no columns; show the mini table. Scale: this is the one to make intuitive. KNN measures distance. A difference of 50 in fare counts fifty times more than one extra sibling — not because fare matters more, but because its numbers are bigger. Scaling makes every column equally loud. The proof in the green box: same KNN, same data — 0.59 without scaling, 0.72 with. One line of code, a big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Pipeline is a recipe card: the cleaning steps and the model glued into one object. Why it matters: leakage. Left, the wrong way — scale and fill the whole table, then split. The median and the scale were computed WITH the test passengers, so you peeked in the envelope; your test score is a little too good and you will never notice. Right: split first, then put everything in a Pipeline. When you fit it, it learns the median and the scale from the training part only, and applies exactly those numbers to anything new — the test set, or a new passenger. The good news: if you use a Pipeline, you do not have to think about leakage any more. It is the seatbelt.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 the one decision that is not about code. Three scores, each is just a question about the confusion matrix they already know. Recall: of all the real yeses, how many did we find? Precision: of everyone we said yes to, how many really were? F1: the balance. Walk the example: 100 passengers, 40 survived, the model says survived to 30, 24 of them right — recall 0.60, precision 0.80. Then the rule: pick the scoreboard BEFORE you train, because afterwards you are tempted to pick whichever number looks best. And how to pick: which mistake hurts the people your model is about more? A miss, or a false alarm? That is an ethical question, not a coding one — and it is the most important sentence in their notebook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Tuning: n_neighbors=5 today was a guess. How do we find a better one without opening the envelope? Practice exams. Cut the training data in five parts; each part takes a turn as the practice exam; five scores. The average says how good a setting is; the spread says how much luck is in it — that band on the chart. Right: we tried k = 1, 3, 5 … 29, five practice exams each. Best: k = 17. Point at the band: the differences between k = 15 and k = 29 are smaller than the band, so they are all about equally good. That idea — 'is the difference bigger than the luck?' — comes back on the next-but-one slide. Important: same practice exams (same random_state) for every model, otherwise the comparison is not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What they just saw was a for-loop — Week 2. It is so common that scikit-learn has it built in: GridSearchCV. Give it the Pipeline and a dictionary of settings — Week 3 — and it tries every one on the same practice exams and keeps the best. The table: the one knob per model that matters most. KNN — how many neighbours vote. Logistic regression — C, how eager it is to bend towards the training data. Tree — max_depth, how many questions deep; deep means memorising, which is today's overfitting. The double underscore in model__n_neighbors just means 'the n_neighbors of the step called model'. They do not need to understand it — copy it from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Step 7: now, and only now, open the envelope. Every tuned model takes the test once, and everything goes in one table with the lazy model on the first row — that is also exactly the table the hackathon asks for. How to read it: train vs practice/test — a big gap is overfitting; the tree's test score drops the most. And the key lesson: KNN, logistic regression and the tree are within about 0.03 of each other on the practice exams — that is inside the luck band. So it is a tie. When it is a tie, choose on other grounds: logistic regression gives a probability and you can explain every weight; the tree is readable but misses the most survivors. That reasoning is what a recommendation looks like. And: never re-tune after seeing the test score — then the exam becomes another practice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 the AI-for-Good slide; slow down. Step 8: split the test results per group. Overall recall 0.67 looks fine. Per group: it finds 96% of the women who survived and 12% of the men. It learned the rule of 1912, 'women and children first', and turned it into 'women survive, men do not'. Third class: half. Ask: if a model like this decided who gets help first in a disaster today, what would go wrong? Then the general point: the history inside the data becomes the model's rule — confidently. Every one of our three models learned the same thing; a better algorithm does not fix it. People do: by checking the groups and writing down who the model serves worst. Right side: using it — a new passenger in, an answer AND a probability out. Always show the probability: 'survived, 51% sure' is a different message from '95%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checklist is the recipe as a list of ways to fail without noticing — it is also the last cell of the notebook. Homework: run the wrap-up section to the end, do the four 'Your turn' cells (the tree tuning plot is the most useful one), and check that pandas, scikit-learn and matplotlib import in their editor. Close: 'Friday: your pair, the SDG, and a dataset you find yourself. The model is one line. The recipe is the job.' If you are running late, cut slide 10 (GridSearchCV — the notebook covers it) and shorten slide 7 to the one-line rule: everything inside a Pipeline, split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0" y="0"/>
            <a:ext cx="320040" cy="5143500"/>
          </a:xfrm>
          <a:prstGeom prst="rect">
            <a:avLst/>
          </a:prstGeom>
          <a:solidFill>
            <a:srgbClr val="F97316"/>
          </a:solidFill>
          <a:ln w="12700">
            <a:solidFill>
              <a:srgbClr val="F97316"/>
            </a:solidFill>
            <a:prstDash val="solid"/>
          </a:ln>
        </p:spPr>
      </p:sp>
      <p:sp>
        <p:nvSpPr>
          <p:cNvPr id="4" name="Shape 2"/>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5" name="Text 3"/>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16:45–17:05</a:t>
            </a:r>
            <a:endParaRPr lang="en-US" sz="800" dirty="0"/>
          </a:p>
        </p:txBody>
      </p:sp>
      <p:sp>
        <p:nvSpPr>
          <p:cNvPr id="6" name="Text 4"/>
          <p:cNvSpPr/>
          <p:nvPr/>
        </p:nvSpPr>
        <p:spPr>
          <a:xfrm>
            <a:off x="731520" y="914400"/>
            <a:ext cx="7772400" cy="365760"/>
          </a:xfrm>
          <a:prstGeom prst="rect">
            <a:avLst/>
          </a:prstGeom>
          <a:noFill/>
          <a:ln/>
        </p:spPr>
        <p:txBody>
          <a:bodyPr wrap="square" lIns="0" tIns="0" rIns="0" bIns="0" rtlCol="0" anchor="ctr"/>
          <a:lstStyle/>
          <a:p>
            <a:pPr indent="0" marL="0">
              <a:buNone/>
            </a:pPr>
            <a:r>
              <a:rPr lang="en-US" sz="1400" i="1" dirty="0">
                <a:solidFill>
                  <a:srgbClr val="CCFBF1"/>
                </a:solidFill>
              </a:rPr>
              <a:t>One more thing before you go</a:t>
            </a:r>
            <a:endParaRPr lang="en-US" sz="1400" dirty="0"/>
          </a:p>
        </p:txBody>
      </p:sp>
      <p:sp>
        <p:nvSpPr>
          <p:cNvPr id="7" name="Text 5"/>
          <p:cNvSpPr/>
          <p:nvPr/>
        </p:nvSpPr>
        <p:spPr>
          <a:xfrm>
            <a:off x="731520" y="1325880"/>
            <a:ext cx="7955280" cy="822960"/>
          </a:xfrm>
          <a:prstGeom prst="rect">
            <a:avLst/>
          </a:prstGeom>
          <a:noFill/>
          <a:ln/>
        </p:spPr>
        <p:txBody>
          <a:bodyPr wrap="square" lIns="0" tIns="0" rIns="0" bIns="0" rtlCol="0" anchor="ctr"/>
          <a:lstStyle/>
          <a:p>
            <a:pPr indent="0" marL="0">
              <a:buNone/>
            </a:pPr>
            <a:r>
              <a:rPr lang="en-US" sz="4000" b="1" dirty="0">
                <a:solidFill>
                  <a:srgbClr val="FFFFFF"/>
                </a:solidFill>
              </a:rPr>
              <a:t>Friday's tool: scikit-learn</a:t>
            </a:r>
            <a:endParaRPr lang="en-US" sz="4000" dirty="0"/>
          </a:p>
        </p:txBody>
      </p:sp>
      <p:sp>
        <p:nvSpPr>
          <p:cNvPr id="8" name="Text 6"/>
          <p:cNvSpPr/>
          <p:nvPr/>
        </p:nvSpPr>
        <p:spPr>
          <a:xfrm>
            <a:off x="731520" y="2194560"/>
            <a:ext cx="7772400" cy="411480"/>
          </a:xfrm>
          <a:prstGeom prst="rect">
            <a:avLst/>
          </a:prstGeom>
          <a:noFill/>
          <a:ln/>
        </p:spPr>
        <p:txBody>
          <a:bodyPr wrap="square" lIns="0" tIns="0" rIns="0" bIns="0" rtlCol="0" anchor="ctr"/>
          <a:lstStyle/>
          <a:p>
            <a:pPr indent="0" marL="0">
              <a:buNone/>
            </a:pPr>
            <a:r>
              <a:rPr lang="en-US" sz="1800" b="1" dirty="0">
                <a:solidFill>
                  <a:srgbClr val="0D9488"/>
                </a:solidFill>
              </a:rPr>
              <a:t>The same tool as today — now done properly.</a:t>
            </a:r>
            <a:endParaRPr lang="en-US" sz="1800" dirty="0"/>
          </a:p>
        </p:txBody>
      </p:sp>
      <p:sp>
        <p:nvSpPr>
          <p:cNvPr id="9" name="Text 7"/>
          <p:cNvSpPr/>
          <p:nvPr/>
        </p:nvSpPr>
        <p:spPr>
          <a:xfrm>
            <a:off x="731520" y="2606040"/>
            <a:ext cx="7772400" cy="365760"/>
          </a:xfrm>
          <a:prstGeom prst="rect">
            <a:avLst/>
          </a:prstGeom>
          <a:noFill/>
          <a:ln/>
        </p:spPr>
        <p:txBody>
          <a:bodyPr wrap="square" lIns="0" tIns="0" rIns="0" bIns="0" rtlCol="0" anchor="ctr"/>
          <a:lstStyle/>
          <a:p>
            <a:pPr indent="0" marL="0">
              <a:buNone/>
            </a:pPr>
            <a:r>
              <a:rPr lang="en-US" sz="1300" dirty="0">
                <a:solidFill>
                  <a:srgbClr val="E2E8F0"/>
                </a:solidFill>
              </a:rPr>
              <a:t>Real data is messy. Here is the recipe that keeps you honest.</a:t>
            </a:r>
            <a:endParaRPr lang="en-US" sz="1300" dirty="0"/>
          </a:p>
        </p:txBody>
      </p:sp>
      <p:sp>
        <p:nvSpPr>
          <p:cNvPr id="10" name="Shape 8"/>
          <p:cNvSpPr/>
          <p:nvPr/>
        </p:nvSpPr>
        <p:spPr>
          <a:xfrm>
            <a:off x="731520" y="3246120"/>
            <a:ext cx="7680960" cy="914400"/>
          </a:xfrm>
          <a:prstGeom prst="rect">
            <a:avLst/>
          </a:prstGeom>
          <a:solidFill>
            <a:srgbClr val="1C4587">
              <a:alpha val="70000"/>
            </a:srgbClr>
          </a:solidFill>
          <a:ln w="12700">
            <a:solidFill>
              <a:srgbClr val="1C4587">
                <a:alpha val="70000"/>
              </a:srgbClr>
            </a:solidFill>
            <a:prstDash val="solid"/>
          </a:ln>
        </p:spPr>
      </p:sp>
      <p:sp>
        <p:nvSpPr>
          <p:cNvPr id="11" name="Text 9"/>
          <p:cNvSpPr/>
          <p:nvPr/>
        </p:nvSpPr>
        <p:spPr>
          <a:xfrm>
            <a:off x="868680" y="3246120"/>
            <a:ext cx="7406640" cy="914400"/>
          </a:xfrm>
          <a:prstGeom prst="rect">
            <a:avLst/>
          </a:prstGeom>
          <a:noFill/>
          <a:ln/>
        </p:spPr>
        <p:txBody>
          <a:bodyPr wrap="square" rtlCol="0" anchor="ctr"/>
          <a:lstStyle/>
          <a:p>
            <a:pPr indent="0" marL="0">
              <a:buNone/>
            </a:pPr>
            <a:r>
              <a:rPr lang="en-US" sz="1200" b="1" dirty="0">
                <a:solidFill>
                  <a:srgbClr val="FFFFFF"/>
                </a:solidFill>
              </a:rPr>
              <a:t>Which SDG it has to serve, you find out on the day.  </a:t>
            </a:r>
            <a:pPr indent="0" marL="0">
              <a:buNone/>
            </a:pPr>
            <a:r>
              <a:rPr lang="en-US" sz="1200" dirty="0">
                <a:solidFill>
                  <a:srgbClr val="E2E8F0"/>
                </a:solidFill>
              </a:rPr>
              <a:t>Now: eight small steps, one messy dataset. Everything is in the last section of today's notebook — no need to write along.</a:t>
            </a:r>
            <a:endParaRPr lang="en-US" sz="1200" dirty="0"/>
          </a:p>
        </p:txBody>
      </p:sp>
      <p:sp>
        <p:nvSpPr>
          <p:cNvPr id="12" name="Text 10"/>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13" name="Text 11"/>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THE HONEST PART</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Today's data was too clean</a:t>
            </a:r>
            <a:endParaRPr lang="en-US" sz="2400" dirty="0"/>
          </a:p>
        </p:txBody>
      </p:sp>
      <p:sp>
        <p:nvSpPr>
          <p:cNvPr id="6" name="Text 4"/>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The breast-cancer data was a gift. Your Friday data will not be.</a:t>
            </a:r>
            <a:endParaRPr lang="en-US" sz="1300" dirty="0"/>
          </a:p>
        </p:txBody>
      </p:sp>
      <p:sp>
        <p:nvSpPr>
          <p:cNvPr id="7" name="Shape 5"/>
          <p:cNvSpPr/>
          <p:nvPr/>
        </p:nvSpPr>
        <p:spPr>
          <a:xfrm>
            <a:off x="457200" y="1463040"/>
            <a:ext cx="3977640" cy="2240280"/>
          </a:xfrm>
          <a:prstGeom prst="rect">
            <a:avLst/>
          </a:prstGeom>
          <a:solidFill>
            <a:srgbClr val="FFFFFF"/>
          </a:solidFill>
          <a:ln w="12700">
            <a:solidFill>
              <a:srgbClr val="16A34A"/>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457200" y="1463040"/>
            <a:ext cx="3977640" cy="347472"/>
          </a:xfrm>
          <a:prstGeom prst="rect">
            <a:avLst/>
          </a:prstGeom>
          <a:solidFill>
            <a:srgbClr val="16A34A"/>
          </a:solidFill>
          <a:ln w="12700">
            <a:solidFill>
              <a:srgbClr val="16A34A"/>
            </a:solidFill>
            <a:prstDash val="solid"/>
          </a:ln>
        </p:spPr>
      </p:sp>
      <p:sp>
        <p:nvSpPr>
          <p:cNvPr id="9" name="Text 7"/>
          <p:cNvSpPr/>
          <p:nvPr/>
        </p:nvSpPr>
        <p:spPr>
          <a:xfrm>
            <a:off x="566928" y="1463040"/>
            <a:ext cx="3758184" cy="347472"/>
          </a:xfrm>
          <a:prstGeom prst="rect">
            <a:avLst/>
          </a:prstGeom>
          <a:noFill/>
          <a:ln/>
        </p:spPr>
        <p:txBody>
          <a:bodyPr wrap="square" lIns="0" tIns="0" rIns="0" bIns="0" rtlCol="0" anchor="ctr"/>
          <a:lstStyle/>
          <a:p>
            <a:pPr indent="0" marL="0">
              <a:buNone/>
            </a:pPr>
            <a:r>
              <a:rPr lang="en-US" sz="1150" b="1" dirty="0">
                <a:solidFill>
                  <a:srgbClr val="FFFFFF"/>
                </a:solidFill>
              </a:rPr>
              <a:t>Today — handed to you</a:t>
            </a:r>
            <a:endParaRPr lang="en-US" sz="1150" dirty="0"/>
          </a:p>
        </p:txBody>
      </p:sp>
      <p:sp>
        <p:nvSpPr>
          <p:cNvPr id="10" name="Text 8"/>
          <p:cNvSpPr/>
          <p:nvPr/>
        </p:nvSpPr>
        <p:spPr>
          <a:xfrm>
            <a:off x="566928" y="1874520"/>
            <a:ext cx="3758184" cy="1764792"/>
          </a:xfrm>
          <a:prstGeom prst="rect">
            <a:avLst/>
          </a:prstGeom>
          <a:noFill/>
          <a:ln/>
        </p:spPr>
        <p:txBody>
          <a:bodyPr wrap="square" lIns="0" tIns="0" rIns="0" bIns="0" rtlCol="0" anchor="t"/>
          <a:lstStyle/>
          <a:p>
            <a:pPr indent="0" marL="0">
              <a:buNone/>
            </a:pPr>
            <a:r>
              <a:rPr lang="en-US" sz="1500" dirty="0">
                <a:solidFill>
                  <a:srgbClr val="1E293B"/>
                </a:solidFill>
              </a:rPr>
              <a:t>✓  only numbers</a:t>
            </a:r>
            <a:endParaRPr lang="en-US" sz="1500" dirty="0"/>
          </a:p>
          <a:p>
            <a:pPr indent="0" marL="0">
              <a:buNone/>
            </a:pPr>
            <a:r>
              <a:rPr lang="en-US" sz="1500" dirty="0">
                <a:solidFill>
                  <a:srgbClr val="1E293B"/>
                </a:solidFill>
              </a:rPr>
              <a:t>✓  no empty cells</a:t>
            </a:r>
            <a:endParaRPr lang="en-US" sz="1500" dirty="0"/>
          </a:p>
          <a:p>
            <a:pPr indent="0" marL="0">
              <a:buNone/>
            </a:pPr>
            <a:r>
              <a:rPr lang="en-US" sz="1500" dirty="0">
                <a:solidFill>
                  <a:srgbClr val="1E293B"/>
                </a:solidFill>
              </a:rPr>
              <a:t>✓  no weird values</a:t>
            </a:r>
            <a:endParaRPr lang="en-US" sz="1500" dirty="0"/>
          </a:p>
          <a:p>
            <a:pPr indent="0" marL="0">
              <a:buNone/>
            </a:pPr>
            <a:r>
              <a:rPr lang="en-US" sz="1500" dirty="0">
                <a:solidFill>
                  <a:srgbClr val="1E293B"/>
                </a:solidFill>
              </a:rPr>
              <a:t>✓  every column allowed</a:t>
            </a:r>
            <a:endParaRPr lang="en-US" sz="1500" dirty="0"/>
          </a:p>
          <a:p>
            <a:pPr indent="0" marL="0">
              <a:buNone/>
            </a:pPr>
            <a:r>
              <a:rPr lang="en-US" sz="1500" dirty="0">
                <a:solidFill>
                  <a:srgbClr val="1E293B"/>
                </a:solidFill>
              </a:rPr>
              <a:t>✓  answers nicely mixed</a:t>
            </a:r>
            <a:endParaRPr lang="en-US" sz="1500" dirty="0"/>
          </a:p>
        </p:txBody>
      </p:sp>
      <p:sp>
        <p:nvSpPr>
          <p:cNvPr id="11" name="Shape 9"/>
          <p:cNvSpPr/>
          <p:nvPr/>
        </p:nvSpPr>
        <p:spPr>
          <a:xfrm>
            <a:off x="4709160" y="1463040"/>
            <a:ext cx="3977640" cy="224028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709160" y="1463040"/>
            <a:ext cx="3977640" cy="347472"/>
          </a:xfrm>
          <a:prstGeom prst="rect">
            <a:avLst/>
          </a:prstGeom>
          <a:solidFill>
            <a:srgbClr val="F97316"/>
          </a:solidFill>
          <a:ln w="12700">
            <a:solidFill>
              <a:srgbClr val="F97316"/>
            </a:solidFill>
            <a:prstDash val="solid"/>
          </a:ln>
        </p:spPr>
      </p:sp>
      <p:sp>
        <p:nvSpPr>
          <p:cNvPr id="13" name="Text 11"/>
          <p:cNvSpPr/>
          <p:nvPr/>
        </p:nvSpPr>
        <p:spPr>
          <a:xfrm>
            <a:off x="4818888" y="1463040"/>
            <a:ext cx="3758184" cy="347472"/>
          </a:xfrm>
          <a:prstGeom prst="rect">
            <a:avLst/>
          </a:prstGeom>
          <a:noFill/>
          <a:ln/>
        </p:spPr>
        <p:txBody>
          <a:bodyPr wrap="square" lIns="0" tIns="0" rIns="0" bIns="0" rtlCol="0" anchor="ctr"/>
          <a:lstStyle/>
          <a:p>
            <a:pPr indent="0" marL="0">
              <a:buNone/>
            </a:pPr>
            <a:r>
              <a:rPr lang="en-US" sz="1150" b="1" dirty="0">
                <a:solidFill>
                  <a:srgbClr val="FFFFFF"/>
                </a:solidFill>
              </a:rPr>
              <a:t>Real data — what you will find</a:t>
            </a:r>
            <a:endParaRPr lang="en-US" sz="1150" dirty="0"/>
          </a:p>
        </p:txBody>
      </p:sp>
      <p:sp>
        <p:nvSpPr>
          <p:cNvPr id="14" name="Text 12"/>
          <p:cNvSpPr/>
          <p:nvPr/>
        </p:nvSpPr>
        <p:spPr>
          <a:xfrm>
            <a:off x="4818888" y="1874520"/>
            <a:ext cx="3758184" cy="1764792"/>
          </a:xfrm>
          <a:prstGeom prst="rect">
            <a:avLst/>
          </a:prstGeom>
          <a:noFill/>
          <a:ln/>
        </p:spPr>
        <p:txBody>
          <a:bodyPr wrap="square" lIns="0" tIns="0" rIns="0" bIns="0" rtlCol="0" anchor="t"/>
          <a:lstStyle/>
          <a:p>
            <a:pPr indent="0" marL="0">
              <a:buNone/>
            </a:pPr>
            <a:r>
              <a:rPr lang="en-US" sz="1500" dirty="0">
                <a:solidFill>
                  <a:srgbClr val="1E293B"/>
                </a:solidFill>
              </a:rPr>
              <a:t>✗  words instead of numbers ("male", "S")</a:t>
            </a:r>
            <a:endParaRPr lang="en-US" sz="1500" dirty="0"/>
          </a:p>
          <a:p>
            <a:pPr indent="0" marL="0">
              <a:buNone/>
            </a:pPr>
            <a:r>
              <a:rPr lang="en-US" sz="1500" dirty="0">
                <a:solidFill>
                  <a:srgbClr val="1E293B"/>
                </a:solidFill>
              </a:rPr>
              <a:t>✗  empty cells everywhere</a:t>
            </a:r>
            <a:endParaRPr lang="en-US" sz="1500" dirty="0"/>
          </a:p>
          <a:p>
            <a:pPr indent="0" marL="0">
              <a:buNone/>
            </a:pPr>
            <a:r>
              <a:rPr lang="en-US" sz="1500" dirty="0">
                <a:solidFill>
                  <a:srgbClr val="1E293B"/>
                </a:solidFill>
              </a:rPr>
              <a:t>✗  values that cannot be true</a:t>
            </a:r>
            <a:endParaRPr lang="en-US" sz="1500" dirty="0"/>
          </a:p>
          <a:p>
            <a:pPr indent="0" marL="0">
              <a:buNone/>
            </a:pPr>
            <a:r>
              <a:rPr lang="en-US" sz="1500" dirty="0">
                <a:solidFill>
                  <a:srgbClr val="1E293B"/>
                </a:solidFill>
              </a:rPr>
              <a:t>✗  a column that secretly holds the answer</a:t>
            </a:r>
            <a:endParaRPr lang="en-US" sz="1500" dirty="0"/>
          </a:p>
          <a:p>
            <a:pPr indent="0" marL="0">
              <a:buNone/>
            </a:pPr>
            <a:r>
              <a:rPr lang="en-US" sz="1500" dirty="0">
                <a:solidFill>
                  <a:srgbClr val="1E293B"/>
                </a:solidFill>
              </a:rPr>
              <a:t>✗  90 % of the rows say the same thing</a:t>
            </a:r>
            <a:endParaRPr lang="en-US" sz="1500" dirty="0"/>
          </a:p>
        </p:txBody>
      </p:sp>
      <p:sp>
        <p:nvSpPr>
          <p:cNvPr id="15" name="Shape 13"/>
          <p:cNvSpPr/>
          <p:nvPr/>
        </p:nvSpPr>
        <p:spPr>
          <a:xfrm>
            <a:off x="457200" y="3886200"/>
            <a:ext cx="8229600" cy="822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94360" y="3886200"/>
            <a:ext cx="7955280" cy="822960"/>
          </a:xfrm>
          <a:prstGeom prst="rect">
            <a:avLst/>
          </a:prstGeom>
          <a:noFill/>
          <a:ln/>
        </p:spPr>
        <p:txBody>
          <a:bodyPr wrap="square" lIns="0" tIns="0" rIns="0" bIns="0" rtlCol="0" anchor="ctr"/>
          <a:lstStyle/>
          <a:p>
            <a:pPr indent="0" marL="0">
              <a:buNone/>
            </a:pPr>
            <a:r>
              <a:rPr lang="en-US" sz="1150" b="1" dirty="0">
                <a:solidFill>
                  <a:srgbClr val="0A2342"/>
                </a:solidFill>
              </a:rPr>
              <a:t>The model is one line of code.  </a:t>
            </a:r>
            <a:pPr indent="0" marL="0">
              <a:buNone/>
            </a:pPr>
            <a:r>
              <a:rPr lang="en-US" sz="1150" dirty="0">
                <a:solidFill>
                  <a:srgbClr val="1E293B"/>
                </a:solidFill>
              </a:rPr>
              <a:t>Everything around it is the actual job — and a model trained on badly prepared data does not crash. It quietly gives you a wrong number with two decimals.</a:t>
            </a:r>
            <a:endParaRPr lang="en-US" sz="1150" dirty="0"/>
          </a:p>
        </p:txBody>
      </p:sp>
      <p:sp>
        <p:nvSpPr>
          <p:cNvPr id="17" name="Text 15"/>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18" name="Text 16"/>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THE MAP</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The proper recipe: eight small steps</a:t>
            </a:r>
            <a:endParaRPr lang="en-US" sz="2400" dirty="0"/>
          </a:p>
        </p:txBody>
      </p:sp>
      <p:sp>
        <p:nvSpPr>
          <p:cNvPr id="6" name="Text 4"/>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Same names, same order as the last section of the notebook.</a:t>
            </a:r>
            <a:endParaRPr lang="en-US" sz="1300" dirty="0"/>
          </a:p>
        </p:txBody>
      </p:sp>
      <p:sp>
        <p:nvSpPr>
          <p:cNvPr id="7" name="Shape 5"/>
          <p:cNvSpPr/>
          <p:nvPr/>
        </p:nvSpPr>
        <p:spPr>
          <a:xfrm>
            <a:off x="457200" y="1463040"/>
            <a:ext cx="1874520" cy="132588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548640" y="1572768"/>
            <a:ext cx="384048" cy="384048"/>
          </a:xfrm>
          <a:prstGeom prst="ellipse">
            <a:avLst/>
          </a:prstGeom>
          <a:solidFill>
            <a:srgbClr val="1C4587"/>
          </a:solidFill>
          <a:ln w="12700">
            <a:solidFill>
              <a:srgbClr val="1C4587"/>
            </a:solidFill>
            <a:prstDash val="solid"/>
          </a:ln>
        </p:spPr>
      </p:sp>
      <p:sp>
        <p:nvSpPr>
          <p:cNvPr id="9" name="Text 7"/>
          <p:cNvSpPr/>
          <p:nvPr/>
        </p:nvSpPr>
        <p:spPr>
          <a:xfrm>
            <a:off x="548640"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1005840" y="153619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Look before</a:t>
            </a:r>
            <a:endParaRPr lang="en-US" sz="1100" dirty="0"/>
          </a:p>
          <a:p>
            <a:pPr indent="0" marL="0">
              <a:buNone/>
            </a:pPr>
            <a:r>
              <a:rPr lang="en-US" sz="1100" b="1" dirty="0">
                <a:solidFill>
                  <a:srgbClr val="0A2342"/>
                </a:solidFill>
              </a:rPr>
              <a:t>you touch</a:t>
            </a:r>
            <a:endParaRPr lang="en-US" sz="1100" dirty="0"/>
          </a:p>
        </p:txBody>
      </p:sp>
      <p:sp>
        <p:nvSpPr>
          <p:cNvPr id="11" name="Text 9"/>
          <p:cNvSpPr/>
          <p:nvPr/>
        </p:nvSpPr>
        <p:spPr>
          <a:xfrm>
            <a:off x="566928" y="2121408"/>
            <a:ext cx="1673352" cy="603504"/>
          </a:xfrm>
          <a:prstGeom prst="rect">
            <a:avLst/>
          </a:prstGeom>
          <a:noFill/>
          <a:ln/>
        </p:spPr>
        <p:txBody>
          <a:bodyPr wrap="square" lIns="0" tIns="0" rIns="0" bIns="0" rtlCol="0" anchor="t"/>
          <a:lstStyle/>
          <a:p>
            <a:pPr indent="0" marL="0">
              <a:buNone/>
            </a:pPr>
            <a:r>
              <a:rPr lang="en-US" sz="950" dirty="0">
                <a:solidFill>
                  <a:srgbClr val="64748B"/>
                </a:solidFill>
              </a:rPr>
              <a:t>gaps · balance · weird values · cheat columns</a:t>
            </a:r>
            <a:endParaRPr lang="en-US" sz="950" dirty="0"/>
          </a:p>
        </p:txBody>
      </p:sp>
      <p:sp>
        <p:nvSpPr>
          <p:cNvPr id="12" name="Text 10"/>
          <p:cNvSpPr/>
          <p:nvPr/>
        </p:nvSpPr>
        <p:spPr>
          <a:xfrm>
            <a:off x="2331720" y="193852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13" name="Shape 11"/>
          <p:cNvSpPr/>
          <p:nvPr/>
        </p:nvSpPr>
        <p:spPr>
          <a:xfrm>
            <a:off x="2560320" y="1463040"/>
            <a:ext cx="1874520" cy="132588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651760" y="1572768"/>
            <a:ext cx="384048" cy="384048"/>
          </a:xfrm>
          <a:prstGeom prst="ellipse">
            <a:avLst/>
          </a:prstGeom>
          <a:solidFill>
            <a:srgbClr val="1C4587"/>
          </a:solidFill>
          <a:ln w="12700">
            <a:solidFill>
              <a:srgbClr val="1C4587"/>
            </a:solidFill>
            <a:prstDash val="solid"/>
          </a:ln>
        </p:spPr>
      </p:sp>
      <p:sp>
        <p:nvSpPr>
          <p:cNvPr id="15" name="Text 13"/>
          <p:cNvSpPr/>
          <p:nvPr/>
        </p:nvSpPr>
        <p:spPr>
          <a:xfrm>
            <a:off x="2651760"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3108960" y="153619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Split first</a:t>
            </a:r>
            <a:endParaRPr lang="en-US" sz="1100" dirty="0"/>
          </a:p>
        </p:txBody>
      </p:sp>
      <p:sp>
        <p:nvSpPr>
          <p:cNvPr id="17" name="Text 15"/>
          <p:cNvSpPr/>
          <p:nvPr/>
        </p:nvSpPr>
        <p:spPr>
          <a:xfrm>
            <a:off x="2670048" y="2121408"/>
            <a:ext cx="1673352" cy="603504"/>
          </a:xfrm>
          <a:prstGeom prst="rect">
            <a:avLst/>
          </a:prstGeom>
          <a:noFill/>
          <a:ln/>
        </p:spPr>
        <p:txBody>
          <a:bodyPr wrap="square" lIns="0" tIns="0" rIns="0" bIns="0" rtlCol="0" anchor="t"/>
          <a:lstStyle/>
          <a:p>
            <a:pPr indent="0" marL="0">
              <a:buNone/>
            </a:pPr>
            <a:r>
              <a:rPr lang="en-US" sz="950" dirty="0">
                <a:solidFill>
                  <a:srgbClr val="64748B"/>
                </a:solidFill>
              </a:rPr>
              <a:t>lock the exam away before anything else</a:t>
            </a:r>
            <a:endParaRPr lang="en-US" sz="950" dirty="0"/>
          </a:p>
        </p:txBody>
      </p:sp>
      <p:sp>
        <p:nvSpPr>
          <p:cNvPr id="18" name="Text 16"/>
          <p:cNvSpPr/>
          <p:nvPr/>
        </p:nvSpPr>
        <p:spPr>
          <a:xfrm>
            <a:off x="4434840" y="193852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19" name="Shape 17"/>
          <p:cNvSpPr/>
          <p:nvPr/>
        </p:nvSpPr>
        <p:spPr>
          <a:xfrm>
            <a:off x="4663440" y="1463040"/>
            <a:ext cx="1874520" cy="132588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754880" y="1572768"/>
            <a:ext cx="384048" cy="384048"/>
          </a:xfrm>
          <a:prstGeom prst="ellipse">
            <a:avLst/>
          </a:prstGeom>
          <a:solidFill>
            <a:srgbClr val="1C4587"/>
          </a:solidFill>
          <a:ln w="12700">
            <a:solidFill>
              <a:srgbClr val="1C4587"/>
            </a:solidFill>
            <a:prstDash val="solid"/>
          </a:ln>
        </p:spPr>
      </p:sp>
      <p:sp>
        <p:nvSpPr>
          <p:cNvPr id="21" name="Text 19"/>
          <p:cNvSpPr/>
          <p:nvPr/>
        </p:nvSpPr>
        <p:spPr>
          <a:xfrm>
            <a:off x="4754880"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p:nvPr/>
        </p:nvSpPr>
        <p:spPr>
          <a:xfrm>
            <a:off x="5212080" y="153619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Set a baseline</a:t>
            </a:r>
            <a:endParaRPr lang="en-US" sz="1100" dirty="0"/>
          </a:p>
        </p:txBody>
      </p:sp>
      <p:sp>
        <p:nvSpPr>
          <p:cNvPr id="23" name="Text 21"/>
          <p:cNvSpPr/>
          <p:nvPr/>
        </p:nvSpPr>
        <p:spPr>
          <a:xfrm>
            <a:off x="4773168" y="2121408"/>
            <a:ext cx="1673352" cy="603504"/>
          </a:xfrm>
          <a:prstGeom prst="rect">
            <a:avLst/>
          </a:prstGeom>
          <a:noFill/>
          <a:ln/>
        </p:spPr>
        <p:txBody>
          <a:bodyPr wrap="square" lIns="0" tIns="0" rIns="0" bIns="0" rtlCol="0" anchor="t"/>
          <a:lstStyle/>
          <a:p>
            <a:pPr indent="0" marL="0">
              <a:buNone/>
            </a:pPr>
            <a:r>
              <a:rPr lang="en-US" sz="950" dirty="0">
                <a:solidFill>
                  <a:srgbClr val="64748B"/>
                </a:solidFill>
              </a:rPr>
              <a:t>what does a lazy model get?</a:t>
            </a:r>
            <a:endParaRPr lang="en-US" sz="950" dirty="0"/>
          </a:p>
        </p:txBody>
      </p:sp>
      <p:sp>
        <p:nvSpPr>
          <p:cNvPr id="24" name="Text 22"/>
          <p:cNvSpPr/>
          <p:nvPr/>
        </p:nvSpPr>
        <p:spPr>
          <a:xfrm>
            <a:off x="6537960" y="193852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25" name="Shape 23"/>
          <p:cNvSpPr/>
          <p:nvPr/>
        </p:nvSpPr>
        <p:spPr>
          <a:xfrm>
            <a:off x="6766560" y="1463040"/>
            <a:ext cx="1874520" cy="13258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858000" y="1572768"/>
            <a:ext cx="384048" cy="384048"/>
          </a:xfrm>
          <a:prstGeom prst="ellipse">
            <a:avLst/>
          </a:prstGeom>
          <a:solidFill>
            <a:srgbClr val="0D9488"/>
          </a:solidFill>
          <a:ln w="12700">
            <a:solidFill>
              <a:srgbClr val="0D9488"/>
            </a:solidFill>
            <a:prstDash val="solid"/>
          </a:ln>
        </p:spPr>
      </p:sp>
      <p:sp>
        <p:nvSpPr>
          <p:cNvPr id="27" name="Text 25"/>
          <p:cNvSpPr/>
          <p:nvPr/>
        </p:nvSpPr>
        <p:spPr>
          <a:xfrm>
            <a:off x="6858000"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8" name="Text 26"/>
          <p:cNvSpPr/>
          <p:nvPr/>
        </p:nvSpPr>
        <p:spPr>
          <a:xfrm>
            <a:off x="7315200" y="153619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Clean inside</a:t>
            </a:r>
            <a:endParaRPr lang="en-US" sz="1100" dirty="0"/>
          </a:p>
          <a:p>
            <a:pPr indent="0" marL="0">
              <a:buNone/>
            </a:pPr>
            <a:r>
              <a:rPr lang="en-US" sz="1100" b="1" dirty="0">
                <a:solidFill>
                  <a:srgbClr val="0A2342"/>
                </a:solidFill>
              </a:rPr>
              <a:t>a Pipeline</a:t>
            </a:r>
            <a:endParaRPr lang="en-US" sz="1100" dirty="0"/>
          </a:p>
        </p:txBody>
      </p:sp>
      <p:sp>
        <p:nvSpPr>
          <p:cNvPr id="29" name="Text 27"/>
          <p:cNvSpPr/>
          <p:nvPr/>
        </p:nvSpPr>
        <p:spPr>
          <a:xfrm>
            <a:off x="6876288" y="2121408"/>
            <a:ext cx="1673352" cy="603504"/>
          </a:xfrm>
          <a:prstGeom prst="rect">
            <a:avLst/>
          </a:prstGeom>
          <a:noFill/>
          <a:ln/>
        </p:spPr>
        <p:txBody>
          <a:bodyPr wrap="square" lIns="0" tIns="0" rIns="0" bIns="0" rtlCol="0" anchor="t"/>
          <a:lstStyle/>
          <a:p>
            <a:pPr indent="0" marL="0">
              <a:buNone/>
            </a:pPr>
            <a:r>
              <a:rPr lang="en-US" sz="950" dirty="0">
                <a:solidFill>
                  <a:srgbClr val="64748B"/>
                </a:solidFill>
              </a:rPr>
              <a:t>fill gaps · words → numbers · same scale</a:t>
            </a:r>
            <a:endParaRPr lang="en-US" sz="950" dirty="0"/>
          </a:p>
        </p:txBody>
      </p:sp>
      <p:sp>
        <p:nvSpPr>
          <p:cNvPr id="30" name="Shape 28"/>
          <p:cNvSpPr/>
          <p:nvPr/>
        </p:nvSpPr>
        <p:spPr>
          <a:xfrm>
            <a:off x="457200" y="2971800"/>
            <a:ext cx="1874520" cy="13258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548640" y="3081528"/>
            <a:ext cx="384048" cy="384048"/>
          </a:xfrm>
          <a:prstGeom prst="ellipse">
            <a:avLst/>
          </a:prstGeom>
          <a:solidFill>
            <a:srgbClr val="0D9488"/>
          </a:solidFill>
          <a:ln w="12700">
            <a:solidFill>
              <a:srgbClr val="0D9488"/>
            </a:solidFill>
            <a:prstDash val="solid"/>
          </a:ln>
        </p:spPr>
      </p:sp>
      <p:sp>
        <p:nvSpPr>
          <p:cNvPr id="32" name="Text 30"/>
          <p:cNvSpPr/>
          <p:nvPr/>
        </p:nvSpPr>
        <p:spPr>
          <a:xfrm>
            <a:off x="54864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3" name="Text 31"/>
          <p:cNvSpPr/>
          <p:nvPr/>
        </p:nvSpPr>
        <p:spPr>
          <a:xfrm>
            <a:off x="1005840" y="304495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Pick your</a:t>
            </a:r>
            <a:endParaRPr lang="en-US" sz="1100" dirty="0"/>
          </a:p>
          <a:p>
            <a:pPr indent="0" marL="0">
              <a:buNone/>
            </a:pPr>
            <a:r>
              <a:rPr lang="en-US" sz="1100" b="1" dirty="0">
                <a:solidFill>
                  <a:srgbClr val="0A2342"/>
                </a:solidFill>
              </a:rPr>
              <a:t>scoreboard</a:t>
            </a:r>
            <a:endParaRPr lang="en-US" sz="1100" dirty="0"/>
          </a:p>
        </p:txBody>
      </p:sp>
      <p:sp>
        <p:nvSpPr>
          <p:cNvPr id="34" name="Text 32"/>
          <p:cNvSpPr/>
          <p:nvPr/>
        </p:nvSpPr>
        <p:spPr>
          <a:xfrm>
            <a:off x="566928" y="3630168"/>
            <a:ext cx="1673352" cy="603504"/>
          </a:xfrm>
          <a:prstGeom prst="rect">
            <a:avLst/>
          </a:prstGeom>
          <a:noFill/>
          <a:ln/>
        </p:spPr>
        <p:txBody>
          <a:bodyPr wrap="square" lIns="0" tIns="0" rIns="0" bIns="0" rtlCol="0" anchor="t"/>
          <a:lstStyle/>
          <a:p>
            <a:pPr indent="0" marL="0">
              <a:buNone/>
            </a:pPr>
            <a:r>
              <a:rPr lang="en-US" sz="950" dirty="0">
                <a:solidFill>
                  <a:srgbClr val="64748B"/>
                </a:solidFill>
              </a:rPr>
              <a:t>which mistake hurts people more?</a:t>
            </a:r>
            <a:endParaRPr lang="en-US" sz="950" dirty="0"/>
          </a:p>
        </p:txBody>
      </p:sp>
      <p:sp>
        <p:nvSpPr>
          <p:cNvPr id="35" name="Text 33"/>
          <p:cNvSpPr/>
          <p:nvPr/>
        </p:nvSpPr>
        <p:spPr>
          <a:xfrm>
            <a:off x="2331720" y="344728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36" name="Shape 34"/>
          <p:cNvSpPr/>
          <p:nvPr/>
        </p:nvSpPr>
        <p:spPr>
          <a:xfrm>
            <a:off x="2560320" y="2971800"/>
            <a:ext cx="1874520" cy="13258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2651760" y="3081528"/>
            <a:ext cx="384048" cy="384048"/>
          </a:xfrm>
          <a:prstGeom prst="ellipse">
            <a:avLst/>
          </a:prstGeom>
          <a:solidFill>
            <a:srgbClr val="0D9488"/>
          </a:solidFill>
          <a:ln w="12700">
            <a:solidFill>
              <a:srgbClr val="0D9488"/>
            </a:solidFill>
            <a:prstDash val="solid"/>
          </a:ln>
        </p:spPr>
      </p:sp>
      <p:sp>
        <p:nvSpPr>
          <p:cNvPr id="38" name="Text 36"/>
          <p:cNvSpPr/>
          <p:nvPr/>
        </p:nvSpPr>
        <p:spPr>
          <a:xfrm>
            <a:off x="265176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9" name="Text 37"/>
          <p:cNvSpPr/>
          <p:nvPr/>
        </p:nvSpPr>
        <p:spPr>
          <a:xfrm>
            <a:off x="3108960" y="304495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Tune with</a:t>
            </a:r>
            <a:endParaRPr lang="en-US" sz="1100" dirty="0"/>
          </a:p>
          <a:p>
            <a:pPr indent="0" marL="0">
              <a:buNone/>
            </a:pPr>
            <a:r>
              <a:rPr lang="en-US" sz="1100" b="1" dirty="0">
                <a:solidFill>
                  <a:srgbClr val="0A2342"/>
                </a:solidFill>
              </a:rPr>
              <a:t>practice exams</a:t>
            </a:r>
            <a:endParaRPr lang="en-US" sz="1100" dirty="0"/>
          </a:p>
        </p:txBody>
      </p:sp>
      <p:sp>
        <p:nvSpPr>
          <p:cNvPr id="40" name="Text 38"/>
          <p:cNvSpPr/>
          <p:nvPr/>
        </p:nvSpPr>
        <p:spPr>
          <a:xfrm>
            <a:off x="2670048" y="3630168"/>
            <a:ext cx="1673352" cy="603504"/>
          </a:xfrm>
          <a:prstGeom prst="rect">
            <a:avLst/>
          </a:prstGeom>
          <a:noFill/>
          <a:ln/>
        </p:spPr>
        <p:txBody>
          <a:bodyPr wrap="square" lIns="0" tIns="0" rIns="0" bIns="0" rtlCol="0" anchor="t"/>
          <a:lstStyle/>
          <a:p>
            <a:pPr indent="0" marL="0">
              <a:buNone/>
            </a:pPr>
            <a:r>
              <a:rPr lang="en-US" sz="950" dirty="0">
                <a:solidFill>
                  <a:srgbClr val="64748B"/>
                </a:solidFill>
              </a:rPr>
              <a:t>cross-validation, never the test set</a:t>
            </a:r>
            <a:endParaRPr lang="en-US" sz="950" dirty="0"/>
          </a:p>
        </p:txBody>
      </p:sp>
      <p:sp>
        <p:nvSpPr>
          <p:cNvPr id="41" name="Text 39"/>
          <p:cNvSpPr/>
          <p:nvPr/>
        </p:nvSpPr>
        <p:spPr>
          <a:xfrm>
            <a:off x="4434840" y="344728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42" name="Shape 40"/>
          <p:cNvSpPr/>
          <p:nvPr/>
        </p:nvSpPr>
        <p:spPr>
          <a:xfrm>
            <a:off x="4663440" y="2971800"/>
            <a:ext cx="1874520" cy="132588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43" name="Shape 41"/>
          <p:cNvSpPr/>
          <p:nvPr/>
        </p:nvSpPr>
        <p:spPr>
          <a:xfrm>
            <a:off x="4754880" y="3081528"/>
            <a:ext cx="384048" cy="384048"/>
          </a:xfrm>
          <a:prstGeom prst="ellipse">
            <a:avLst/>
          </a:prstGeom>
          <a:solidFill>
            <a:srgbClr val="F97316"/>
          </a:solidFill>
          <a:ln w="12700">
            <a:solidFill>
              <a:srgbClr val="F97316"/>
            </a:solidFill>
            <a:prstDash val="solid"/>
          </a:ln>
        </p:spPr>
      </p:sp>
      <p:sp>
        <p:nvSpPr>
          <p:cNvPr id="44" name="Text 42"/>
          <p:cNvSpPr/>
          <p:nvPr/>
        </p:nvSpPr>
        <p:spPr>
          <a:xfrm>
            <a:off x="475488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45" name="Text 43"/>
          <p:cNvSpPr/>
          <p:nvPr/>
        </p:nvSpPr>
        <p:spPr>
          <a:xfrm>
            <a:off x="5212080" y="304495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The final exam,</a:t>
            </a:r>
            <a:endParaRPr lang="en-US" sz="1100" dirty="0"/>
          </a:p>
          <a:p>
            <a:pPr indent="0" marL="0">
              <a:buNone/>
            </a:pPr>
            <a:r>
              <a:rPr lang="en-US" sz="1100" b="1" dirty="0">
                <a:solidFill>
                  <a:srgbClr val="0A2342"/>
                </a:solidFill>
              </a:rPr>
              <a:t>once</a:t>
            </a:r>
            <a:endParaRPr lang="en-US" sz="1100" dirty="0"/>
          </a:p>
        </p:txBody>
      </p:sp>
      <p:sp>
        <p:nvSpPr>
          <p:cNvPr id="46" name="Text 44"/>
          <p:cNvSpPr/>
          <p:nvPr/>
        </p:nvSpPr>
        <p:spPr>
          <a:xfrm>
            <a:off x="4773168" y="3630168"/>
            <a:ext cx="1673352" cy="603504"/>
          </a:xfrm>
          <a:prstGeom prst="rect">
            <a:avLst/>
          </a:prstGeom>
          <a:noFill/>
          <a:ln/>
        </p:spPr>
        <p:txBody>
          <a:bodyPr wrap="square" lIns="0" tIns="0" rIns="0" bIns="0" rtlCol="0" anchor="t"/>
          <a:lstStyle/>
          <a:p>
            <a:pPr indent="0" marL="0">
              <a:buNone/>
            </a:pPr>
            <a:r>
              <a:rPr lang="en-US" sz="950" dirty="0">
                <a:solidFill>
                  <a:srgbClr val="64748B"/>
                </a:solidFill>
              </a:rPr>
              <a:t>one table, lazy model on row 1</a:t>
            </a:r>
            <a:endParaRPr lang="en-US" sz="950" dirty="0"/>
          </a:p>
        </p:txBody>
      </p:sp>
      <p:sp>
        <p:nvSpPr>
          <p:cNvPr id="47" name="Text 45"/>
          <p:cNvSpPr/>
          <p:nvPr/>
        </p:nvSpPr>
        <p:spPr>
          <a:xfrm>
            <a:off x="6537960" y="3447288"/>
            <a:ext cx="228600" cy="365760"/>
          </a:xfrm>
          <a:prstGeom prst="rect">
            <a:avLst/>
          </a:prstGeom>
          <a:noFill/>
          <a:ln/>
        </p:spPr>
        <p:txBody>
          <a:bodyPr wrap="square" lIns="0" tIns="0" rIns="0" bIns="0" rtlCol="0" anchor="ctr"/>
          <a:lstStyle/>
          <a:p>
            <a:pPr algn="ctr" indent="0" marL="0">
              <a:buNone/>
            </a:pPr>
            <a:r>
              <a:rPr lang="en-US" sz="1100" dirty="0">
                <a:solidFill>
                  <a:srgbClr val="64748B"/>
                </a:solidFill>
              </a:rPr>
              <a:t>▶</a:t>
            </a:r>
            <a:endParaRPr lang="en-US" sz="1100" dirty="0"/>
          </a:p>
        </p:txBody>
      </p:sp>
      <p:sp>
        <p:nvSpPr>
          <p:cNvPr id="48" name="Shape 46"/>
          <p:cNvSpPr/>
          <p:nvPr/>
        </p:nvSpPr>
        <p:spPr>
          <a:xfrm>
            <a:off x="6766560" y="2971800"/>
            <a:ext cx="1874520" cy="132588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6858000" y="3081528"/>
            <a:ext cx="384048" cy="384048"/>
          </a:xfrm>
          <a:prstGeom prst="ellipse">
            <a:avLst/>
          </a:prstGeom>
          <a:solidFill>
            <a:srgbClr val="F97316"/>
          </a:solidFill>
          <a:ln w="12700">
            <a:solidFill>
              <a:srgbClr val="F97316"/>
            </a:solidFill>
            <a:prstDash val="solid"/>
          </a:ln>
        </p:spPr>
      </p:sp>
      <p:sp>
        <p:nvSpPr>
          <p:cNvPr id="50" name="Text 48"/>
          <p:cNvSpPr/>
          <p:nvPr/>
        </p:nvSpPr>
        <p:spPr>
          <a:xfrm>
            <a:off x="685800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51" name="Text 49"/>
          <p:cNvSpPr/>
          <p:nvPr/>
        </p:nvSpPr>
        <p:spPr>
          <a:xfrm>
            <a:off x="7315200" y="3044952"/>
            <a:ext cx="1280160" cy="502920"/>
          </a:xfrm>
          <a:prstGeom prst="rect">
            <a:avLst/>
          </a:prstGeom>
          <a:noFill/>
          <a:ln/>
        </p:spPr>
        <p:txBody>
          <a:bodyPr wrap="square" lIns="0" tIns="0" rIns="0" bIns="0" rtlCol="0" anchor="ctr"/>
          <a:lstStyle/>
          <a:p>
            <a:pPr indent="0" marL="0">
              <a:buNone/>
            </a:pPr>
            <a:r>
              <a:rPr lang="en-US" sz="1100" b="1" dirty="0">
                <a:solidFill>
                  <a:srgbClr val="0A2342"/>
                </a:solidFill>
              </a:rPr>
              <a:t>Check the groups,</a:t>
            </a:r>
            <a:endParaRPr lang="en-US" sz="1100" dirty="0"/>
          </a:p>
          <a:p>
            <a:pPr indent="0" marL="0">
              <a:buNone/>
            </a:pPr>
            <a:r>
              <a:rPr lang="en-US" sz="1100" b="1" dirty="0">
                <a:solidFill>
                  <a:srgbClr val="0A2342"/>
                </a:solidFill>
              </a:rPr>
              <a:t>then use it</a:t>
            </a:r>
            <a:endParaRPr lang="en-US" sz="1100" dirty="0"/>
          </a:p>
        </p:txBody>
      </p:sp>
      <p:sp>
        <p:nvSpPr>
          <p:cNvPr id="52" name="Text 50"/>
          <p:cNvSpPr/>
          <p:nvPr/>
        </p:nvSpPr>
        <p:spPr>
          <a:xfrm>
            <a:off x="6876288" y="3630168"/>
            <a:ext cx="1673352" cy="603504"/>
          </a:xfrm>
          <a:prstGeom prst="rect">
            <a:avLst/>
          </a:prstGeom>
          <a:noFill/>
          <a:ln/>
        </p:spPr>
        <p:txBody>
          <a:bodyPr wrap="square" lIns="0" tIns="0" rIns="0" bIns="0" rtlCol="0" anchor="t"/>
          <a:lstStyle/>
          <a:p>
            <a:pPr indent="0" marL="0">
              <a:buNone/>
            </a:pPr>
            <a:r>
              <a:rPr lang="en-US" sz="950" dirty="0">
                <a:solidFill>
                  <a:srgbClr val="64748B"/>
                </a:solidFill>
              </a:rPr>
              <a:t>does it work for everyone?</a:t>
            </a:r>
            <a:endParaRPr lang="en-US" sz="950" dirty="0"/>
          </a:p>
        </p:txBody>
      </p:sp>
      <p:sp>
        <p:nvSpPr>
          <p:cNvPr id="53" name="Text 51"/>
          <p:cNvSpPr/>
          <p:nvPr/>
        </p:nvSpPr>
        <p:spPr>
          <a:xfrm>
            <a:off x="457200" y="4434840"/>
            <a:ext cx="8229600" cy="274320"/>
          </a:xfrm>
          <a:prstGeom prst="rect">
            <a:avLst/>
          </a:prstGeom>
          <a:noFill/>
          <a:ln/>
        </p:spPr>
        <p:txBody>
          <a:bodyPr wrap="square" lIns="0" tIns="0" rIns="0" bIns="0" rtlCol="0" anchor="ctr"/>
          <a:lstStyle/>
          <a:p>
            <a:pPr indent="0" marL="0">
              <a:buNone/>
            </a:pPr>
            <a:r>
              <a:rPr lang="en-US" sz="1100" b="1" i="1" dirty="0">
                <a:solidFill>
                  <a:srgbClr val="0D9488"/>
                </a:solidFill>
              </a:rPr>
              <a:t>Our messy example for all eight: the Titanic — 891 real passengers, one question: who survived?</a:t>
            </a:r>
            <a:endParaRPr lang="en-US" sz="1100" dirty="0"/>
          </a:p>
        </p:txBody>
      </p:sp>
      <p:sp>
        <p:nvSpPr>
          <p:cNvPr id="54" name="Text 52"/>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55" name="Text 53"/>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1</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1</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Look before you touch</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Four questions, four lines. Every one finds a problem in the Titanic data.</a:t>
            </a:r>
            <a:endParaRPr lang="en-US" sz="1300" dirty="0"/>
          </a:p>
        </p:txBody>
      </p:sp>
      <p:sp>
        <p:nvSpPr>
          <p:cNvPr id="9" name="Shape 7"/>
          <p:cNvSpPr/>
          <p:nvPr/>
        </p:nvSpPr>
        <p:spPr>
          <a:xfrm>
            <a:off x="457200" y="1463040"/>
            <a:ext cx="3931920" cy="205740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94360" y="1554480"/>
            <a:ext cx="3657600" cy="1874520"/>
          </a:xfrm>
          <a:prstGeom prst="rect">
            <a:avLst/>
          </a:prstGeom>
          <a:noFill/>
          <a:ln/>
        </p:spPr>
        <p:txBody>
          <a:bodyPr wrap="square" lIns="0" tIns="0" rIns="0" bIns="0" rtlCol="0" anchor="t"/>
          <a:lstStyle/>
          <a:p>
            <a:pPr indent="0" marL="0">
              <a:buNone/>
            </a:pPr>
            <a:r>
              <a:rPr lang="en-US" sz="1000" dirty="0">
                <a:solidFill>
                  <a:srgbClr val="A8FF60"/>
                </a:solidFill>
                <a:latin typeface="Consolas" pitchFamily="34" charset="0"/>
                <a:ea typeface="Consolas" pitchFamily="34" charset="-122"/>
                <a:cs typeface="Consolas" pitchFamily="34" charset="-120"/>
              </a:rPr>
              <a:t>import pandas as pd</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df = pd.read_csv("titanic.csv")</a:t>
            </a:r>
            <a:endParaRPr lang="en-US" sz="1000" dirty="0"/>
          </a:p>
          <a:p>
            <a:pPr indent="0" marL="0">
              <a:buNone/>
            </a:pP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df.isna().sum()                  # 1. gaps?</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df["survived"].value_counts(</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normalize=True)          # 2. balanced?</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df.describe()                    # 3. weird values?</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df.duplicated().sum()            # 4. duplicates?</a:t>
            </a:r>
            <a:endParaRPr lang="en-US" sz="1000" dirty="0"/>
          </a:p>
        </p:txBody>
      </p:sp>
      <p:sp>
        <p:nvSpPr>
          <p:cNvPr id="11" name="Text 9"/>
          <p:cNvSpPr/>
          <p:nvPr/>
        </p:nvSpPr>
        <p:spPr>
          <a:xfrm>
            <a:off x="4617720" y="1463040"/>
            <a:ext cx="1005840" cy="457200"/>
          </a:xfrm>
          <a:prstGeom prst="rect">
            <a:avLst/>
          </a:prstGeom>
          <a:noFill/>
          <a:ln/>
        </p:spPr>
        <p:txBody>
          <a:bodyPr wrap="square" lIns="0" tIns="0" rIns="0" bIns="0" rtlCol="0" anchor="t"/>
          <a:lstStyle/>
          <a:p>
            <a:pPr indent="0" marL="0">
              <a:buNone/>
            </a:pPr>
            <a:r>
              <a:rPr lang="en-US" sz="1100" b="1" dirty="0">
                <a:solidFill>
                  <a:srgbClr val="0D9488"/>
                </a:solidFill>
              </a:rPr>
              <a:t>Gaps</a:t>
            </a:r>
            <a:endParaRPr lang="en-US" sz="1100" dirty="0"/>
          </a:p>
        </p:txBody>
      </p:sp>
      <p:sp>
        <p:nvSpPr>
          <p:cNvPr id="12" name="Text 10"/>
          <p:cNvSpPr/>
          <p:nvPr/>
        </p:nvSpPr>
        <p:spPr>
          <a:xfrm>
            <a:off x="5577840" y="1463040"/>
            <a:ext cx="3108960" cy="457200"/>
          </a:xfrm>
          <a:prstGeom prst="rect">
            <a:avLst/>
          </a:prstGeom>
          <a:noFill/>
          <a:ln/>
        </p:spPr>
        <p:txBody>
          <a:bodyPr wrap="square" lIns="0" tIns="0" rIns="0" bIns="0" rtlCol="0" anchor="t"/>
          <a:lstStyle/>
          <a:p>
            <a:pPr indent="0" marL="0">
              <a:buNone/>
            </a:pPr>
            <a:r>
              <a:rPr lang="en-US" sz="1000" dirty="0">
                <a:solidFill>
                  <a:srgbClr val="1E293B"/>
                </a:solidFill>
              </a:rPr>
              <a:t>177 ages missing · deck empty for 688 of 891 → fill age, drop deck</a:t>
            </a:r>
            <a:endParaRPr lang="en-US" sz="1000" dirty="0"/>
          </a:p>
        </p:txBody>
      </p:sp>
      <p:sp>
        <p:nvSpPr>
          <p:cNvPr id="13" name="Text 11"/>
          <p:cNvSpPr/>
          <p:nvPr/>
        </p:nvSpPr>
        <p:spPr>
          <a:xfrm>
            <a:off x="4617720" y="1984248"/>
            <a:ext cx="1005840" cy="457200"/>
          </a:xfrm>
          <a:prstGeom prst="rect">
            <a:avLst/>
          </a:prstGeom>
          <a:noFill/>
          <a:ln/>
        </p:spPr>
        <p:txBody>
          <a:bodyPr wrap="square" lIns="0" tIns="0" rIns="0" bIns="0" rtlCol="0" anchor="t"/>
          <a:lstStyle/>
          <a:p>
            <a:pPr indent="0" marL="0">
              <a:buNone/>
            </a:pPr>
            <a:r>
              <a:rPr lang="en-US" sz="1100" b="1" dirty="0">
                <a:solidFill>
                  <a:srgbClr val="0D9488"/>
                </a:solidFill>
              </a:rPr>
              <a:t>Balance</a:t>
            </a:r>
            <a:endParaRPr lang="en-US" sz="1100" dirty="0"/>
          </a:p>
        </p:txBody>
      </p:sp>
      <p:sp>
        <p:nvSpPr>
          <p:cNvPr id="14" name="Text 12"/>
          <p:cNvSpPr/>
          <p:nvPr/>
        </p:nvSpPr>
        <p:spPr>
          <a:xfrm>
            <a:off x="5577840" y="1984248"/>
            <a:ext cx="3108960" cy="457200"/>
          </a:xfrm>
          <a:prstGeom prst="rect">
            <a:avLst/>
          </a:prstGeom>
          <a:noFill/>
          <a:ln/>
        </p:spPr>
        <p:txBody>
          <a:bodyPr wrap="square" lIns="0" tIns="0" rIns="0" bIns="0" rtlCol="0" anchor="t"/>
          <a:lstStyle/>
          <a:p>
            <a:pPr indent="0" marL="0">
              <a:buNone/>
            </a:pPr>
            <a:r>
              <a:rPr lang="en-US" sz="1000" dirty="0">
                <a:solidFill>
                  <a:srgbClr val="1E293B"/>
                </a:solidFill>
              </a:rPr>
              <a:t>only 38 % survived → a lazy "nobody survived" is right 62 % of the time</a:t>
            </a:r>
            <a:endParaRPr lang="en-US" sz="1000" dirty="0"/>
          </a:p>
        </p:txBody>
      </p:sp>
      <p:sp>
        <p:nvSpPr>
          <p:cNvPr id="15" name="Text 13"/>
          <p:cNvSpPr/>
          <p:nvPr/>
        </p:nvSpPr>
        <p:spPr>
          <a:xfrm>
            <a:off x="4617720" y="2505456"/>
            <a:ext cx="1005840" cy="457200"/>
          </a:xfrm>
          <a:prstGeom prst="rect">
            <a:avLst/>
          </a:prstGeom>
          <a:noFill/>
          <a:ln/>
        </p:spPr>
        <p:txBody>
          <a:bodyPr wrap="square" lIns="0" tIns="0" rIns="0" bIns="0" rtlCol="0" anchor="t"/>
          <a:lstStyle/>
          <a:p>
            <a:pPr indent="0" marL="0">
              <a:buNone/>
            </a:pPr>
            <a:r>
              <a:rPr lang="en-US" sz="1100" b="1" dirty="0">
                <a:solidFill>
                  <a:srgbClr val="0D9488"/>
                </a:solidFill>
              </a:rPr>
              <a:t>Weird</a:t>
            </a:r>
            <a:endParaRPr lang="en-US" sz="1100" dirty="0"/>
          </a:p>
        </p:txBody>
      </p:sp>
      <p:sp>
        <p:nvSpPr>
          <p:cNvPr id="16" name="Text 14"/>
          <p:cNvSpPr/>
          <p:nvPr/>
        </p:nvSpPr>
        <p:spPr>
          <a:xfrm>
            <a:off x="5577840" y="2505456"/>
            <a:ext cx="3108960" cy="457200"/>
          </a:xfrm>
          <a:prstGeom prst="rect">
            <a:avLst/>
          </a:prstGeom>
          <a:noFill/>
          <a:ln/>
        </p:spPr>
        <p:txBody>
          <a:bodyPr wrap="square" lIns="0" tIns="0" rIns="0" bIns="0" rtlCol="0" anchor="t"/>
          <a:lstStyle/>
          <a:p>
            <a:pPr indent="0" marL="0">
              <a:buNone/>
            </a:pPr>
            <a:r>
              <a:rPr lang="en-US" sz="1000" dirty="0">
                <a:solidFill>
                  <a:srgbClr val="1E293B"/>
                </a:solidFill>
              </a:rPr>
              <a:t>15 people paid a fare of 0 — crew? free? a gap in disguise? Find out, write it down</a:t>
            </a:r>
            <a:endParaRPr lang="en-US" sz="1000" dirty="0"/>
          </a:p>
        </p:txBody>
      </p:sp>
      <p:sp>
        <p:nvSpPr>
          <p:cNvPr id="17" name="Text 15"/>
          <p:cNvSpPr/>
          <p:nvPr/>
        </p:nvSpPr>
        <p:spPr>
          <a:xfrm>
            <a:off x="4617720" y="3026664"/>
            <a:ext cx="1005840" cy="457200"/>
          </a:xfrm>
          <a:prstGeom prst="rect">
            <a:avLst/>
          </a:prstGeom>
          <a:noFill/>
          <a:ln/>
        </p:spPr>
        <p:txBody>
          <a:bodyPr wrap="square" lIns="0" tIns="0" rIns="0" bIns="0" rtlCol="0" anchor="t"/>
          <a:lstStyle/>
          <a:p>
            <a:pPr indent="0" marL="0">
              <a:buNone/>
            </a:pPr>
            <a:r>
              <a:rPr lang="en-US" sz="1100" b="1" dirty="0">
                <a:solidFill>
                  <a:srgbClr val="0D9488"/>
                </a:solidFill>
              </a:rPr>
              <a:t>Duplicates</a:t>
            </a:r>
            <a:endParaRPr lang="en-US" sz="1100" dirty="0"/>
          </a:p>
        </p:txBody>
      </p:sp>
      <p:sp>
        <p:nvSpPr>
          <p:cNvPr id="18" name="Text 16"/>
          <p:cNvSpPr/>
          <p:nvPr/>
        </p:nvSpPr>
        <p:spPr>
          <a:xfrm>
            <a:off x="5577840" y="3026664"/>
            <a:ext cx="3108960" cy="457200"/>
          </a:xfrm>
          <a:prstGeom prst="rect">
            <a:avLst/>
          </a:prstGeom>
          <a:noFill/>
          <a:ln/>
        </p:spPr>
        <p:txBody>
          <a:bodyPr wrap="square" lIns="0" tIns="0" rIns="0" bIns="0" rtlCol="0" anchor="t"/>
          <a:lstStyle/>
          <a:p>
            <a:pPr indent="0" marL="0">
              <a:buNone/>
            </a:pPr>
            <a:r>
              <a:rPr lang="en-US" sz="1000" dirty="0">
                <a:solidFill>
                  <a:srgbClr val="1E293B"/>
                </a:solidFill>
              </a:rPr>
              <a:t>107 look identical — here different people. Same person twice? Remove one</a:t>
            </a:r>
            <a:endParaRPr lang="en-US" sz="1000" dirty="0"/>
          </a:p>
        </p:txBody>
      </p:sp>
      <p:sp>
        <p:nvSpPr>
          <p:cNvPr id="19" name="Shape 17"/>
          <p:cNvSpPr/>
          <p:nvPr/>
        </p:nvSpPr>
        <p:spPr>
          <a:xfrm>
            <a:off x="457200" y="3703320"/>
            <a:ext cx="8229600" cy="960120"/>
          </a:xfrm>
          <a:prstGeom prst="rect">
            <a:avLst/>
          </a:prstGeom>
          <a:solidFill>
            <a:srgbClr val="FEF2F2"/>
          </a:solidFill>
          <a:ln w="12700">
            <a:solidFill>
              <a:srgbClr val="DC2626"/>
            </a:solidFill>
            <a:prstDash val="solid"/>
          </a:ln>
        </p:spPr>
      </p:sp>
      <p:sp>
        <p:nvSpPr>
          <p:cNvPr id="20" name="Text 18"/>
          <p:cNvSpPr/>
          <p:nvPr/>
        </p:nvSpPr>
        <p:spPr>
          <a:xfrm>
            <a:off x="594360" y="3703320"/>
            <a:ext cx="7955280" cy="960120"/>
          </a:xfrm>
          <a:prstGeom prst="rect">
            <a:avLst/>
          </a:prstGeom>
          <a:noFill/>
          <a:ln/>
        </p:spPr>
        <p:txBody>
          <a:bodyPr wrap="square" lIns="0" tIns="0" rIns="0" bIns="0" rtlCol="0" anchor="ctr"/>
          <a:lstStyle/>
          <a:p>
            <a:pPr indent="0" marL="0">
              <a:buNone/>
            </a:pPr>
            <a:r>
              <a:rPr lang="en-US" sz="1150" b="1" dirty="0">
                <a:solidFill>
                  <a:srgbClr val="DC2626"/>
                </a:solidFill>
              </a:rPr>
              <a:t>⚠  The cheat column.  </a:t>
            </a:r>
            <a:pPr indent="0" marL="0">
              <a:buNone/>
            </a:pPr>
            <a:r>
              <a:rPr lang="en-US" sz="1150" dirty="0">
                <a:solidFill>
                  <a:srgbClr val="1E293B"/>
                </a:solidFill>
              </a:rPr>
              <a:t>The file has a column </a:t>
            </a:r>
            <a:pPr indent="0" marL="0">
              <a:buNone/>
            </a:pPr>
            <a:r>
              <a:rPr lang="en-US" sz="1150" b="1" dirty="0">
                <a:solidFill>
                  <a:srgbClr val="1E293B"/>
                </a:solidFill>
                <a:latin typeface="Consolas" pitchFamily="34" charset="0"/>
                <a:ea typeface="Consolas" pitchFamily="34" charset="-122"/>
                <a:cs typeface="Consolas" pitchFamily="34" charset="-120"/>
              </a:rPr>
              <a:t>alive</a:t>
            </a:r>
            <a:pPr indent="0" marL="0">
              <a:buNone/>
            </a:pPr>
            <a:r>
              <a:rPr lang="en-US" sz="1150" dirty="0">
                <a:solidFill>
                  <a:srgbClr val="1E293B"/>
                </a:solidFill>
              </a:rPr>
              <a:t> — that is </a:t>
            </a:r>
            <a:pPr indent="0" marL="0">
              <a:buNone/>
            </a:pPr>
            <a:r>
              <a:rPr lang="en-US" sz="1150" b="1" dirty="0">
                <a:solidFill>
                  <a:srgbClr val="1E293B"/>
                </a:solidFill>
                <a:latin typeface="Consolas" pitchFamily="34" charset="0"/>
                <a:ea typeface="Consolas" pitchFamily="34" charset="-122"/>
                <a:cs typeface="Consolas" pitchFamily="34" charset="-120"/>
              </a:rPr>
              <a:t>survived</a:t>
            </a:r>
            <a:pPr indent="0" marL="0">
              <a:buNone/>
            </a:pPr>
            <a:r>
              <a:rPr lang="en-US" sz="1150" dirty="0">
                <a:solidFill>
                  <a:srgbClr val="1E293B"/>
                </a:solidFill>
              </a:rPr>
              <a:t> in words. A model that sees it scores 100 %, and is useless. Ask of every column: would I know this before I need the prediction?  </a:t>
            </a:r>
            <a:pPr indent="0" marL="0">
              <a:buNone/>
            </a:pPr>
            <a:r>
              <a:rPr lang="en-US" sz="1150" b="1" dirty="0">
                <a:solidFill>
                  <a:srgbClr val="DC2626"/>
                </a:solidFill>
              </a:rPr>
              <a:t>Too good to be true = a bug, not a victory.</a:t>
            </a:r>
            <a:endParaRPr lang="en-US" sz="1150" dirty="0"/>
          </a:p>
        </p:txBody>
      </p:sp>
      <p:sp>
        <p:nvSpPr>
          <p:cNvPr id="21" name="Text 19"/>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22" name="Text 20"/>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STEPS 2 + 3</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Split first. Then meet the lazy model.</a:t>
            </a:r>
            <a:endParaRPr lang="en-US" sz="2400" dirty="0"/>
          </a:p>
        </p:txBody>
      </p:sp>
      <p:sp>
        <p:nvSpPr>
          <p:cNvPr id="6" name="Text 4"/>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Two steps before any cleaning or training happens.</a:t>
            </a:r>
            <a:endParaRPr lang="en-US" sz="1300" dirty="0"/>
          </a:p>
        </p:txBody>
      </p:sp>
      <p:sp>
        <p:nvSpPr>
          <p:cNvPr id="7" name="Shape 5"/>
          <p:cNvSpPr/>
          <p:nvPr/>
        </p:nvSpPr>
        <p:spPr>
          <a:xfrm>
            <a:off x="457200" y="1463040"/>
            <a:ext cx="3977640" cy="320040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94360" y="1536192"/>
            <a:ext cx="3749040" cy="320040"/>
          </a:xfrm>
          <a:prstGeom prst="rect">
            <a:avLst/>
          </a:prstGeom>
          <a:noFill/>
          <a:ln/>
        </p:spPr>
        <p:txBody>
          <a:bodyPr wrap="square" lIns="0" tIns="0" rIns="0" bIns="0" rtlCol="0" anchor="ctr"/>
          <a:lstStyle/>
          <a:p>
            <a:pPr indent="0" marL="0">
              <a:buNone/>
            </a:pPr>
            <a:r>
              <a:rPr lang="en-US" sz="1300" b="1" dirty="0">
                <a:solidFill>
                  <a:srgbClr val="1C4587"/>
                </a:solidFill>
              </a:rPr>
              <a:t>2  ·  The sealed envelope</a:t>
            </a:r>
            <a:endParaRPr lang="en-US" sz="1300" dirty="0"/>
          </a:p>
        </p:txBody>
      </p:sp>
      <p:sp>
        <p:nvSpPr>
          <p:cNvPr id="9" name="Shape 7"/>
          <p:cNvSpPr/>
          <p:nvPr/>
        </p:nvSpPr>
        <p:spPr>
          <a:xfrm>
            <a:off x="640080" y="1965960"/>
            <a:ext cx="2834640" cy="502920"/>
          </a:xfrm>
          <a:prstGeom prst="rect">
            <a:avLst/>
          </a:prstGeom>
          <a:solidFill>
            <a:srgbClr val="0D9488"/>
          </a:solidFill>
          <a:ln w="12700">
            <a:solidFill>
              <a:srgbClr val="0D9488"/>
            </a:solidFill>
            <a:prstDash val="solid"/>
          </a:ln>
        </p:spPr>
      </p:sp>
      <p:sp>
        <p:nvSpPr>
          <p:cNvPr id="10" name="Text 8"/>
          <p:cNvSpPr/>
          <p:nvPr/>
        </p:nvSpPr>
        <p:spPr>
          <a:xfrm>
            <a:off x="640080" y="1965960"/>
            <a:ext cx="2834640" cy="502920"/>
          </a:xfrm>
          <a:prstGeom prst="rect">
            <a:avLst/>
          </a:prstGeom>
          <a:noFill/>
          <a:ln/>
        </p:spPr>
        <p:txBody>
          <a:bodyPr wrap="square" lIns="0" tIns="0" rIns="0" bIns="0" rtlCol="0" anchor="ctr"/>
          <a:lstStyle/>
          <a:p>
            <a:pPr algn="ctr" indent="0" marL="0">
              <a:buNone/>
            </a:pPr>
            <a:r>
              <a:rPr lang="en-US" sz="1000" b="1" dirty="0">
                <a:solidFill>
                  <a:srgbClr val="FFFFFF"/>
                </a:solidFill>
              </a:rPr>
              <a:t>train  80 %  — clean, tune, learn</a:t>
            </a:r>
            <a:endParaRPr lang="en-US" sz="1000" dirty="0"/>
          </a:p>
        </p:txBody>
      </p:sp>
      <p:sp>
        <p:nvSpPr>
          <p:cNvPr id="11" name="Shape 9"/>
          <p:cNvSpPr/>
          <p:nvPr/>
        </p:nvSpPr>
        <p:spPr>
          <a:xfrm>
            <a:off x="3520440" y="1965960"/>
            <a:ext cx="731520" cy="502920"/>
          </a:xfrm>
          <a:prstGeom prst="rect">
            <a:avLst/>
          </a:prstGeom>
          <a:solidFill>
            <a:srgbClr val="F97316"/>
          </a:solidFill>
          <a:ln w="12700">
            <a:solidFill>
              <a:srgbClr val="F97316"/>
            </a:solidFill>
            <a:prstDash val="solid"/>
          </a:ln>
        </p:spPr>
      </p:sp>
      <p:sp>
        <p:nvSpPr>
          <p:cNvPr id="12" name="Text 10"/>
          <p:cNvSpPr/>
          <p:nvPr/>
        </p:nvSpPr>
        <p:spPr>
          <a:xfrm>
            <a:off x="3520440" y="1965960"/>
            <a:ext cx="731520" cy="502920"/>
          </a:xfrm>
          <a:prstGeom prst="rect">
            <a:avLst/>
          </a:prstGeom>
          <a:noFill/>
          <a:ln/>
        </p:spPr>
        <p:txBody>
          <a:bodyPr wrap="square" lIns="0" tIns="0" rIns="0" bIns="0" rtlCol="0" anchor="ctr"/>
          <a:lstStyle/>
          <a:p>
            <a:pPr algn="ctr" indent="0" marL="0">
              <a:buNone/>
            </a:pPr>
            <a:r>
              <a:rPr lang="en-US" sz="900" b="1" dirty="0">
                <a:solidFill>
                  <a:srgbClr val="FFFFFF"/>
                </a:solidFill>
              </a:rPr>
              <a:t>test</a:t>
            </a:r>
            <a:endParaRPr lang="en-US" sz="900" dirty="0"/>
          </a:p>
          <a:p>
            <a:pPr algn="ctr" indent="0" marL="0">
              <a:buNone/>
            </a:pPr>
            <a:r>
              <a:rPr lang="en-US" sz="900" b="1" dirty="0">
                <a:solidFill>
                  <a:srgbClr val="FFFFFF"/>
                </a:solidFill>
              </a:rPr>
              <a:t>20 %</a:t>
            </a:r>
            <a:endParaRPr lang="en-US" sz="900" dirty="0"/>
          </a:p>
        </p:txBody>
      </p:sp>
      <p:sp>
        <p:nvSpPr>
          <p:cNvPr id="13" name="Text 11"/>
          <p:cNvSpPr/>
          <p:nvPr/>
        </p:nvSpPr>
        <p:spPr>
          <a:xfrm>
            <a:off x="640080" y="2606040"/>
            <a:ext cx="3657600" cy="685800"/>
          </a:xfrm>
          <a:prstGeom prst="rect">
            <a:avLst/>
          </a:prstGeom>
          <a:noFill/>
          <a:ln/>
        </p:spPr>
        <p:txBody>
          <a:bodyPr wrap="square" lIns="0" tIns="0" rIns="0" bIns="0" rtlCol="0" anchor="t"/>
          <a:lstStyle/>
          <a:p>
            <a:pPr indent="0" marL="0">
              <a:buNone/>
            </a:pPr>
            <a:r>
              <a:rPr lang="en-US" sz="1050" dirty="0">
                <a:solidFill>
                  <a:srgbClr val="1E293B"/>
                </a:solidFill>
              </a:rPr>
              <a:t>✉  The test set goes in a drawer before you clean, fill or tune anything. You open it once, at the very end.</a:t>
            </a:r>
            <a:endParaRPr lang="en-US" sz="1050" dirty="0"/>
          </a:p>
        </p:txBody>
      </p:sp>
      <p:sp>
        <p:nvSpPr>
          <p:cNvPr id="14" name="Shape 12"/>
          <p:cNvSpPr/>
          <p:nvPr/>
        </p:nvSpPr>
        <p:spPr>
          <a:xfrm>
            <a:off x="640080" y="3291840"/>
            <a:ext cx="3611880" cy="64008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777240" y="3383280"/>
            <a:ext cx="3337560" cy="457200"/>
          </a:xfrm>
          <a:prstGeom prst="rect">
            <a:avLst/>
          </a:prstGeom>
          <a:noFill/>
          <a:ln/>
        </p:spPr>
        <p:txBody>
          <a:bodyPr wrap="square" lIns="0" tIns="0" rIns="0" bIns="0" rtlCol="0" anchor="t"/>
          <a:lstStyle/>
          <a:p>
            <a:pPr indent="0" marL="0">
              <a:buNone/>
            </a:pPr>
            <a:r>
              <a:rPr lang="en-US" sz="950" dirty="0">
                <a:solidFill>
                  <a:srgbClr val="A8FF60"/>
                </a:solidFill>
                <a:latin typeface="Consolas" pitchFamily="34" charset="0"/>
                <a:ea typeface="Consolas" pitchFamily="34" charset="-122"/>
                <a:cs typeface="Consolas" pitchFamily="34" charset="-120"/>
              </a:rPr>
              <a:t>train_test_split(X, y, test_size=0.2,</a:t>
            </a: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    stratify=y, random_state=42)</a:t>
            </a:r>
            <a:endParaRPr lang="en-US" sz="950" dirty="0"/>
          </a:p>
        </p:txBody>
      </p:sp>
      <p:sp>
        <p:nvSpPr>
          <p:cNvPr id="16" name="Text 14"/>
          <p:cNvSpPr/>
          <p:nvPr/>
        </p:nvSpPr>
        <p:spPr>
          <a:xfrm>
            <a:off x="640080" y="4023360"/>
            <a:ext cx="3657600" cy="457200"/>
          </a:xfrm>
          <a:prstGeom prst="rect">
            <a:avLst/>
          </a:prstGeom>
          <a:noFill/>
          <a:ln/>
        </p:spPr>
        <p:txBody>
          <a:bodyPr wrap="square" lIns="0" tIns="0" rIns="0" bIns="0" rtlCol="0" anchor="t"/>
          <a:lstStyle/>
          <a:p>
            <a:pPr indent="0" marL="0">
              <a:buNone/>
            </a:pPr>
            <a:r>
              <a:rPr lang="en-US" sz="1000" i="1" dirty="0">
                <a:solidFill>
                  <a:srgbClr val="64748B"/>
                </a:solidFill>
              </a:rPr>
              <a:t>stratify=y → both parts get the same 38 % survivors.</a:t>
            </a:r>
            <a:endParaRPr lang="en-US" sz="1000" dirty="0"/>
          </a:p>
        </p:txBody>
      </p:sp>
      <p:sp>
        <p:nvSpPr>
          <p:cNvPr id="17" name="Shape 15"/>
          <p:cNvSpPr/>
          <p:nvPr/>
        </p:nvSpPr>
        <p:spPr>
          <a:xfrm>
            <a:off x="4709160" y="1463040"/>
            <a:ext cx="3977640" cy="320040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846320" y="1536192"/>
            <a:ext cx="3749040" cy="320040"/>
          </a:xfrm>
          <a:prstGeom prst="rect">
            <a:avLst/>
          </a:prstGeom>
          <a:noFill/>
          <a:ln/>
        </p:spPr>
        <p:txBody>
          <a:bodyPr wrap="square" lIns="0" tIns="0" rIns="0" bIns="0" rtlCol="0" anchor="ctr"/>
          <a:lstStyle/>
          <a:p>
            <a:pPr indent="0" marL="0">
              <a:buNone/>
            </a:pPr>
            <a:r>
              <a:rPr lang="en-US" sz="1300" b="1" dirty="0">
                <a:solidFill>
                  <a:srgbClr val="F97316"/>
                </a:solidFill>
              </a:rPr>
              <a:t>3  ·  The lazy model</a:t>
            </a:r>
            <a:endParaRPr lang="en-US" sz="1300" dirty="0"/>
          </a:p>
        </p:txBody>
      </p:sp>
      <p:sp>
        <p:nvSpPr>
          <p:cNvPr id="19" name="Text 17"/>
          <p:cNvSpPr/>
          <p:nvPr/>
        </p:nvSpPr>
        <p:spPr>
          <a:xfrm>
            <a:off x="4846320" y="1920240"/>
            <a:ext cx="3703320" cy="548640"/>
          </a:xfrm>
          <a:prstGeom prst="rect">
            <a:avLst/>
          </a:prstGeom>
          <a:noFill/>
          <a:ln/>
        </p:spPr>
        <p:txBody>
          <a:bodyPr wrap="square" lIns="0" tIns="0" rIns="0" bIns="0" rtlCol="0" anchor="t"/>
          <a:lstStyle/>
          <a:p>
            <a:pPr indent="0" marL="0">
              <a:buNone/>
            </a:pPr>
            <a:r>
              <a:rPr lang="en-US" sz="1050" dirty="0">
                <a:solidFill>
                  <a:srgbClr val="1E293B"/>
                </a:solidFill>
              </a:rPr>
              <a:t>DummyClassifier always says the most common answer: "did not survive". It learns nothing.</a:t>
            </a:r>
            <a:endParaRPr lang="en-US" sz="1050" dirty="0"/>
          </a:p>
        </p:txBody>
      </p:sp>
      <p:sp>
        <p:nvSpPr>
          <p:cNvPr id="20" name="Text 18"/>
          <p:cNvSpPr/>
          <p:nvPr/>
        </p:nvSpPr>
        <p:spPr>
          <a:xfrm>
            <a:off x="4846320" y="2514600"/>
            <a:ext cx="1828800" cy="731520"/>
          </a:xfrm>
          <a:prstGeom prst="rect">
            <a:avLst/>
          </a:prstGeom>
          <a:noFill/>
          <a:ln/>
        </p:spPr>
        <p:txBody>
          <a:bodyPr wrap="square" lIns="0" tIns="0" rIns="0" bIns="0" rtlCol="0" anchor="ctr"/>
          <a:lstStyle/>
          <a:p>
            <a:pPr algn="ctr" indent="0" marL="0">
              <a:buNone/>
            </a:pPr>
            <a:r>
              <a:rPr lang="en-US" sz="3600" b="1" dirty="0">
                <a:solidFill>
                  <a:srgbClr val="0A2342"/>
                </a:solidFill>
              </a:rPr>
              <a:t>61 %</a:t>
            </a:r>
            <a:endParaRPr lang="en-US" sz="3600" dirty="0"/>
          </a:p>
        </p:txBody>
      </p:sp>
      <p:sp>
        <p:nvSpPr>
          <p:cNvPr id="21" name="Text 19"/>
          <p:cNvSpPr/>
          <p:nvPr/>
        </p:nvSpPr>
        <p:spPr>
          <a:xfrm>
            <a:off x="4846320" y="320040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rPr>
              <a:t>accuracy</a:t>
            </a:r>
            <a:endParaRPr lang="en-US" sz="1000" dirty="0"/>
          </a:p>
        </p:txBody>
      </p:sp>
      <p:sp>
        <p:nvSpPr>
          <p:cNvPr id="22" name="Text 20"/>
          <p:cNvSpPr/>
          <p:nvPr/>
        </p:nvSpPr>
        <p:spPr>
          <a:xfrm>
            <a:off x="6720840" y="2514600"/>
            <a:ext cx="1828800" cy="731520"/>
          </a:xfrm>
          <a:prstGeom prst="rect">
            <a:avLst/>
          </a:prstGeom>
          <a:noFill/>
          <a:ln/>
        </p:spPr>
        <p:txBody>
          <a:bodyPr wrap="square" lIns="0" tIns="0" rIns="0" bIns="0" rtlCol="0" anchor="ctr"/>
          <a:lstStyle/>
          <a:p>
            <a:pPr algn="ctr" indent="0" marL="0">
              <a:buNone/>
            </a:pPr>
            <a:r>
              <a:rPr lang="en-US" sz="3600" b="1" dirty="0">
                <a:solidFill>
                  <a:srgbClr val="DC2626"/>
                </a:solidFill>
              </a:rPr>
              <a:t>0</a:t>
            </a:r>
            <a:endParaRPr lang="en-US" sz="3600" dirty="0"/>
          </a:p>
        </p:txBody>
      </p:sp>
      <p:sp>
        <p:nvSpPr>
          <p:cNvPr id="23" name="Text 21"/>
          <p:cNvSpPr/>
          <p:nvPr/>
        </p:nvSpPr>
        <p:spPr>
          <a:xfrm>
            <a:off x="6720840" y="320040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rPr>
              <a:t>survivors found</a:t>
            </a:r>
            <a:endParaRPr lang="en-US" sz="1000" dirty="0"/>
          </a:p>
        </p:txBody>
      </p:sp>
      <p:sp>
        <p:nvSpPr>
          <p:cNvPr id="24" name="Text 22"/>
          <p:cNvSpPr/>
          <p:nvPr/>
        </p:nvSpPr>
        <p:spPr>
          <a:xfrm>
            <a:off x="4846320" y="3611880"/>
            <a:ext cx="3703320" cy="868680"/>
          </a:xfrm>
          <a:prstGeom prst="rect">
            <a:avLst/>
          </a:prstGeom>
          <a:noFill/>
          <a:ln/>
        </p:spPr>
        <p:txBody>
          <a:bodyPr wrap="square" lIns="0" tIns="0" rIns="0" bIns="0" rtlCol="0" anchor="t"/>
          <a:lstStyle/>
          <a:p>
            <a:pPr indent="0" marL="0">
              <a:buNone/>
            </a:pPr>
            <a:r>
              <a:rPr lang="en-US" sz="1050" b="1" dirty="0">
                <a:solidFill>
                  <a:srgbClr val="1E293B"/>
                </a:solidFill>
              </a:rPr>
              <a:t>Every real model has to beat it. And accuracy is the wrong scoreboard when one answer is much more common → step 5.</a:t>
            </a:r>
            <a:endParaRPr lang="en-US" sz="1050" dirty="0"/>
          </a:p>
        </p:txBody>
      </p:sp>
      <p:sp>
        <p:nvSpPr>
          <p:cNvPr id="25" name="Text 23"/>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26" name="Text 24"/>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4</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4</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Clean: three jobs</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A model only eats numbers, with no gaps — and KNN wants them on the same scale.</a:t>
            </a:r>
            <a:endParaRPr lang="en-US" sz="1300" dirty="0"/>
          </a:p>
        </p:txBody>
      </p:sp>
      <p:sp>
        <p:nvSpPr>
          <p:cNvPr id="9" name="Shape 7"/>
          <p:cNvSpPr/>
          <p:nvPr/>
        </p:nvSpPr>
        <p:spPr>
          <a:xfrm>
            <a:off x="457200" y="1463040"/>
            <a:ext cx="2651760" cy="233172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57200" y="1463040"/>
            <a:ext cx="2651760" cy="347472"/>
          </a:xfrm>
          <a:prstGeom prst="rect">
            <a:avLst/>
          </a:prstGeom>
          <a:solidFill>
            <a:srgbClr val="1C4587"/>
          </a:solidFill>
          <a:ln w="12700">
            <a:solidFill>
              <a:srgbClr val="1C4587"/>
            </a:solidFill>
            <a:prstDash val="solid"/>
          </a:ln>
        </p:spPr>
      </p:sp>
      <p:sp>
        <p:nvSpPr>
          <p:cNvPr id="11" name="Text 9"/>
          <p:cNvSpPr/>
          <p:nvPr/>
        </p:nvSpPr>
        <p:spPr>
          <a:xfrm>
            <a:off x="566928" y="146304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Fill the gaps</a:t>
            </a:r>
            <a:endParaRPr lang="en-US" sz="1150" dirty="0"/>
          </a:p>
        </p:txBody>
      </p:sp>
      <p:sp>
        <p:nvSpPr>
          <p:cNvPr id="12" name="Text 10"/>
          <p:cNvSpPr/>
          <p:nvPr/>
        </p:nvSpPr>
        <p:spPr>
          <a:xfrm>
            <a:off x="566928" y="1874520"/>
            <a:ext cx="2432304" cy="1856232"/>
          </a:xfrm>
          <a:prstGeom prst="rect">
            <a:avLst/>
          </a:prstGeom>
          <a:noFill/>
          <a:ln/>
        </p:spPr>
        <p:txBody>
          <a:bodyPr wrap="square" lIns="0" tIns="0" rIns="0" bIns="0" rtlCol="0" anchor="t"/>
          <a:lstStyle/>
          <a:p>
            <a:pPr indent="0" marL="0">
              <a:buNone/>
            </a:pPr>
            <a:r>
              <a:rPr lang="en-US" sz="1050" dirty="0">
                <a:solidFill>
                  <a:srgbClr val="1E293B"/>
                </a:solidFill>
              </a:rPr>
              <a:t>177 ages are empty.</a:t>
            </a:r>
            <a:endParaRPr lang="en-US" sz="1050" dirty="0"/>
          </a:p>
          <a:p>
            <a:pPr indent="0" marL="0">
              <a:buNone/>
            </a:pPr>
            <a:endParaRPr lang="en-US" sz="1050" dirty="0"/>
          </a:p>
          <a:p>
            <a:pPr indent="0" marL="0">
              <a:buNone/>
            </a:pPr>
            <a:r>
              <a:rPr lang="en-US" sz="1050" dirty="0">
                <a:solidFill>
                  <a:srgbClr val="1E293B"/>
                </a:solidFill>
              </a:rPr>
              <a:t>Fill in the middle value (median) of the training passengers.</a:t>
            </a:r>
            <a:endParaRPr lang="en-US" sz="1050" dirty="0"/>
          </a:p>
          <a:p>
            <a:pPr indent="0" marL="0">
              <a:buNone/>
            </a:pPr>
            <a:endParaRPr lang="en-US" sz="1050" dirty="0"/>
          </a:p>
          <a:p>
            <a:pPr indent="0" marL="0">
              <a:buNone/>
            </a:pPr>
            <a:r>
              <a:rPr lang="en-US" sz="1050" dirty="0">
                <a:solidFill>
                  <a:srgbClr val="1E293B"/>
                </a:solidFill>
              </a:rPr>
              <a:t>SimpleImputer</a:t>
            </a:r>
            <a:endParaRPr lang="en-US" sz="1050" dirty="0"/>
          </a:p>
        </p:txBody>
      </p:sp>
      <p:sp>
        <p:nvSpPr>
          <p:cNvPr id="13" name="Shape 11"/>
          <p:cNvSpPr/>
          <p:nvPr/>
        </p:nvSpPr>
        <p:spPr>
          <a:xfrm>
            <a:off x="3246120" y="1463040"/>
            <a:ext cx="2651760" cy="233172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46120" y="1463040"/>
            <a:ext cx="2651760" cy="347472"/>
          </a:xfrm>
          <a:prstGeom prst="rect">
            <a:avLst/>
          </a:prstGeom>
          <a:solidFill>
            <a:srgbClr val="0D9488"/>
          </a:solidFill>
          <a:ln w="12700">
            <a:solidFill>
              <a:srgbClr val="0D9488"/>
            </a:solidFill>
            <a:prstDash val="solid"/>
          </a:ln>
        </p:spPr>
      </p:sp>
      <p:sp>
        <p:nvSpPr>
          <p:cNvPr id="15" name="Text 13"/>
          <p:cNvSpPr/>
          <p:nvPr/>
        </p:nvSpPr>
        <p:spPr>
          <a:xfrm>
            <a:off x="3355848" y="146304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Words → numbers</a:t>
            </a:r>
            <a:endParaRPr lang="en-US" sz="1150" dirty="0"/>
          </a:p>
        </p:txBody>
      </p:sp>
      <p:sp>
        <p:nvSpPr>
          <p:cNvPr id="16" name="Text 14"/>
          <p:cNvSpPr/>
          <p:nvPr/>
        </p:nvSpPr>
        <p:spPr>
          <a:xfrm>
            <a:off x="3355848" y="1874520"/>
            <a:ext cx="2432304" cy="1856232"/>
          </a:xfrm>
          <a:prstGeom prst="rect">
            <a:avLst/>
          </a:prstGeom>
          <a:noFill/>
          <a:ln/>
        </p:spPr>
        <p:txBody>
          <a:bodyPr wrap="square" lIns="0" tIns="0" rIns="0" bIns="0" rtlCol="0" anchor="t"/>
          <a:lstStyle/>
          <a:p>
            <a:pPr indent="0" marL="0">
              <a:buNone/>
            </a:pPr>
            <a:endParaRPr lang="en-US" sz="1050" dirty="0"/>
          </a:p>
        </p:txBody>
      </p:sp>
      <p:sp>
        <p:nvSpPr>
          <p:cNvPr id="17" name="Shape 15"/>
          <p:cNvSpPr/>
          <p:nvPr/>
        </p:nvSpPr>
        <p:spPr>
          <a:xfrm>
            <a:off x="3337560" y="1920240"/>
            <a:ext cx="804672" cy="310896"/>
          </a:xfrm>
          <a:prstGeom prst="rect">
            <a:avLst/>
          </a:prstGeom>
          <a:solidFill>
            <a:srgbClr val="CCFBF1"/>
          </a:solidFill>
          <a:ln w="12700">
            <a:solidFill>
              <a:srgbClr val="E2E8F0"/>
            </a:solidFill>
            <a:prstDash val="solid"/>
          </a:ln>
        </p:spPr>
      </p:sp>
      <p:sp>
        <p:nvSpPr>
          <p:cNvPr id="18" name="Text 16"/>
          <p:cNvSpPr/>
          <p:nvPr/>
        </p:nvSpPr>
        <p:spPr>
          <a:xfrm>
            <a:off x="3337560" y="1920240"/>
            <a:ext cx="804672" cy="310896"/>
          </a:xfrm>
          <a:prstGeom prst="rect">
            <a:avLst/>
          </a:prstGeom>
          <a:noFill/>
          <a:ln/>
        </p:spPr>
        <p:txBody>
          <a:bodyPr wrap="square" lIns="0" tIns="0" rIns="0" bIns="0" rtlCol="0" anchor="ctr"/>
          <a:lstStyle/>
          <a:p>
            <a:pPr algn="ctr" indent="0" marL="0">
              <a:buNone/>
            </a:pPr>
            <a:r>
              <a:rPr lang="en-US" sz="850" b="1" dirty="0">
                <a:solidFill>
                  <a:srgbClr val="1E293B"/>
                </a:solidFill>
                <a:latin typeface="Consolas" pitchFamily="34" charset="0"/>
                <a:ea typeface="Consolas" pitchFamily="34" charset="-122"/>
                <a:cs typeface="Consolas" pitchFamily="34" charset="-120"/>
              </a:rPr>
              <a:t>sex</a:t>
            </a:r>
            <a:endParaRPr lang="en-US" sz="850" dirty="0"/>
          </a:p>
        </p:txBody>
      </p:sp>
      <p:sp>
        <p:nvSpPr>
          <p:cNvPr id="19" name="Shape 17"/>
          <p:cNvSpPr/>
          <p:nvPr/>
        </p:nvSpPr>
        <p:spPr>
          <a:xfrm>
            <a:off x="4160520" y="1920240"/>
            <a:ext cx="804672" cy="310896"/>
          </a:xfrm>
          <a:prstGeom prst="rect">
            <a:avLst/>
          </a:prstGeom>
          <a:solidFill>
            <a:srgbClr val="CCFBF1"/>
          </a:solidFill>
          <a:ln w="12700">
            <a:solidFill>
              <a:srgbClr val="E2E8F0"/>
            </a:solidFill>
            <a:prstDash val="solid"/>
          </a:ln>
        </p:spPr>
      </p:sp>
      <p:sp>
        <p:nvSpPr>
          <p:cNvPr id="20" name="Text 18"/>
          <p:cNvSpPr/>
          <p:nvPr/>
        </p:nvSpPr>
        <p:spPr>
          <a:xfrm>
            <a:off x="4160520" y="1920240"/>
            <a:ext cx="804672" cy="310896"/>
          </a:xfrm>
          <a:prstGeom prst="rect">
            <a:avLst/>
          </a:prstGeom>
          <a:noFill/>
          <a:ln/>
        </p:spPr>
        <p:txBody>
          <a:bodyPr wrap="square" lIns="0" tIns="0" rIns="0" bIns="0" rtlCol="0" anchor="ctr"/>
          <a:lstStyle/>
          <a:p>
            <a:pPr algn="ctr" indent="0" marL="0">
              <a:buNone/>
            </a:pPr>
            <a:r>
              <a:rPr lang="en-US" sz="850" b="1" dirty="0">
                <a:solidFill>
                  <a:srgbClr val="1E293B"/>
                </a:solidFill>
                <a:latin typeface="Consolas" pitchFamily="34" charset="0"/>
                <a:ea typeface="Consolas" pitchFamily="34" charset="-122"/>
                <a:cs typeface="Consolas" pitchFamily="34" charset="-120"/>
              </a:rPr>
              <a:t>sex_female</a:t>
            </a:r>
            <a:endParaRPr lang="en-US" sz="850" dirty="0"/>
          </a:p>
        </p:txBody>
      </p:sp>
      <p:sp>
        <p:nvSpPr>
          <p:cNvPr id="21" name="Shape 19"/>
          <p:cNvSpPr/>
          <p:nvPr/>
        </p:nvSpPr>
        <p:spPr>
          <a:xfrm>
            <a:off x="4983480" y="1920240"/>
            <a:ext cx="804672" cy="310896"/>
          </a:xfrm>
          <a:prstGeom prst="rect">
            <a:avLst/>
          </a:prstGeom>
          <a:solidFill>
            <a:srgbClr val="CCFBF1"/>
          </a:solidFill>
          <a:ln w="12700">
            <a:solidFill>
              <a:srgbClr val="E2E8F0"/>
            </a:solidFill>
            <a:prstDash val="solid"/>
          </a:ln>
        </p:spPr>
      </p:sp>
      <p:sp>
        <p:nvSpPr>
          <p:cNvPr id="22" name="Text 20"/>
          <p:cNvSpPr/>
          <p:nvPr/>
        </p:nvSpPr>
        <p:spPr>
          <a:xfrm>
            <a:off x="4983480" y="1920240"/>
            <a:ext cx="804672" cy="310896"/>
          </a:xfrm>
          <a:prstGeom prst="rect">
            <a:avLst/>
          </a:prstGeom>
          <a:noFill/>
          <a:ln/>
        </p:spPr>
        <p:txBody>
          <a:bodyPr wrap="square" lIns="0" tIns="0" rIns="0" bIns="0" rtlCol="0" anchor="ctr"/>
          <a:lstStyle/>
          <a:p>
            <a:pPr algn="ctr" indent="0" marL="0">
              <a:buNone/>
            </a:pPr>
            <a:r>
              <a:rPr lang="en-US" sz="850" b="1" dirty="0">
                <a:solidFill>
                  <a:srgbClr val="1E293B"/>
                </a:solidFill>
                <a:latin typeface="Consolas" pitchFamily="34" charset="0"/>
                <a:ea typeface="Consolas" pitchFamily="34" charset="-122"/>
                <a:cs typeface="Consolas" pitchFamily="34" charset="-120"/>
              </a:rPr>
              <a:t>sex_male</a:t>
            </a:r>
            <a:endParaRPr lang="en-US" sz="850" dirty="0"/>
          </a:p>
        </p:txBody>
      </p:sp>
      <p:sp>
        <p:nvSpPr>
          <p:cNvPr id="23" name="Shape 21"/>
          <p:cNvSpPr/>
          <p:nvPr/>
        </p:nvSpPr>
        <p:spPr>
          <a:xfrm>
            <a:off x="3337560" y="2249424"/>
            <a:ext cx="804672" cy="310896"/>
          </a:xfrm>
          <a:prstGeom prst="rect">
            <a:avLst/>
          </a:prstGeom>
          <a:solidFill>
            <a:srgbClr val="FFFFFF"/>
          </a:solidFill>
          <a:ln w="12700">
            <a:solidFill>
              <a:srgbClr val="E2E8F0"/>
            </a:solidFill>
            <a:prstDash val="solid"/>
          </a:ln>
        </p:spPr>
      </p:sp>
      <p:sp>
        <p:nvSpPr>
          <p:cNvPr id="24" name="Text 22"/>
          <p:cNvSpPr/>
          <p:nvPr/>
        </p:nvSpPr>
        <p:spPr>
          <a:xfrm>
            <a:off x="3337560" y="2249424"/>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male</a:t>
            </a:r>
            <a:endParaRPr lang="en-US" sz="850" dirty="0"/>
          </a:p>
        </p:txBody>
      </p:sp>
      <p:sp>
        <p:nvSpPr>
          <p:cNvPr id="25" name="Shape 23"/>
          <p:cNvSpPr/>
          <p:nvPr/>
        </p:nvSpPr>
        <p:spPr>
          <a:xfrm>
            <a:off x="4160520" y="2249424"/>
            <a:ext cx="804672" cy="310896"/>
          </a:xfrm>
          <a:prstGeom prst="rect">
            <a:avLst/>
          </a:prstGeom>
          <a:solidFill>
            <a:srgbClr val="FFFFFF"/>
          </a:solidFill>
          <a:ln w="12700">
            <a:solidFill>
              <a:srgbClr val="E2E8F0"/>
            </a:solidFill>
            <a:prstDash val="solid"/>
          </a:ln>
        </p:spPr>
      </p:sp>
      <p:sp>
        <p:nvSpPr>
          <p:cNvPr id="26" name="Text 24"/>
          <p:cNvSpPr/>
          <p:nvPr/>
        </p:nvSpPr>
        <p:spPr>
          <a:xfrm>
            <a:off x="4160520" y="2249424"/>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0</a:t>
            </a:r>
            <a:endParaRPr lang="en-US" sz="850" dirty="0"/>
          </a:p>
        </p:txBody>
      </p:sp>
      <p:sp>
        <p:nvSpPr>
          <p:cNvPr id="27" name="Shape 25"/>
          <p:cNvSpPr/>
          <p:nvPr/>
        </p:nvSpPr>
        <p:spPr>
          <a:xfrm>
            <a:off x="4983480" y="2249424"/>
            <a:ext cx="804672" cy="310896"/>
          </a:xfrm>
          <a:prstGeom prst="rect">
            <a:avLst/>
          </a:prstGeom>
          <a:solidFill>
            <a:srgbClr val="FFFFFF"/>
          </a:solidFill>
          <a:ln w="12700">
            <a:solidFill>
              <a:srgbClr val="E2E8F0"/>
            </a:solidFill>
            <a:prstDash val="solid"/>
          </a:ln>
        </p:spPr>
      </p:sp>
      <p:sp>
        <p:nvSpPr>
          <p:cNvPr id="28" name="Text 26"/>
          <p:cNvSpPr/>
          <p:nvPr/>
        </p:nvSpPr>
        <p:spPr>
          <a:xfrm>
            <a:off x="4983480" y="2249424"/>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1</a:t>
            </a:r>
            <a:endParaRPr lang="en-US" sz="850" dirty="0"/>
          </a:p>
        </p:txBody>
      </p:sp>
      <p:sp>
        <p:nvSpPr>
          <p:cNvPr id="29" name="Shape 27"/>
          <p:cNvSpPr/>
          <p:nvPr/>
        </p:nvSpPr>
        <p:spPr>
          <a:xfrm>
            <a:off x="3337560" y="2578608"/>
            <a:ext cx="804672" cy="310896"/>
          </a:xfrm>
          <a:prstGeom prst="rect">
            <a:avLst/>
          </a:prstGeom>
          <a:solidFill>
            <a:srgbClr val="FFFFFF"/>
          </a:solidFill>
          <a:ln w="12700">
            <a:solidFill>
              <a:srgbClr val="E2E8F0"/>
            </a:solidFill>
            <a:prstDash val="solid"/>
          </a:ln>
        </p:spPr>
      </p:sp>
      <p:sp>
        <p:nvSpPr>
          <p:cNvPr id="30" name="Text 28"/>
          <p:cNvSpPr/>
          <p:nvPr/>
        </p:nvSpPr>
        <p:spPr>
          <a:xfrm>
            <a:off x="3337560" y="2578608"/>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onsolas" pitchFamily="34" charset="0"/>
                <a:ea typeface="Consolas" pitchFamily="34" charset="-122"/>
                <a:cs typeface="Consolas" pitchFamily="34" charset="-120"/>
              </a:rPr>
              <a:t>female</a:t>
            </a:r>
            <a:endParaRPr lang="en-US" sz="850" dirty="0"/>
          </a:p>
        </p:txBody>
      </p:sp>
      <p:sp>
        <p:nvSpPr>
          <p:cNvPr id="31" name="Shape 29"/>
          <p:cNvSpPr/>
          <p:nvPr/>
        </p:nvSpPr>
        <p:spPr>
          <a:xfrm>
            <a:off x="4160520" y="2578608"/>
            <a:ext cx="804672" cy="310896"/>
          </a:xfrm>
          <a:prstGeom prst="rect">
            <a:avLst/>
          </a:prstGeom>
          <a:solidFill>
            <a:srgbClr val="FFFFFF"/>
          </a:solidFill>
          <a:ln w="12700">
            <a:solidFill>
              <a:srgbClr val="E2E8F0"/>
            </a:solidFill>
            <a:prstDash val="solid"/>
          </a:ln>
        </p:spPr>
      </p:sp>
      <p:sp>
        <p:nvSpPr>
          <p:cNvPr id="32" name="Text 30"/>
          <p:cNvSpPr/>
          <p:nvPr/>
        </p:nvSpPr>
        <p:spPr>
          <a:xfrm>
            <a:off x="4160520" y="2578608"/>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1</a:t>
            </a:r>
            <a:endParaRPr lang="en-US" sz="850" dirty="0"/>
          </a:p>
        </p:txBody>
      </p:sp>
      <p:sp>
        <p:nvSpPr>
          <p:cNvPr id="33" name="Shape 31"/>
          <p:cNvSpPr/>
          <p:nvPr/>
        </p:nvSpPr>
        <p:spPr>
          <a:xfrm>
            <a:off x="4983480" y="2578608"/>
            <a:ext cx="804672" cy="310896"/>
          </a:xfrm>
          <a:prstGeom prst="rect">
            <a:avLst/>
          </a:prstGeom>
          <a:solidFill>
            <a:srgbClr val="FFFFFF"/>
          </a:solidFill>
          <a:ln w="12700">
            <a:solidFill>
              <a:srgbClr val="E2E8F0"/>
            </a:solidFill>
            <a:prstDash val="solid"/>
          </a:ln>
        </p:spPr>
      </p:sp>
      <p:sp>
        <p:nvSpPr>
          <p:cNvPr id="34" name="Text 32"/>
          <p:cNvSpPr/>
          <p:nvPr/>
        </p:nvSpPr>
        <p:spPr>
          <a:xfrm>
            <a:off x="4983480" y="2578608"/>
            <a:ext cx="804672" cy="310896"/>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0</a:t>
            </a:r>
            <a:endParaRPr lang="en-US" sz="850" dirty="0"/>
          </a:p>
        </p:txBody>
      </p:sp>
      <p:sp>
        <p:nvSpPr>
          <p:cNvPr id="35" name="Text 33"/>
          <p:cNvSpPr/>
          <p:nvPr/>
        </p:nvSpPr>
        <p:spPr>
          <a:xfrm>
            <a:off x="3355848" y="2971800"/>
            <a:ext cx="2468880" cy="777240"/>
          </a:xfrm>
          <a:prstGeom prst="rect">
            <a:avLst/>
          </a:prstGeom>
          <a:noFill/>
          <a:ln/>
        </p:spPr>
        <p:txBody>
          <a:bodyPr wrap="square" lIns="0" tIns="0" rIns="0" bIns="0" rtlCol="0" anchor="t"/>
          <a:lstStyle/>
          <a:p>
            <a:pPr indent="0" marL="0">
              <a:buNone/>
            </a:pPr>
            <a:r>
              <a:rPr lang="en-US" sz="1050" dirty="0">
                <a:solidFill>
                  <a:srgbClr val="1E293B"/>
                </a:solidFill>
              </a:rPr>
              <a:t>One yes/no column per word.</a:t>
            </a:r>
            <a:endParaRPr lang="en-US" sz="1050" dirty="0"/>
          </a:p>
          <a:p>
            <a:pPr indent="0" marL="0">
              <a:buNone/>
            </a:pPr>
            <a:endParaRPr lang="en-US" sz="1050" dirty="0"/>
          </a:p>
          <a:p>
            <a:pPr indent="0" marL="0">
              <a:buNone/>
            </a:pPr>
            <a:r>
              <a:rPr lang="en-US" sz="1050" dirty="0">
                <a:solidFill>
                  <a:srgbClr val="1E293B"/>
                </a:solidFill>
              </a:rPr>
              <a:t>OneHotEncoder</a:t>
            </a:r>
            <a:endParaRPr lang="en-US" sz="1050" dirty="0"/>
          </a:p>
        </p:txBody>
      </p:sp>
      <p:sp>
        <p:nvSpPr>
          <p:cNvPr id="36" name="Shape 34"/>
          <p:cNvSpPr/>
          <p:nvPr/>
        </p:nvSpPr>
        <p:spPr>
          <a:xfrm>
            <a:off x="6035040" y="1463040"/>
            <a:ext cx="2651760" cy="233172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6035040" y="1463040"/>
            <a:ext cx="2651760" cy="347472"/>
          </a:xfrm>
          <a:prstGeom prst="rect">
            <a:avLst/>
          </a:prstGeom>
          <a:solidFill>
            <a:srgbClr val="F97316"/>
          </a:solidFill>
          <a:ln w="12700">
            <a:solidFill>
              <a:srgbClr val="F97316"/>
            </a:solidFill>
            <a:prstDash val="solid"/>
          </a:ln>
        </p:spPr>
      </p:sp>
      <p:sp>
        <p:nvSpPr>
          <p:cNvPr id="38" name="Text 36"/>
          <p:cNvSpPr/>
          <p:nvPr/>
        </p:nvSpPr>
        <p:spPr>
          <a:xfrm>
            <a:off x="6144768" y="146304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Same scale</a:t>
            </a:r>
            <a:endParaRPr lang="en-US" sz="1150" dirty="0"/>
          </a:p>
        </p:txBody>
      </p:sp>
      <p:sp>
        <p:nvSpPr>
          <p:cNvPr id="39" name="Text 37"/>
          <p:cNvSpPr/>
          <p:nvPr/>
        </p:nvSpPr>
        <p:spPr>
          <a:xfrm>
            <a:off x="6144768" y="1874520"/>
            <a:ext cx="2432304" cy="1856232"/>
          </a:xfrm>
          <a:prstGeom prst="rect">
            <a:avLst/>
          </a:prstGeom>
          <a:noFill/>
          <a:ln/>
        </p:spPr>
        <p:txBody>
          <a:bodyPr wrap="square" lIns="0" tIns="0" rIns="0" bIns="0" rtlCol="0" anchor="t"/>
          <a:lstStyle/>
          <a:p>
            <a:pPr indent="0" marL="0">
              <a:buNone/>
            </a:pPr>
            <a:r>
              <a:rPr lang="en-US" sz="1050" dirty="0">
                <a:solidFill>
                  <a:srgbClr val="1E293B"/>
                </a:solidFill>
              </a:rPr>
              <a:t>KNN measures distance. Fare goes 0–512, siblings 0–8: a fare gap of 50 would shout 50× louder than one sibling.</a:t>
            </a:r>
            <a:endParaRPr lang="en-US" sz="1050" dirty="0"/>
          </a:p>
          <a:p>
            <a:pPr indent="0" marL="0">
              <a:buNone/>
            </a:pPr>
            <a:endParaRPr lang="en-US" sz="1050" dirty="0"/>
          </a:p>
          <a:p>
            <a:pPr indent="0" marL="0">
              <a:buNone/>
            </a:pPr>
            <a:r>
              <a:rPr lang="en-US" sz="1050" dirty="0">
                <a:solidFill>
                  <a:srgbClr val="1E293B"/>
                </a:solidFill>
              </a:rPr>
              <a:t>StandardScaler</a:t>
            </a:r>
            <a:endParaRPr lang="en-US" sz="1050" dirty="0"/>
          </a:p>
        </p:txBody>
      </p:sp>
      <p:sp>
        <p:nvSpPr>
          <p:cNvPr id="40" name="Shape 38"/>
          <p:cNvSpPr/>
          <p:nvPr/>
        </p:nvSpPr>
        <p:spPr>
          <a:xfrm>
            <a:off x="457200" y="3931920"/>
            <a:ext cx="8229600" cy="777240"/>
          </a:xfrm>
          <a:prstGeom prst="rect">
            <a:avLst/>
          </a:prstGeom>
          <a:solidFill>
            <a:srgbClr val="F0FDF4"/>
          </a:solidFill>
          <a:ln w="12700">
            <a:solidFill>
              <a:srgbClr val="16A34A"/>
            </a:solidFill>
            <a:prstDash val="solid"/>
          </a:ln>
        </p:spPr>
      </p:sp>
      <p:sp>
        <p:nvSpPr>
          <p:cNvPr id="41" name="Text 39"/>
          <p:cNvSpPr/>
          <p:nvPr/>
        </p:nvSpPr>
        <p:spPr>
          <a:xfrm>
            <a:off x="594360" y="3931920"/>
            <a:ext cx="7955280" cy="777240"/>
          </a:xfrm>
          <a:prstGeom prst="rect">
            <a:avLst/>
          </a:prstGeom>
          <a:noFill/>
          <a:ln/>
        </p:spPr>
        <p:txBody>
          <a:bodyPr wrap="square" lIns="0" tIns="0" rIns="0" bIns="0" rtlCol="0" anchor="ctr"/>
          <a:lstStyle/>
          <a:p>
            <a:pPr indent="0" marL="0">
              <a:buNone/>
            </a:pPr>
            <a:r>
              <a:rPr lang="en-US" sz="1200" b="1" dirty="0">
                <a:solidFill>
                  <a:srgbClr val="16A34A"/>
                </a:solidFill>
              </a:rPr>
              <a:t>Proof, same KNN, same data:  </a:t>
            </a:r>
            <a:pPr indent="0" marL="0">
              <a:buNone/>
            </a:pPr>
            <a:r>
              <a:rPr lang="en-US" sz="1200" b="1" dirty="0">
                <a:solidFill>
                  <a:srgbClr val="1E293B"/>
                </a:solidFill>
              </a:rPr>
              <a:t>F1 0.59 without scaling  →  0.72 with scaling. </a:t>
            </a:r>
            <a:pPr indent="0" marL="0">
              <a:buNone/>
            </a:pPr>
            <a:r>
              <a:rPr lang="en-US" sz="1200" i="1" dirty="0">
                <a:solidFill>
                  <a:srgbClr val="64748B"/>
                </a:solidFill>
              </a:rPr>
              <a:t>(Trees do not care about scale — but it does not hurt them.)</a:t>
            </a:r>
            <a:endParaRPr lang="en-US" sz="1200" dirty="0"/>
          </a:p>
        </p:txBody>
      </p:sp>
      <p:sp>
        <p:nvSpPr>
          <p:cNvPr id="42" name="Text 40"/>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43" name="Text 41"/>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4</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4</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The Pipeline: cleaning and model on one recipe card</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It learns the median and the scale from the training part only. That is how you avoid peeking.</a:t>
            </a:r>
            <a:endParaRPr lang="en-US" sz="1300" dirty="0"/>
          </a:p>
        </p:txBody>
      </p:sp>
      <p:sp>
        <p:nvSpPr>
          <p:cNvPr id="9" name="Text 7"/>
          <p:cNvSpPr/>
          <p:nvPr/>
        </p:nvSpPr>
        <p:spPr>
          <a:xfrm>
            <a:off x="457200" y="1417320"/>
            <a:ext cx="3977640" cy="274320"/>
          </a:xfrm>
          <a:prstGeom prst="rect">
            <a:avLst/>
          </a:prstGeom>
          <a:noFill/>
          <a:ln/>
        </p:spPr>
        <p:txBody>
          <a:bodyPr wrap="square" lIns="0" tIns="0" rIns="0" bIns="0" rtlCol="0" anchor="ctr"/>
          <a:lstStyle/>
          <a:p>
            <a:pPr indent="0" marL="0">
              <a:buNone/>
            </a:pPr>
            <a:r>
              <a:rPr lang="en-US" sz="1200" b="1" dirty="0">
                <a:solidFill>
                  <a:srgbClr val="DC2626"/>
                </a:solidFill>
              </a:rPr>
              <a:t>✗  Peeks in the envelope</a:t>
            </a:r>
            <a:endParaRPr lang="en-US" sz="1200" dirty="0"/>
          </a:p>
        </p:txBody>
      </p:sp>
      <p:sp>
        <p:nvSpPr>
          <p:cNvPr id="10" name="Shape 8"/>
          <p:cNvSpPr/>
          <p:nvPr/>
        </p:nvSpPr>
        <p:spPr>
          <a:xfrm>
            <a:off x="457200" y="1737360"/>
            <a:ext cx="3977640" cy="201168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94360" y="1828800"/>
            <a:ext cx="3703320" cy="1828800"/>
          </a:xfrm>
          <a:prstGeom prst="rect">
            <a:avLst/>
          </a:prstGeom>
          <a:noFill/>
          <a:ln/>
        </p:spPr>
        <p:txBody>
          <a:bodyPr wrap="square" lIns="0" tIns="0" rIns="0" bIns="0" rtlCol="0" anchor="t"/>
          <a:lstStyle/>
          <a:p>
            <a:pPr indent="0" marL="0">
              <a:buNone/>
            </a:pPr>
            <a:r>
              <a:rPr lang="en-US" sz="1000" dirty="0">
                <a:solidFill>
                  <a:srgbClr val="A8FF60"/>
                </a:solidFill>
                <a:latin typeface="Consolas" pitchFamily="34" charset="0"/>
                <a:ea typeface="Consolas" pitchFamily="34" charset="-122"/>
                <a:cs typeface="Consolas" pitchFamily="34" charset="-120"/>
              </a:rPr>
              <a:t># median + scale computed with the</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test passengers included ...</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X_all = StandardScaler().fit_transform(X)</a:t>
            </a:r>
            <a:endParaRPr lang="en-US" sz="1000" dirty="0"/>
          </a:p>
          <a:p>
            <a:pPr indent="0" marL="0">
              <a:buNone/>
            </a:pP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 and only then split</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X_train, X_test, ... = train_test_split(</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X_all, ...)</a:t>
            </a:r>
            <a:endParaRPr lang="en-US" sz="1000" dirty="0"/>
          </a:p>
        </p:txBody>
      </p:sp>
      <p:sp>
        <p:nvSpPr>
          <p:cNvPr id="12" name="Text 10"/>
          <p:cNvSpPr/>
          <p:nvPr/>
        </p:nvSpPr>
        <p:spPr>
          <a:xfrm>
            <a:off x="4709160" y="1417320"/>
            <a:ext cx="3977640" cy="274320"/>
          </a:xfrm>
          <a:prstGeom prst="rect">
            <a:avLst/>
          </a:prstGeom>
          <a:noFill/>
          <a:ln/>
        </p:spPr>
        <p:txBody>
          <a:bodyPr wrap="square" lIns="0" tIns="0" rIns="0" bIns="0" rtlCol="0" anchor="ctr"/>
          <a:lstStyle/>
          <a:p>
            <a:pPr indent="0" marL="0">
              <a:buNone/>
            </a:pPr>
            <a:r>
              <a:rPr lang="en-US" sz="1200" b="1" dirty="0">
                <a:solidFill>
                  <a:srgbClr val="16A34A"/>
                </a:solidFill>
              </a:rPr>
              <a:t>✓  Split first, then a Pipeline</a:t>
            </a:r>
            <a:endParaRPr lang="en-US" sz="1200" dirty="0"/>
          </a:p>
        </p:txBody>
      </p:sp>
      <p:sp>
        <p:nvSpPr>
          <p:cNvPr id="13" name="Shape 11"/>
          <p:cNvSpPr/>
          <p:nvPr/>
        </p:nvSpPr>
        <p:spPr>
          <a:xfrm>
            <a:off x="4709160" y="1737360"/>
            <a:ext cx="3977640" cy="201168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4846320" y="1828800"/>
            <a:ext cx="3703320" cy="1828800"/>
          </a:xfrm>
          <a:prstGeom prst="rect">
            <a:avLst/>
          </a:prstGeom>
          <a:noFill/>
          <a:ln/>
        </p:spPr>
        <p:txBody>
          <a:bodyPr wrap="square" lIns="0" tIns="0" rIns="0" bIns="0" rtlCol="0" anchor="t"/>
          <a:lstStyle/>
          <a:p>
            <a:pPr indent="0" marL="0">
              <a:buNone/>
            </a:pPr>
            <a:r>
              <a:rPr lang="en-US" sz="1000" dirty="0">
                <a:solidFill>
                  <a:srgbClr val="A8FF60"/>
                </a:solidFill>
                <a:latin typeface="Consolas" pitchFamily="34" charset="0"/>
                <a:ea typeface="Consolas" pitchFamily="34" charset="-122"/>
                <a:cs typeface="Consolas" pitchFamily="34" charset="-120"/>
              </a:rPr>
              <a:t>X_train, X_test, ... = train_test_split(X, ...)</a:t>
            </a:r>
            <a:endParaRPr lang="en-US" sz="1000" dirty="0"/>
          </a:p>
          <a:p>
            <a:pPr indent="0" marL="0">
              <a:buNone/>
            </a:pP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model = Pipeline([</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("prep",  prep),      # fill, words, scale</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("model", KNeighborsClassifier()),</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model.fit(X_train, y_train)  # learns from</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 train only</a:t>
            </a:r>
            <a:endParaRPr lang="en-US" sz="1000" dirty="0"/>
          </a:p>
        </p:txBody>
      </p:sp>
      <p:sp>
        <p:nvSpPr>
          <p:cNvPr id="15" name="Shape 13"/>
          <p:cNvSpPr/>
          <p:nvPr/>
        </p:nvSpPr>
        <p:spPr>
          <a:xfrm>
            <a:off x="457200" y="3931920"/>
            <a:ext cx="822960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94360" y="3931920"/>
            <a:ext cx="7955280" cy="777240"/>
          </a:xfrm>
          <a:prstGeom prst="rect">
            <a:avLst/>
          </a:prstGeom>
          <a:noFill/>
          <a:ln/>
        </p:spPr>
        <p:txBody>
          <a:bodyPr wrap="square" lIns="0" tIns="0" rIns="0" bIns="0" rtlCol="0" anchor="ctr"/>
          <a:lstStyle/>
          <a:p>
            <a:pPr indent="0" marL="0">
              <a:buNone/>
            </a:pPr>
            <a:r>
              <a:rPr lang="en-US" sz="1150" b="1" dirty="0">
                <a:solidFill>
                  <a:srgbClr val="0A2342"/>
                </a:solidFill>
              </a:rPr>
              <a:t>Leakage = information from the test set sneaking into training.  </a:t>
            </a:r>
            <a:pPr indent="0" marL="0">
              <a:buNone/>
            </a:pPr>
            <a:r>
              <a:rPr lang="en-US" sz="1150" dirty="0">
                <a:solidFill>
                  <a:srgbClr val="1E293B"/>
                </a:solidFill>
              </a:rPr>
              <a:t>Your score gets a little too good and you never notice. Put every cleaning step inside the Pipeline and you do not have to think about it any more — it is the seatbelt.</a:t>
            </a:r>
            <a:endParaRPr lang="en-US" sz="1150" dirty="0"/>
          </a:p>
        </p:txBody>
      </p:sp>
      <p:sp>
        <p:nvSpPr>
          <p:cNvPr id="17" name="Text 15"/>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18" name="Text 16"/>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5</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5</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Pick your scoreboard before you play</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Each score is just a question about the confusion matrix you already know.</a:t>
            </a:r>
            <a:endParaRPr lang="en-US" sz="1300" dirty="0"/>
          </a:p>
        </p:txBody>
      </p:sp>
      <p:sp>
        <p:nvSpPr>
          <p:cNvPr id="9" name="Shape 7"/>
          <p:cNvSpPr/>
          <p:nvPr/>
        </p:nvSpPr>
        <p:spPr>
          <a:xfrm>
            <a:off x="457200" y="1463040"/>
            <a:ext cx="2606040" cy="169164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66928" y="1517904"/>
            <a:ext cx="2377440" cy="384048"/>
          </a:xfrm>
          <a:prstGeom prst="rect">
            <a:avLst/>
          </a:prstGeom>
          <a:noFill/>
          <a:ln/>
        </p:spPr>
        <p:txBody>
          <a:bodyPr wrap="square" lIns="0" tIns="0" rIns="0" bIns="0" rtlCol="0" anchor="ctr"/>
          <a:lstStyle/>
          <a:p>
            <a:pPr indent="0" marL="0">
              <a:buNone/>
            </a:pPr>
            <a:r>
              <a:rPr lang="en-US" sz="1700" b="1" dirty="0">
                <a:solidFill>
                  <a:srgbClr val="0D9488"/>
                </a:solidFill>
              </a:rPr>
              <a:t>Recall</a:t>
            </a:r>
            <a:endParaRPr lang="en-US" sz="1700" dirty="0"/>
          </a:p>
        </p:txBody>
      </p:sp>
      <p:sp>
        <p:nvSpPr>
          <p:cNvPr id="11" name="Text 9"/>
          <p:cNvSpPr/>
          <p:nvPr/>
        </p:nvSpPr>
        <p:spPr>
          <a:xfrm>
            <a:off x="566928" y="1920240"/>
            <a:ext cx="2377440" cy="640080"/>
          </a:xfrm>
          <a:prstGeom prst="rect">
            <a:avLst/>
          </a:prstGeom>
          <a:noFill/>
          <a:ln/>
        </p:spPr>
        <p:txBody>
          <a:bodyPr wrap="square" lIns="0" tIns="0" rIns="0" bIns="0" rtlCol="0" anchor="t"/>
          <a:lstStyle/>
          <a:p>
            <a:pPr indent="0" marL="0">
              <a:buNone/>
            </a:pPr>
            <a:r>
              <a:rPr lang="en-US" sz="1100" dirty="0">
                <a:solidFill>
                  <a:srgbClr val="1E293B"/>
                </a:solidFill>
              </a:rPr>
              <a:t>Of all the real "yes" cases, how many did we find?</a:t>
            </a:r>
            <a:endParaRPr lang="en-US" sz="1100" dirty="0"/>
          </a:p>
        </p:txBody>
      </p:sp>
      <p:sp>
        <p:nvSpPr>
          <p:cNvPr id="12" name="Text 10"/>
          <p:cNvSpPr/>
          <p:nvPr/>
        </p:nvSpPr>
        <p:spPr>
          <a:xfrm>
            <a:off x="566928" y="2560320"/>
            <a:ext cx="2377440" cy="548640"/>
          </a:xfrm>
          <a:prstGeom prst="rect">
            <a:avLst/>
          </a:prstGeom>
          <a:noFill/>
          <a:ln/>
        </p:spPr>
        <p:txBody>
          <a:bodyPr wrap="square" lIns="0" tIns="0" rIns="0" bIns="0" rtlCol="0" anchor="t"/>
          <a:lstStyle/>
          <a:p>
            <a:pPr indent="0" marL="0">
              <a:buNone/>
            </a:pPr>
            <a:r>
              <a:rPr lang="en-US" sz="950" i="1" dirty="0">
                <a:solidFill>
                  <a:srgbClr val="64748B"/>
                </a:solidFill>
              </a:rPr>
              <a:t>Care about it when a miss is worst — a sick person sent home</a:t>
            </a:r>
            <a:endParaRPr lang="en-US" sz="950" dirty="0"/>
          </a:p>
        </p:txBody>
      </p:sp>
      <p:sp>
        <p:nvSpPr>
          <p:cNvPr id="13" name="Shape 11"/>
          <p:cNvSpPr/>
          <p:nvPr/>
        </p:nvSpPr>
        <p:spPr>
          <a:xfrm>
            <a:off x="3246120" y="1463040"/>
            <a:ext cx="2606040" cy="169164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355848" y="1517904"/>
            <a:ext cx="2377440" cy="384048"/>
          </a:xfrm>
          <a:prstGeom prst="rect">
            <a:avLst/>
          </a:prstGeom>
          <a:noFill/>
          <a:ln/>
        </p:spPr>
        <p:txBody>
          <a:bodyPr wrap="square" lIns="0" tIns="0" rIns="0" bIns="0" rtlCol="0" anchor="ctr"/>
          <a:lstStyle/>
          <a:p>
            <a:pPr indent="0" marL="0">
              <a:buNone/>
            </a:pPr>
            <a:r>
              <a:rPr lang="en-US" sz="1700" b="1" dirty="0">
                <a:solidFill>
                  <a:srgbClr val="1C4587"/>
                </a:solidFill>
              </a:rPr>
              <a:t>Precision</a:t>
            </a:r>
            <a:endParaRPr lang="en-US" sz="1700" dirty="0"/>
          </a:p>
        </p:txBody>
      </p:sp>
      <p:sp>
        <p:nvSpPr>
          <p:cNvPr id="15" name="Text 13"/>
          <p:cNvSpPr/>
          <p:nvPr/>
        </p:nvSpPr>
        <p:spPr>
          <a:xfrm>
            <a:off x="3355848" y="1920240"/>
            <a:ext cx="2377440" cy="640080"/>
          </a:xfrm>
          <a:prstGeom prst="rect">
            <a:avLst/>
          </a:prstGeom>
          <a:noFill/>
          <a:ln/>
        </p:spPr>
        <p:txBody>
          <a:bodyPr wrap="square" lIns="0" tIns="0" rIns="0" bIns="0" rtlCol="0" anchor="t"/>
          <a:lstStyle/>
          <a:p>
            <a:pPr indent="0" marL="0">
              <a:buNone/>
            </a:pPr>
            <a:r>
              <a:rPr lang="en-US" sz="1100" dirty="0">
                <a:solidFill>
                  <a:srgbClr val="1E293B"/>
                </a:solidFill>
              </a:rPr>
              <a:t>Of everyone we said "yes" to, how many really were?</a:t>
            </a:r>
            <a:endParaRPr lang="en-US" sz="1100" dirty="0"/>
          </a:p>
        </p:txBody>
      </p:sp>
      <p:sp>
        <p:nvSpPr>
          <p:cNvPr id="16" name="Text 14"/>
          <p:cNvSpPr/>
          <p:nvPr/>
        </p:nvSpPr>
        <p:spPr>
          <a:xfrm>
            <a:off x="3355848" y="2560320"/>
            <a:ext cx="2377440" cy="548640"/>
          </a:xfrm>
          <a:prstGeom prst="rect">
            <a:avLst/>
          </a:prstGeom>
          <a:noFill/>
          <a:ln/>
        </p:spPr>
        <p:txBody>
          <a:bodyPr wrap="square" lIns="0" tIns="0" rIns="0" bIns="0" rtlCol="0" anchor="t"/>
          <a:lstStyle/>
          <a:p>
            <a:pPr indent="0" marL="0">
              <a:buNone/>
            </a:pPr>
            <a:r>
              <a:rPr lang="en-US" sz="950" i="1" dirty="0">
                <a:solidFill>
                  <a:srgbClr val="64748B"/>
                </a:solidFill>
              </a:rPr>
              <a:t>Care about it when a false alarm is worst — an innocent person flagged</a:t>
            </a:r>
            <a:endParaRPr lang="en-US" sz="950" dirty="0"/>
          </a:p>
        </p:txBody>
      </p:sp>
      <p:sp>
        <p:nvSpPr>
          <p:cNvPr id="17" name="Shape 15"/>
          <p:cNvSpPr/>
          <p:nvPr/>
        </p:nvSpPr>
        <p:spPr>
          <a:xfrm>
            <a:off x="6035040" y="1463040"/>
            <a:ext cx="2606040" cy="1691640"/>
          </a:xfrm>
          <a:prstGeom prst="rect">
            <a:avLst/>
          </a:prstGeom>
          <a:solidFill>
            <a:srgbClr val="FFFFFF"/>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6144768" y="1517904"/>
            <a:ext cx="2377440" cy="384048"/>
          </a:xfrm>
          <a:prstGeom prst="rect">
            <a:avLst/>
          </a:prstGeom>
          <a:noFill/>
          <a:ln/>
        </p:spPr>
        <p:txBody>
          <a:bodyPr wrap="square" lIns="0" tIns="0" rIns="0" bIns="0" rtlCol="0" anchor="ctr"/>
          <a:lstStyle/>
          <a:p>
            <a:pPr indent="0" marL="0">
              <a:buNone/>
            </a:pPr>
            <a:r>
              <a:rPr lang="en-US" sz="1700" b="1" dirty="0">
                <a:solidFill>
                  <a:srgbClr val="7C3AED"/>
                </a:solidFill>
              </a:rPr>
              <a:t>F1</a:t>
            </a:r>
            <a:endParaRPr lang="en-US" sz="1700" dirty="0"/>
          </a:p>
        </p:txBody>
      </p:sp>
      <p:sp>
        <p:nvSpPr>
          <p:cNvPr id="19" name="Text 17"/>
          <p:cNvSpPr/>
          <p:nvPr/>
        </p:nvSpPr>
        <p:spPr>
          <a:xfrm>
            <a:off x="6144768" y="1920240"/>
            <a:ext cx="2377440" cy="640080"/>
          </a:xfrm>
          <a:prstGeom prst="rect">
            <a:avLst/>
          </a:prstGeom>
          <a:noFill/>
          <a:ln/>
        </p:spPr>
        <p:txBody>
          <a:bodyPr wrap="square" lIns="0" tIns="0" rIns="0" bIns="0" rtlCol="0" anchor="t"/>
          <a:lstStyle/>
          <a:p>
            <a:pPr indent="0" marL="0">
              <a:buNone/>
            </a:pPr>
            <a:r>
              <a:rPr lang="en-US" sz="1100" dirty="0">
                <a:solidFill>
                  <a:srgbClr val="1E293B"/>
                </a:solidFill>
              </a:rPr>
              <a:t>A balance of recall and precision, in one number.</a:t>
            </a:r>
            <a:endParaRPr lang="en-US" sz="1100" dirty="0"/>
          </a:p>
        </p:txBody>
      </p:sp>
      <p:sp>
        <p:nvSpPr>
          <p:cNvPr id="20" name="Text 18"/>
          <p:cNvSpPr/>
          <p:nvPr/>
        </p:nvSpPr>
        <p:spPr>
          <a:xfrm>
            <a:off x="6144768" y="2560320"/>
            <a:ext cx="2377440" cy="548640"/>
          </a:xfrm>
          <a:prstGeom prst="rect">
            <a:avLst/>
          </a:prstGeom>
          <a:noFill/>
          <a:ln/>
        </p:spPr>
        <p:txBody>
          <a:bodyPr wrap="square" lIns="0" tIns="0" rIns="0" bIns="0" rtlCol="0" anchor="t"/>
          <a:lstStyle/>
          <a:p>
            <a:pPr indent="0" marL="0">
              <a:buNone/>
            </a:pPr>
            <a:r>
              <a:rPr lang="en-US" sz="950" i="1" dirty="0">
                <a:solidFill>
                  <a:srgbClr val="64748B"/>
                </a:solidFill>
              </a:rPr>
              <a:t>Care about it when both mistakes matter</a:t>
            </a:r>
            <a:endParaRPr lang="en-US" sz="950" dirty="0"/>
          </a:p>
        </p:txBody>
      </p:sp>
      <p:sp>
        <p:nvSpPr>
          <p:cNvPr id="21" name="Shape 19"/>
          <p:cNvSpPr/>
          <p:nvPr/>
        </p:nvSpPr>
        <p:spPr>
          <a:xfrm>
            <a:off x="457200" y="3291840"/>
            <a:ext cx="4754880" cy="1371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594360" y="3337560"/>
            <a:ext cx="4526280" cy="1280160"/>
          </a:xfrm>
          <a:prstGeom prst="rect">
            <a:avLst/>
          </a:prstGeom>
          <a:noFill/>
          <a:ln/>
        </p:spPr>
        <p:txBody>
          <a:bodyPr wrap="square" lIns="0" tIns="0" rIns="0" bIns="0" rtlCol="0" anchor="ctr"/>
          <a:lstStyle/>
          <a:p>
            <a:pPr indent="0" marL="0">
              <a:buNone/>
            </a:pPr>
            <a:r>
              <a:rPr lang="en-US" sz="1100" b="1" dirty="0">
                <a:solidFill>
                  <a:srgbClr val="0A2342"/>
                </a:solidFill>
              </a:rPr>
              <a:t>Example: </a:t>
            </a:r>
            <a:pPr indent="0" marL="0">
              <a:buNone/>
            </a:pPr>
            <a:r>
              <a:rPr lang="en-US" sz="1100" dirty="0">
                <a:solidFill>
                  <a:srgbClr val="1E293B"/>
                </a:solidFill>
              </a:rPr>
              <a:t>100 passengers, 40 survived. The model says "survived" to 30 people; 24 of them really did.</a:t>
            </a:r>
            <a:endParaRPr lang="en-US" sz="1100" dirty="0"/>
          </a:p>
          <a:p>
            <a:pPr indent="0" marL="0">
              <a:buNone/>
            </a:pPr>
            <a:r>
              <a:rPr lang="en-US" sz="1100" b="1" dirty="0">
                <a:solidFill>
                  <a:srgbClr val="0D9488"/>
                </a:solidFill>
              </a:rPr>
              <a:t>Recall = 24 / 40 = 0.60</a:t>
            </a:r>
            <a:endParaRPr lang="en-US" sz="1100" dirty="0"/>
          </a:p>
          <a:p>
            <a:pPr indent="0" marL="0">
              <a:buNone/>
            </a:pPr>
            <a:r>
              <a:rPr lang="en-US" sz="1100" b="1" dirty="0">
                <a:solidFill>
                  <a:srgbClr val="1C4587"/>
                </a:solidFill>
              </a:rPr>
              <a:t>Precision = 24 / 30 = 0.80</a:t>
            </a:r>
            <a:endParaRPr lang="en-US" sz="1100" dirty="0"/>
          </a:p>
        </p:txBody>
      </p:sp>
      <p:sp>
        <p:nvSpPr>
          <p:cNvPr id="23" name="Shape 21"/>
          <p:cNvSpPr/>
          <p:nvPr/>
        </p:nvSpPr>
        <p:spPr>
          <a:xfrm>
            <a:off x="5394960" y="3291840"/>
            <a:ext cx="3291840" cy="1371600"/>
          </a:xfrm>
          <a:prstGeom prst="rect">
            <a:avLst/>
          </a:prstGeom>
          <a:solidFill>
            <a:srgbClr val="FFF7ED"/>
          </a:solidFill>
          <a:ln w="12700">
            <a:solidFill>
              <a:srgbClr val="F97316"/>
            </a:solidFill>
            <a:prstDash val="solid"/>
          </a:ln>
        </p:spPr>
      </p:sp>
      <p:sp>
        <p:nvSpPr>
          <p:cNvPr id="24" name="Text 22"/>
          <p:cNvSpPr/>
          <p:nvPr/>
        </p:nvSpPr>
        <p:spPr>
          <a:xfrm>
            <a:off x="5532120" y="3291840"/>
            <a:ext cx="3063240" cy="1371600"/>
          </a:xfrm>
          <a:prstGeom prst="rect">
            <a:avLst/>
          </a:prstGeom>
          <a:noFill/>
          <a:ln/>
        </p:spPr>
        <p:txBody>
          <a:bodyPr wrap="square" lIns="0" tIns="0" rIns="0" bIns="0" rtlCol="0" anchor="ctr"/>
          <a:lstStyle/>
          <a:p>
            <a:pPr indent="0" marL="0">
              <a:buNone/>
            </a:pPr>
            <a:r>
              <a:rPr lang="en-US" sz="1100" b="1" dirty="0">
                <a:solidFill>
                  <a:srgbClr val="F97316"/>
                </a:solidFill>
              </a:rPr>
              <a:t>Choose before you train.</a:t>
            </a:r>
            <a:endParaRPr lang="en-US" sz="1100" dirty="0"/>
          </a:p>
          <a:p>
            <a:pPr indent="0" marL="0">
              <a:buNone/>
            </a:pPr>
            <a:r>
              <a:rPr lang="en-US" sz="1100" dirty="0">
                <a:solidFill>
                  <a:srgbClr val="1E293B"/>
                </a:solidFill>
              </a:rPr>
              <a:t>Ask: which mistake hurts the people your model is about more? That is an ethical question, not a coding one.</a:t>
            </a:r>
            <a:endParaRPr lang="en-US" sz="1100" dirty="0"/>
          </a:p>
        </p:txBody>
      </p:sp>
      <p:sp>
        <p:nvSpPr>
          <p:cNvPr id="25" name="Text 23"/>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26" name="Text 24"/>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6</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6</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Tune with practice exams</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Cross-validation: find the best setting without opening the envelope.</a:t>
            </a:r>
            <a:endParaRPr lang="en-US" sz="1300" dirty="0"/>
          </a:p>
        </p:txBody>
      </p:sp>
      <p:sp>
        <p:nvSpPr>
          <p:cNvPr id="9" name="Text 7"/>
          <p:cNvSpPr/>
          <p:nvPr/>
        </p:nvSpPr>
        <p:spPr>
          <a:xfrm>
            <a:off x="457200" y="1417320"/>
            <a:ext cx="3840480" cy="274320"/>
          </a:xfrm>
          <a:prstGeom prst="rect">
            <a:avLst/>
          </a:prstGeom>
          <a:noFill/>
          <a:ln/>
        </p:spPr>
        <p:txBody>
          <a:bodyPr wrap="square" lIns="0" tIns="0" rIns="0" bIns="0" rtlCol="0" anchor="ctr"/>
          <a:lstStyle/>
          <a:p>
            <a:pPr indent="0" marL="0">
              <a:buNone/>
            </a:pPr>
            <a:r>
              <a:rPr lang="en-US" sz="1050" dirty="0">
                <a:solidFill>
                  <a:srgbClr val="64748B"/>
                </a:solidFill>
              </a:rPr>
              <a:t>The training data, cut into 5 parts:</a:t>
            </a:r>
            <a:endParaRPr lang="en-US" sz="1050" dirty="0"/>
          </a:p>
        </p:txBody>
      </p:sp>
      <p:sp>
        <p:nvSpPr>
          <p:cNvPr id="10" name="Text 8"/>
          <p:cNvSpPr/>
          <p:nvPr/>
        </p:nvSpPr>
        <p:spPr>
          <a:xfrm>
            <a:off x="457200" y="1737360"/>
            <a:ext cx="685800" cy="310896"/>
          </a:xfrm>
          <a:prstGeom prst="rect">
            <a:avLst/>
          </a:prstGeom>
          <a:noFill/>
          <a:ln/>
        </p:spPr>
        <p:txBody>
          <a:bodyPr wrap="square" lIns="0" tIns="0" rIns="0" bIns="0" rtlCol="0" anchor="ctr"/>
          <a:lstStyle/>
          <a:p>
            <a:pPr indent="0" marL="0">
              <a:buNone/>
            </a:pPr>
            <a:r>
              <a:rPr lang="en-US" sz="900" dirty="0">
                <a:solidFill>
                  <a:srgbClr val="64748B"/>
                </a:solidFill>
              </a:rPr>
              <a:t>round 1</a:t>
            </a:r>
            <a:endParaRPr lang="en-US" sz="900" dirty="0"/>
          </a:p>
        </p:txBody>
      </p:sp>
      <p:sp>
        <p:nvSpPr>
          <p:cNvPr id="11" name="Shape 9"/>
          <p:cNvSpPr/>
          <p:nvPr/>
        </p:nvSpPr>
        <p:spPr>
          <a:xfrm>
            <a:off x="1188720" y="1737360"/>
            <a:ext cx="566928" cy="310896"/>
          </a:xfrm>
          <a:prstGeom prst="rect">
            <a:avLst/>
          </a:prstGeom>
          <a:solidFill>
            <a:srgbClr val="F97316"/>
          </a:solidFill>
          <a:ln w="12700">
            <a:solidFill>
              <a:srgbClr val="FFFFFF"/>
            </a:solidFill>
            <a:prstDash val="solid"/>
          </a:ln>
        </p:spPr>
      </p:sp>
      <p:sp>
        <p:nvSpPr>
          <p:cNvPr id="12" name="Text 10"/>
          <p:cNvSpPr/>
          <p:nvPr/>
        </p:nvSpPr>
        <p:spPr>
          <a:xfrm>
            <a:off x="1188720" y="1737360"/>
            <a:ext cx="566928" cy="310896"/>
          </a:xfrm>
          <a:prstGeom prst="rect">
            <a:avLst/>
          </a:prstGeom>
          <a:noFill/>
          <a:ln/>
        </p:spPr>
        <p:txBody>
          <a:bodyPr wrap="square" lIns="0" tIns="0" rIns="0" bIns="0" rtlCol="0" anchor="ctr"/>
          <a:lstStyle/>
          <a:p>
            <a:pPr algn="ctr" indent="0" marL="0">
              <a:buNone/>
            </a:pPr>
            <a:r>
              <a:rPr lang="en-US" sz="800" b="1" dirty="0">
                <a:solidFill>
                  <a:srgbClr val="FFFFFF"/>
                </a:solidFill>
              </a:rPr>
              <a:t>exam</a:t>
            </a:r>
            <a:endParaRPr lang="en-US" sz="800" dirty="0"/>
          </a:p>
        </p:txBody>
      </p:sp>
      <p:sp>
        <p:nvSpPr>
          <p:cNvPr id="13" name="Shape 11"/>
          <p:cNvSpPr/>
          <p:nvPr/>
        </p:nvSpPr>
        <p:spPr>
          <a:xfrm>
            <a:off x="1792224" y="1737360"/>
            <a:ext cx="566928" cy="310896"/>
          </a:xfrm>
          <a:prstGeom prst="rect">
            <a:avLst/>
          </a:prstGeom>
          <a:solidFill>
            <a:srgbClr val="0D9488"/>
          </a:solidFill>
          <a:ln w="12700">
            <a:solidFill>
              <a:srgbClr val="FFFFFF"/>
            </a:solidFill>
            <a:prstDash val="solid"/>
          </a:ln>
        </p:spPr>
      </p:sp>
      <p:sp>
        <p:nvSpPr>
          <p:cNvPr id="14" name="Shape 12"/>
          <p:cNvSpPr/>
          <p:nvPr/>
        </p:nvSpPr>
        <p:spPr>
          <a:xfrm>
            <a:off x="2395728" y="1737360"/>
            <a:ext cx="566928" cy="310896"/>
          </a:xfrm>
          <a:prstGeom prst="rect">
            <a:avLst/>
          </a:prstGeom>
          <a:solidFill>
            <a:srgbClr val="0D9488"/>
          </a:solidFill>
          <a:ln w="12700">
            <a:solidFill>
              <a:srgbClr val="FFFFFF"/>
            </a:solidFill>
            <a:prstDash val="solid"/>
          </a:ln>
        </p:spPr>
      </p:sp>
      <p:sp>
        <p:nvSpPr>
          <p:cNvPr id="15" name="Shape 13"/>
          <p:cNvSpPr/>
          <p:nvPr/>
        </p:nvSpPr>
        <p:spPr>
          <a:xfrm>
            <a:off x="2999232" y="1737360"/>
            <a:ext cx="566928" cy="310896"/>
          </a:xfrm>
          <a:prstGeom prst="rect">
            <a:avLst/>
          </a:prstGeom>
          <a:solidFill>
            <a:srgbClr val="0D9488"/>
          </a:solidFill>
          <a:ln w="12700">
            <a:solidFill>
              <a:srgbClr val="FFFFFF"/>
            </a:solidFill>
            <a:prstDash val="solid"/>
          </a:ln>
        </p:spPr>
      </p:sp>
      <p:sp>
        <p:nvSpPr>
          <p:cNvPr id="16" name="Shape 14"/>
          <p:cNvSpPr/>
          <p:nvPr/>
        </p:nvSpPr>
        <p:spPr>
          <a:xfrm>
            <a:off x="3602736" y="1737360"/>
            <a:ext cx="566928" cy="310896"/>
          </a:xfrm>
          <a:prstGeom prst="rect">
            <a:avLst/>
          </a:prstGeom>
          <a:solidFill>
            <a:srgbClr val="0D9488"/>
          </a:solidFill>
          <a:ln w="12700">
            <a:solidFill>
              <a:srgbClr val="FFFFFF"/>
            </a:solidFill>
            <a:prstDash val="solid"/>
          </a:ln>
        </p:spPr>
      </p:sp>
      <p:sp>
        <p:nvSpPr>
          <p:cNvPr id="17" name="Text 15"/>
          <p:cNvSpPr/>
          <p:nvPr/>
        </p:nvSpPr>
        <p:spPr>
          <a:xfrm>
            <a:off x="457200" y="2121408"/>
            <a:ext cx="685800" cy="310896"/>
          </a:xfrm>
          <a:prstGeom prst="rect">
            <a:avLst/>
          </a:prstGeom>
          <a:noFill/>
          <a:ln/>
        </p:spPr>
        <p:txBody>
          <a:bodyPr wrap="square" lIns="0" tIns="0" rIns="0" bIns="0" rtlCol="0" anchor="ctr"/>
          <a:lstStyle/>
          <a:p>
            <a:pPr indent="0" marL="0">
              <a:buNone/>
            </a:pPr>
            <a:r>
              <a:rPr lang="en-US" sz="900" dirty="0">
                <a:solidFill>
                  <a:srgbClr val="64748B"/>
                </a:solidFill>
              </a:rPr>
              <a:t>round 2</a:t>
            </a:r>
            <a:endParaRPr lang="en-US" sz="900" dirty="0"/>
          </a:p>
        </p:txBody>
      </p:sp>
      <p:sp>
        <p:nvSpPr>
          <p:cNvPr id="18" name="Shape 16"/>
          <p:cNvSpPr/>
          <p:nvPr/>
        </p:nvSpPr>
        <p:spPr>
          <a:xfrm>
            <a:off x="1188720" y="2121408"/>
            <a:ext cx="566928" cy="310896"/>
          </a:xfrm>
          <a:prstGeom prst="rect">
            <a:avLst/>
          </a:prstGeom>
          <a:solidFill>
            <a:srgbClr val="0D9488"/>
          </a:solidFill>
          <a:ln w="12700">
            <a:solidFill>
              <a:srgbClr val="FFFFFF"/>
            </a:solidFill>
            <a:prstDash val="solid"/>
          </a:ln>
        </p:spPr>
      </p:sp>
      <p:sp>
        <p:nvSpPr>
          <p:cNvPr id="19" name="Shape 17"/>
          <p:cNvSpPr/>
          <p:nvPr/>
        </p:nvSpPr>
        <p:spPr>
          <a:xfrm>
            <a:off x="1792224" y="2121408"/>
            <a:ext cx="566928" cy="310896"/>
          </a:xfrm>
          <a:prstGeom prst="rect">
            <a:avLst/>
          </a:prstGeom>
          <a:solidFill>
            <a:srgbClr val="F97316"/>
          </a:solidFill>
          <a:ln w="12700">
            <a:solidFill>
              <a:srgbClr val="FFFFFF"/>
            </a:solidFill>
            <a:prstDash val="solid"/>
          </a:ln>
        </p:spPr>
      </p:sp>
      <p:sp>
        <p:nvSpPr>
          <p:cNvPr id="20" name="Text 18"/>
          <p:cNvSpPr/>
          <p:nvPr/>
        </p:nvSpPr>
        <p:spPr>
          <a:xfrm>
            <a:off x="1792224" y="2121408"/>
            <a:ext cx="566928" cy="310896"/>
          </a:xfrm>
          <a:prstGeom prst="rect">
            <a:avLst/>
          </a:prstGeom>
          <a:noFill/>
          <a:ln/>
        </p:spPr>
        <p:txBody>
          <a:bodyPr wrap="square" lIns="0" tIns="0" rIns="0" bIns="0" rtlCol="0" anchor="ctr"/>
          <a:lstStyle/>
          <a:p>
            <a:pPr algn="ctr" indent="0" marL="0">
              <a:buNone/>
            </a:pPr>
            <a:r>
              <a:rPr lang="en-US" sz="800" b="1" dirty="0">
                <a:solidFill>
                  <a:srgbClr val="FFFFFF"/>
                </a:solidFill>
              </a:rPr>
              <a:t>exam</a:t>
            </a:r>
            <a:endParaRPr lang="en-US" sz="800" dirty="0"/>
          </a:p>
        </p:txBody>
      </p:sp>
      <p:sp>
        <p:nvSpPr>
          <p:cNvPr id="21" name="Shape 19"/>
          <p:cNvSpPr/>
          <p:nvPr/>
        </p:nvSpPr>
        <p:spPr>
          <a:xfrm>
            <a:off x="2395728" y="2121408"/>
            <a:ext cx="566928" cy="310896"/>
          </a:xfrm>
          <a:prstGeom prst="rect">
            <a:avLst/>
          </a:prstGeom>
          <a:solidFill>
            <a:srgbClr val="0D9488"/>
          </a:solidFill>
          <a:ln w="12700">
            <a:solidFill>
              <a:srgbClr val="FFFFFF"/>
            </a:solidFill>
            <a:prstDash val="solid"/>
          </a:ln>
        </p:spPr>
      </p:sp>
      <p:sp>
        <p:nvSpPr>
          <p:cNvPr id="22" name="Shape 20"/>
          <p:cNvSpPr/>
          <p:nvPr/>
        </p:nvSpPr>
        <p:spPr>
          <a:xfrm>
            <a:off x="2999232" y="2121408"/>
            <a:ext cx="566928" cy="310896"/>
          </a:xfrm>
          <a:prstGeom prst="rect">
            <a:avLst/>
          </a:prstGeom>
          <a:solidFill>
            <a:srgbClr val="0D9488"/>
          </a:solidFill>
          <a:ln w="12700">
            <a:solidFill>
              <a:srgbClr val="FFFFFF"/>
            </a:solidFill>
            <a:prstDash val="solid"/>
          </a:ln>
        </p:spPr>
      </p:sp>
      <p:sp>
        <p:nvSpPr>
          <p:cNvPr id="23" name="Shape 21"/>
          <p:cNvSpPr/>
          <p:nvPr/>
        </p:nvSpPr>
        <p:spPr>
          <a:xfrm>
            <a:off x="3602736" y="2121408"/>
            <a:ext cx="566928" cy="310896"/>
          </a:xfrm>
          <a:prstGeom prst="rect">
            <a:avLst/>
          </a:prstGeom>
          <a:solidFill>
            <a:srgbClr val="0D9488"/>
          </a:solidFill>
          <a:ln w="12700">
            <a:solidFill>
              <a:srgbClr val="FFFFFF"/>
            </a:solidFill>
            <a:prstDash val="solid"/>
          </a:ln>
        </p:spPr>
      </p:sp>
      <p:sp>
        <p:nvSpPr>
          <p:cNvPr id="24" name="Text 22"/>
          <p:cNvSpPr/>
          <p:nvPr/>
        </p:nvSpPr>
        <p:spPr>
          <a:xfrm>
            <a:off x="457200" y="2505456"/>
            <a:ext cx="685800" cy="310896"/>
          </a:xfrm>
          <a:prstGeom prst="rect">
            <a:avLst/>
          </a:prstGeom>
          <a:noFill/>
          <a:ln/>
        </p:spPr>
        <p:txBody>
          <a:bodyPr wrap="square" lIns="0" tIns="0" rIns="0" bIns="0" rtlCol="0" anchor="ctr"/>
          <a:lstStyle/>
          <a:p>
            <a:pPr indent="0" marL="0">
              <a:buNone/>
            </a:pPr>
            <a:r>
              <a:rPr lang="en-US" sz="900" dirty="0">
                <a:solidFill>
                  <a:srgbClr val="64748B"/>
                </a:solidFill>
              </a:rPr>
              <a:t>round 3</a:t>
            </a:r>
            <a:endParaRPr lang="en-US" sz="900" dirty="0"/>
          </a:p>
        </p:txBody>
      </p:sp>
      <p:sp>
        <p:nvSpPr>
          <p:cNvPr id="25" name="Shape 23"/>
          <p:cNvSpPr/>
          <p:nvPr/>
        </p:nvSpPr>
        <p:spPr>
          <a:xfrm>
            <a:off x="1188720" y="2505456"/>
            <a:ext cx="566928" cy="310896"/>
          </a:xfrm>
          <a:prstGeom prst="rect">
            <a:avLst/>
          </a:prstGeom>
          <a:solidFill>
            <a:srgbClr val="0D9488"/>
          </a:solidFill>
          <a:ln w="12700">
            <a:solidFill>
              <a:srgbClr val="FFFFFF"/>
            </a:solidFill>
            <a:prstDash val="solid"/>
          </a:ln>
        </p:spPr>
      </p:sp>
      <p:sp>
        <p:nvSpPr>
          <p:cNvPr id="26" name="Shape 24"/>
          <p:cNvSpPr/>
          <p:nvPr/>
        </p:nvSpPr>
        <p:spPr>
          <a:xfrm>
            <a:off x="1792224" y="2505456"/>
            <a:ext cx="566928" cy="310896"/>
          </a:xfrm>
          <a:prstGeom prst="rect">
            <a:avLst/>
          </a:prstGeom>
          <a:solidFill>
            <a:srgbClr val="0D9488"/>
          </a:solidFill>
          <a:ln w="12700">
            <a:solidFill>
              <a:srgbClr val="FFFFFF"/>
            </a:solidFill>
            <a:prstDash val="solid"/>
          </a:ln>
        </p:spPr>
      </p:sp>
      <p:sp>
        <p:nvSpPr>
          <p:cNvPr id="27" name="Shape 25"/>
          <p:cNvSpPr/>
          <p:nvPr/>
        </p:nvSpPr>
        <p:spPr>
          <a:xfrm>
            <a:off x="2395728" y="2505456"/>
            <a:ext cx="566928" cy="310896"/>
          </a:xfrm>
          <a:prstGeom prst="rect">
            <a:avLst/>
          </a:prstGeom>
          <a:solidFill>
            <a:srgbClr val="F97316"/>
          </a:solidFill>
          <a:ln w="12700">
            <a:solidFill>
              <a:srgbClr val="FFFFFF"/>
            </a:solidFill>
            <a:prstDash val="solid"/>
          </a:ln>
        </p:spPr>
      </p:sp>
      <p:sp>
        <p:nvSpPr>
          <p:cNvPr id="28" name="Text 26"/>
          <p:cNvSpPr/>
          <p:nvPr/>
        </p:nvSpPr>
        <p:spPr>
          <a:xfrm>
            <a:off x="2395728" y="2505456"/>
            <a:ext cx="566928" cy="310896"/>
          </a:xfrm>
          <a:prstGeom prst="rect">
            <a:avLst/>
          </a:prstGeom>
          <a:noFill/>
          <a:ln/>
        </p:spPr>
        <p:txBody>
          <a:bodyPr wrap="square" lIns="0" tIns="0" rIns="0" bIns="0" rtlCol="0" anchor="ctr"/>
          <a:lstStyle/>
          <a:p>
            <a:pPr algn="ctr" indent="0" marL="0">
              <a:buNone/>
            </a:pPr>
            <a:r>
              <a:rPr lang="en-US" sz="800" b="1" dirty="0">
                <a:solidFill>
                  <a:srgbClr val="FFFFFF"/>
                </a:solidFill>
              </a:rPr>
              <a:t>exam</a:t>
            </a:r>
            <a:endParaRPr lang="en-US" sz="800" dirty="0"/>
          </a:p>
        </p:txBody>
      </p:sp>
      <p:sp>
        <p:nvSpPr>
          <p:cNvPr id="29" name="Shape 27"/>
          <p:cNvSpPr/>
          <p:nvPr/>
        </p:nvSpPr>
        <p:spPr>
          <a:xfrm>
            <a:off x="2999232" y="2505456"/>
            <a:ext cx="566928" cy="310896"/>
          </a:xfrm>
          <a:prstGeom prst="rect">
            <a:avLst/>
          </a:prstGeom>
          <a:solidFill>
            <a:srgbClr val="0D9488"/>
          </a:solidFill>
          <a:ln w="12700">
            <a:solidFill>
              <a:srgbClr val="FFFFFF"/>
            </a:solidFill>
            <a:prstDash val="solid"/>
          </a:ln>
        </p:spPr>
      </p:sp>
      <p:sp>
        <p:nvSpPr>
          <p:cNvPr id="30" name="Shape 28"/>
          <p:cNvSpPr/>
          <p:nvPr/>
        </p:nvSpPr>
        <p:spPr>
          <a:xfrm>
            <a:off x="3602736" y="2505456"/>
            <a:ext cx="566928" cy="310896"/>
          </a:xfrm>
          <a:prstGeom prst="rect">
            <a:avLst/>
          </a:prstGeom>
          <a:solidFill>
            <a:srgbClr val="0D9488"/>
          </a:solidFill>
          <a:ln w="12700">
            <a:solidFill>
              <a:srgbClr val="FFFFFF"/>
            </a:solidFill>
            <a:prstDash val="solid"/>
          </a:ln>
        </p:spPr>
      </p:sp>
      <p:sp>
        <p:nvSpPr>
          <p:cNvPr id="31" name="Text 29"/>
          <p:cNvSpPr/>
          <p:nvPr/>
        </p:nvSpPr>
        <p:spPr>
          <a:xfrm>
            <a:off x="457200" y="2889504"/>
            <a:ext cx="685800" cy="310896"/>
          </a:xfrm>
          <a:prstGeom prst="rect">
            <a:avLst/>
          </a:prstGeom>
          <a:noFill/>
          <a:ln/>
        </p:spPr>
        <p:txBody>
          <a:bodyPr wrap="square" lIns="0" tIns="0" rIns="0" bIns="0" rtlCol="0" anchor="ctr"/>
          <a:lstStyle/>
          <a:p>
            <a:pPr indent="0" marL="0">
              <a:buNone/>
            </a:pPr>
            <a:r>
              <a:rPr lang="en-US" sz="900" dirty="0">
                <a:solidFill>
                  <a:srgbClr val="64748B"/>
                </a:solidFill>
              </a:rPr>
              <a:t>round 4</a:t>
            </a:r>
            <a:endParaRPr lang="en-US" sz="900" dirty="0"/>
          </a:p>
        </p:txBody>
      </p:sp>
      <p:sp>
        <p:nvSpPr>
          <p:cNvPr id="32" name="Shape 30"/>
          <p:cNvSpPr/>
          <p:nvPr/>
        </p:nvSpPr>
        <p:spPr>
          <a:xfrm>
            <a:off x="1188720" y="2889504"/>
            <a:ext cx="566928" cy="310896"/>
          </a:xfrm>
          <a:prstGeom prst="rect">
            <a:avLst/>
          </a:prstGeom>
          <a:solidFill>
            <a:srgbClr val="0D9488"/>
          </a:solidFill>
          <a:ln w="12700">
            <a:solidFill>
              <a:srgbClr val="FFFFFF"/>
            </a:solidFill>
            <a:prstDash val="solid"/>
          </a:ln>
        </p:spPr>
      </p:sp>
      <p:sp>
        <p:nvSpPr>
          <p:cNvPr id="33" name="Shape 31"/>
          <p:cNvSpPr/>
          <p:nvPr/>
        </p:nvSpPr>
        <p:spPr>
          <a:xfrm>
            <a:off x="1792224" y="2889504"/>
            <a:ext cx="566928" cy="310896"/>
          </a:xfrm>
          <a:prstGeom prst="rect">
            <a:avLst/>
          </a:prstGeom>
          <a:solidFill>
            <a:srgbClr val="0D9488"/>
          </a:solidFill>
          <a:ln w="12700">
            <a:solidFill>
              <a:srgbClr val="FFFFFF"/>
            </a:solidFill>
            <a:prstDash val="solid"/>
          </a:ln>
        </p:spPr>
      </p:sp>
      <p:sp>
        <p:nvSpPr>
          <p:cNvPr id="34" name="Shape 32"/>
          <p:cNvSpPr/>
          <p:nvPr/>
        </p:nvSpPr>
        <p:spPr>
          <a:xfrm>
            <a:off x="2395728" y="2889504"/>
            <a:ext cx="566928" cy="310896"/>
          </a:xfrm>
          <a:prstGeom prst="rect">
            <a:avLst/>
          </a:prstGeom>
          <a:solidFill>
            <a:srgbClr val="0D9488"/>
          </a:solidFill>
          <a:ln w="12700">
            <a:solidFill>
              <a:srgbClr val="FFFFFF"/>
            </a:solidFill>
            <a:prstDash val="solid"/>
          </a:ln>
        </p:spPr>
      </p:sp>
      <p:sp>
        <p:nvSpPr>
          <p:cNvPr id="35" name="Shape 33"/>
          <p:cNvSpPr/>
          <p:nvPr/>
        </p:nvSpPr>
        <p:spPr>
          <a:xfrm>
            <a:off x="2999232" y="2889504"/>
            <a:ext cx="566928" cy="310896"/>
          </a:xfrm>
          <a:prstGeom prst="rect">
            <a:avLst/>
          </a:prstGeom>
          <a:solidFill>
            <a:srgbClr val="F97316"/>
          </a:solidFill>
          <a:ln w="12700">
            <a:solidFill>
              <a:srgbClr val="FFFFFF"/>
            </a:solidFill>
            <a:prstDash val="solid"/>
          </a:ln>
        </p:spPr>
      </p:sp>
      <p:sp>
        <p:nvSpPr>
          <p:cNvPr id="36" name="Text 34"/>
          <p:cNvSpPr/>
          <p:nvPr/>
        </p:nvSpPr>
        <p:spPr>
          <a:xfrm>
            <a:off x="2999232" y="2889504"/>
            <a:ext cx="566928" cy="310896"/>
          </a:xfrm>
          <a:prstGeom prst="rect">
            <a:avLst/>
          </a:prstGeom>
          <a:noFill/>
          <a:ln/>
        </p:spPr>
        <p:txBody>
          <a:bodyPr wrap="square" lIns="0" tIns="0" rIns="0" bIns="0" rtlCol="0" anchor="ctr"/>
          <a:lstStyle/>
          <a:p>
            <a:pPr algn="ctr" indent="0" marL="0">
              <a:buNone/>
            </a:pPr>
            <a:r>
              <a:rPr lang="en-US" sz="800" b="1" dirty="0">
                <a:solidFill>
                  <a:srgbClr val="FFFFFF"/>
                </a:solidFill>
              </a:rPr>
              <a:t>exam</a:t>
            </a:r>
            <a:endParaRPr lang="en-US" sz="800" dirty="0"/>
          </a:p>
        </p:txBody>
      </p:sp>
      <p:sp>
        <p:nvSpPr>
          <p:cNvPr id="37" name="Shape 35"/>
          <p:cNvSpPr/>
          <p:nvPr/>
        </p:nvSpPr>
        <p:spPr>
          <a:xfrm>
            <a:off x="3602736" y="2889504"/>
            <a:ext cx="566928" cy="310896"/>
          </a:xfrm>
          <a:prstGeom prst="rect">
            <a:avLst/>
          </a:prstGeom>
          <a:solidFill>
            <a:srgbClr val="0D9488"/>
          </a:solidFill>
          <a:ln w="12700">
            <a:solidFill>
              <a:srgbClr val="FFFFFF"/>
            </a:solidFill>
            <a:prstDash val="solid"/>
          </a:ln>
        </p:spPr>
      </p:sp>
      <p:sp>
        <p:nvSpPr>
          <p:cNvPr id="38" name="Text 36"/>
          <p:cNvSpPr/>
          <p:nvPr/>
        </p:nvSpPr>
        <p:spPr>
          <a:xfrm>
            <a:off x="457200" y="3273552"/>
            <a:ext cx="685800" cy="310896"/>
          </a:xfrm>
          <a:prstGeom prst="rect">
            <a:avLst/>
          </a:prstGeom>
          <a:noFill/>
          <a:ln/>
        </p:spPr>
        <p:txBody>
          <a:bodyPr wrap="square" lIns="0" tIns="0" rIns="0" bIns="0" rtlCol="0" anchor="ctr"/>
          <a:lstStyle/>
          <a:p>
            <a:pPr indent="0" marL="0">
              <a:buNone/>
            </a:pPr>
            <a:r>
              <a:rPr lang="en-US" sz="900" dirty="0">
                <a:solidFill>
                  <a:srgbClr val="64748B"/>
                </a:solidFill>
              </a:rPr>
              <a:t>round 5</a:t>
            </a:r>
            <a:endParaRPr lang="en-US" sz="900" dirty="0"/>
          </a:p>
        </p:txBody>
      </p:sp>
      <p:sp>
        <p:nvSpPr>
          <p:cNvPr id="39" name="Shape 37"/>
          <p:cNvSpPr/>
          <p:nvPr/>
        </p:nvSpPr>
        <p:spPr>
          <a:xfrm>
            <a:off x="1188720" y="3273552"/>
            <a:ext cx="566928" cy="310896"/>
          </a:xfrm>
          <a:prstGeom prst="rect">
            <a:avLst/>
          </a:prstGeom>
          <a:solidFill>
            <a:srgbClr val="0D9488"/>
          </a:solidFill>
          <a:ln w="12700">
            <a:solidFill>
              <a:srgbClr val="FFFFFF"/>
            </a:solidFill>
            <a:prstDash val="solid"/>
          </a:ln>
        </p:spPr>
      </p:sp>
      <p:sp>
        <p:nvSpPr>
          <p:cNvPr id="40" name="Shape 38"/>
          <p:cNvSpPr/>
          <p:nvPr/>
        </p:nvSpPr>
        <p:spPr>
          <a:xfrm>
            <a:off x="1792224" y="3273552"/>
            <a:ext cx="566928" cy="310896"/>
          </a:xfrm>
          <a:prstGeom prst="rect">
            <a:avLst/>
          </a:prstGeom>
          <a:solidFill>
            <a:srgbClr val="0D9488"/>
          </a:solidFill>
          <a:ln w="12700">
            <a:solidFill>
              <a:srgbClr val="FFFFFF"/>
            </a:solidFill>
            <a:prstDash val="solid"/>
          </a:ln>
        </p:spPr>
      </p:sp>
      <p:sp>
        <p:nvSpPr>
          <p:cNvPr id="41" name="Shape 39"/>
          <p:cNvSpPr/>
          <p:nvPr/>
        </p:nvSpPr>
        <p:spPr>
          <a:xfrm>
            <a:off x="2395728" y="3273552"/>
            <a:ext cx="566928" cy="310896"/>
          </a:xfrm>
          <a:prstGeom prst="rect">
            <a:avLst/>
          </a:prstGeom>
          <a:solidFill>
            <a:srgbClr val="0D9488"/>
          </a:solidFill>
          <a:ln w="12700">
            <a:solidFill>
              <a:srgbClr val="FFFFFF"/>
            </a:solidFill>
            <a:prstDash val="solid"/>
          </a:ln>
        </p:spPr>
      </p:sp>
      <p:sp>
        <p:nvSpPr>
          <p:cNvPr id="42" name="Shape 40"/>
          <p:cNvSpPr/>
          <p:nvPr/>
        </p:nvSpPr>
        <p:spPr>
          <a:xfrm>
            <a:off x="2999232" y="3273552"/>
            <a:ext cx="566928" cy="310896"/>
          </a:xfrm>
          <a:prstGeom prst="rect">
            <a:avLst/>
          </a:prstGeom>
          <a:solidFill>
            <a:srgbClr val="0D9488"/>
          </a:solidFill>
          <a:ln w="12700">
            <a:solidFill>
              <a:srgbClr val="FFFFFF"/>
            </a:solidFill>
            <a:prstDash val="solid"/>
          </a:ln>
        </p:spPr>
      </p:sp>
      <p:sp>
        <p:nvSpPr>
          <p:cNvPr id="43" name="Shape 41"/>
          <p:cNvSpPr/>
          <p:nvPr/>
        </p:nvSpPr>
        <p:spPr>
          <a:xfrm>
            <a:off x="3602736" y="3273552"/>
            <a:ext cx="566928" cy="310896"/>
          </a:xfrm>
          <a:prstGeom prst="rect">
            <a:avLst/>
          </a:prstGeom>
          <a:solidFill>
            <a:srgbClr val="F97316"/>
          </a:solidFill>
          <a:ln w="12700">
            <a:solidFill>
              <a:srgbClr val="FFFFFF"/>
            </a:solidFill>
            <a:prstDash val="solid"/>
          </a:ln>
        </p:spPr>
      </p:sp>
      <p:sp>
        <p:nvSpPr>
          <p:cNvPr id="44" name="Text 42"/>
          <p:cNvSpPr/>
          <p:nvPr/>
        </p:nvSpPr>
        <p:spPr>
          <a:xfrm>
            <a:off x="3602736" y="3273552"/>
            <a:ext cx="566928" cy="310896"/>
          </a:xfrm>
          <a:prstGeom prst="rect">
            <a:avLst/>
          </a:prstGeom>
          <a:noFill/>
          <a:ln/>
        </p:spPr>
        <p:txBody>
          <a:bodyPr wrap="square" lIns="0" tIns="0" rIns="0" bIns="0" rtlCol="0" anchor="ctr"/>
          <a:lstStyle/>
          <a:p>
            <a:pPr algn="ctr" indent="0" marL="0">
              <a:buNone/>
            </a:pPr>
            <a:r>
              <a:rPr lang="en-US" sz="800" b="1" dirty="0">
                <a:solidFill>
                  <a:srgbClr val="FFFFFF"/>
                </a:solidFill>
              </a:rPr>
              <a:t>exam</a:t>
            </a:r>
            <a:endParaRPr lang="en-US" sz="800" dirty="0"/>
          </a:p>
        </p:txBody>
      </p:sp>
      <p:sp>
        <p:nvSpPr>
          <p:cNvPr id="45" name="Text 43"/>
          <p:cNvSpPr/>
          <p:nvPr/>
        </p:nvSpPr>
        <p:spPr>
          <a:xfrm>
            <a:off x="457200" y="3703320"/>
            <a:ext cx="3931920" cy="548640"/>
          </a:xfrm>
          <a:prstGeom prst="rect">
            <a:avLst/>
          </a:prstGeom>
          <a:noFill/>
          <a:ln/>
        </p:spPr>
        <p:txBody>
          <a:bodyPr wrap="square" lIns="0" tIns="0" rIns="0" bIns="0" rtlCol="0" anchor="t"/>
          <a:lstStyle/>
          <a:p>
            <a:pPr indent="0" marL="0">
              <a:buNone/>
            </a:pPr>
            <a:r>
              <a:rPr lang="en-US" sz="1050" b="1" dirty="0">
                <a:solidFill>
                  <a:srgbClr val="0A2342"/>
                </a:solidFill>
              </a:rPr>
              <a:t>→ 5 scores. </a:t>
            </a:r>
            <a:pPr indent="0" marL="0">
              <a:buNone/>
            </a:pPr>
            <a:r>
              <a:rPr lang="en-US" sz="1050" dirty="0">
                <a:solidFill>
                  <a:srgbClr val="1E293B"/>
                </a:solidFill>
              </a:rPr>
              <a:t>The average says how good a setting is. The spread says how much luck is in it.</a:t>
            </a:r>
            <a:endParaRPr lang="en-US" sz="1050" dirty="0"/>
          </a:p>
        </p:txBody>
      </p:sp>
      <p:sp>
        <p:nvSpPr>
          <p:cNvPr id="46" name="Shape 44"/>
          <p:cNvSpPr/>
          <p:nvPr/>
        </p:nvSpPr>
        <p:spPr>
          <a:xfrm>
            <a:off x="457200" y="4206240"/>
            <a:ext cx="3931920" cy="54864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47" name="Text 45"/>
          <p:cNvSpPr/>
          <p:nvPr/>
        </p:nvSpPr>
        <p:spPr>
          <a:xfrm>
            <a:off x="594360" y="4297680"/>
            <a:ext cx="3657600" cy="365760"/>
          </a:xfrm>
          <a:prstGeom prst="rect">
            <a:avLst/>
          </a:prstGeom>
          <a:noFill/>
          <a:ln/>
        </p:spPr>
        <p:txBody>
          <a:bodyPr wrap="square" lIns="0" tIns="0" rIns="0" bIns="0" rtlCol="0" anchor="t"/>
          <a:lstStyle/>
          <a:p>
            <a:pPr indent="0" marL="0">
              <a:buNone/>
            </a:pPr>
            <a:r>
              <a:rPr lang="en-US" sz="900" dirty="0">
                <a:solidFill>
                  <a:srgbClr val="A8FF60"/>
                </a:solidFill>
                <a:latin typeface="Consolas" pitchFamily="34" charset="0"/>
                <a:ea typeface="Consolas" pitchFamily="34" charset="-122"/>
                <a:cs typeface="Consolas" pitchFamily="34" charset="-120"/>
              </a:rPr>
              <a:t>cross_val_score(model, X_train, y_train,</a:t>
            </a:r>
            <a:endParaRPr lang="en-US" sz="900" dirty="0"/>
          </a:p>
          <a:p>
            <a:pPr indent="0" marL="0">
              <a:buNone/>
            </a:pPr>
            <a:r>
              <a:rPr lang="en-US" sz="900" dirty="0">
                <a:solidFill>
                  <a:srgbClr val="A8FF60"/>
                </a:solidFill>
                <a:latin typeface="Consolas" pitchFamily="34" charset="0"/>
                <a:ea typeface="Consolas" pitchFamily="34" charset="-122"/>
                <a:cs typeface="Consolas" pitchFamily="34" charset="-120"/>
              </a:rPr>
              <a:t>                cv=5, scoring="f1")</a:t>
            </a:r>
            <a:endParaRPr lang="en-US" sz="900" dirty="0"/>
          </a:p>
        </p:txBody>
      </p:sp>
      <p:pic>
        <p:nvPicPr>
          <p:cNvPr id="48" name="Image 0" descr="Week 5/wrapup_assets/k_tuning.png">    </p:cNvPr>
          <p:cNvPicPr>
            <a:picLocks noChangeAspect="1"/>
          </p:cNvPicPr>
          <p:nvPr/>
        </p:nvPicPr>
        <p:blipFill>
          <a:blip r:embed="rId1"/>
          <a:stretch>
            <a:fillRect/>
          </a:stretch>
        </p:blipFill>
        <p:spPr>
          <a:xfrm>
            <a:off x="4572000" y="1417320"/>
            <a:ext cx="4114800" cy="2313432"/>
          </a:xfrm>
          <a:prstGeom prst="rect">
            <a:avLst/>
          </a:prstGeom>
        </p:spPr>
      </p:pic>
      <p:sp>
        <p:nvSpPr>
          <p:cNvPr id="49" name="Text 46"/>
          <p:cNvSpPr/>
          <p:nvPr/>
        </p:nvSpPr>
        <p:spPr>
          <a:xfrm>
            <a:off x="4572000" y="3794760"/>
            <a:ext cx="4114800" cy="548640"/>
          </a:xfrm>
          <a:prstGeom prst="rect">
            <a:avLst/>
          </a:prstGeom>
          <a:noFill/>
          <a:ln/>
        </p:spPr>
        <p:txBody>
          <a:bodyPr wrap="square" lIns="0" tIns="0" rIns="0" bIns="0" rtlCol="0" anchor="t"/>
          <a:lstStyle/>
          <a:p>
            <a:pPr indent="0" marL="0">
              <a:buNone/>
            </a:pPr>
            <a:r>
              <a:rPr lang="en-US" sz="1000" i="1" dirty="0">
                <a:solidFill>
                  <a:srgbClr val="64748B"/>
                </a:solidFill>
              </a:rPr>
              <a:t>KNN, k = 1 … 29, five practice exams each. The band is the luck: everything from k = 15 to 29 is about equally good.</a:t>
            </a:r>
            <a:endParaRPr lang="en-US" sz="1000" dirty="0"/>
          </a:p>
        </p:txBody>
      </p:sp>
      <p:sp>
        <p:nvSpPr>
          <p:cNvPr id="50" name="Text 47"/>
          <p:cNvSpPr/>
          <p:nvPr/>
        </p:nvSpPr>
        <p:spPr>
          <a:xfrm>
            <a:off x="4572000" y="4343400"/>
            <a:ext cx="4114800" cy="365760"/>
          </a:xfrm>
          <a:prstGeom prst="rect">
            <a:avLst/>
          </a:prstGeom>
          <a:noFill/>
          <a:ln/>
        </p:spPr>
        <p:txBody>
          <a:bodyPr wrap="square" lIns="0" tIns="0" rIns="0" bIns="0" rtlCol="0" anchor="t"/>
          <a:lstStyle/>
          <a:p>
            <a:pPr indent="0" marL="0">
              <a:buNone/>
            </a:pPr>
            <a:r>
              <a:rPr lang="en-US" sz="1000" b="1" dirty="0">
                <a:solidFill>
                  <a:srgbClr val="0D9488"/>
                </a:solidFill>
              </a:rPr>
              <a:t>Same practice exams for every model — or the comparison is not fair.</a:t>
            </a:r>
            <a:endParaRPr lang="en-US" sz="1000" dirty="0"/>
          </a:p>
        </p:txBody>
      </p:sp>
      <p:sp>
        <p:nvSpPr>
          <p:cNvPr id="51" name="Text 48"/>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52" name="Text 49"/>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6</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6</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GridSearchCV: the for-loop, done for you</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Give it the Pipeline and a dictionary of settings. It tries them all on the same practice exams.</a:t>
            </a:r>
            <a:endParaRPr lang="en-US" sz="1300" dirty="0"/>
          </a:p>
        </p:txBody>
      </p:sp>
      <p:sp>
        <p:nvSpPr>
          <p:cNvPr id="9" name="Shape 7"/>
          <p:cNvSpPr/>
          <p:nvPr/>
        </p:nvSpPr>
        <p:spPr>
          <a:xfrm>
            <a:off x="457200" y="1463040"/>
            <a:ext cx="4846320" cy="260604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94360" y="1554480"/>
            <a:ext cx="4572000" cy="2423160"/>
          </a:xfrm>
          <a:prstGeom prst="rect">
            <a:avLst/>
          </a:prstGeom>
          <a:noFill/>
          <a:ln/>
        </p:spPr>
        <p:txBody>
          <a:bodyPr wrap="square" lIns="0" tIns="0" rIns="0" bIns="0" rtlCol="0" anchor="t"/>
          <a:lstStyle/>
          <a:p>
            <a:pPr indent="0" marL="0">
              <a:buNone/>
            </a:pPr>
            <a:r>
              <a:rPr lang="en-US" sz="1000" dirty="0">
                <a:solidFill>
                  <a:srgbClr val="A8FF60"/>
                </a:solidFill>
                <a:latin typeface="Consolas" pitchFamily="34" charset="0"/>
                <a:ea typeface="Consolas" pitchFamily="34" charset="-122"/>
                <a:cs typeface="Consolas" pitchFamily="34" charset="-120"/>
              </a:rPr>
              <a:t>search = GridSearchCV(</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Pipeline([("prep", prep),</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("model", KNeighborsClassifier())]),</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{"model__n_neighbors": list(range(1, 31, 2))},</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    cv=practice_exams, scoring="f1")</a:t>
            </a:r>
            <a:endParaRPr lang="en-US" sz="1000" dirty="0"/>
          </a:p>
          <a:p>
            <a:pPr indent="0" marL="0">
              <a:buNone/>
            </a:pP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search.fit(X_train, y_train)     # envelope stays closed</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search.best_params_              # {"model__n_neighbors": 17}</a:t>
            </a:r>
            <a:endParaRPr lang="en-US" sz="1000" dirty="0"/>
          </a:p>
          <a:p>
            <a:pPr indent="0" marL="0">
              <a:buNone/>
            </a:pPr>
            <a:r>
              <a:rPr lang="en-US" sz="1000" dirty="0">
                <a:solidFill>
                  <a:srgbClr val="A8FF60"/>
                </a:solidFill>
                <a:latin typeface="Consolas" pitchFamily="34" charset="0"/>
                <a:ea typeface="Consolas" pitchFamily="34" charset="-122"/>
                <a:cs typeface="Consolas" pitchFamily="34" charset="-120"/>
              </a:rPr>
              <a:t>search.best_score_               # 0.753</a:t>
            </a:r>
            <a:endParaRPr lang="en-US" sz="1000" dirty="0"/>
          </a:p>
        </p:txBody>
      </p:sp>
      <p:sp>
        <p:nvSpPr>
          <p:cNvPr id="11" name="Text 9"/>
          <p:cNvSpPr/>
          <p:nvPr/>
        </p:nvSpPr>
        <p:spPr>
          <a:xfrm>
            <a:off x="457200" y="4160520"/>
            <a:ext cx="4846320" cy="457200"/>
          </a:xfrm>
          <a:prstGeom prst="rect">
            <a:avLst/>
          </a:prstGeom>
          <a:noFill/>
          <a:ln/>
        </p:spPr>
        <p:txBody>
          <a:bodyPr wrap="square" lIns="0" tIns="0" rIns="0" bIns="0" rtlCol="0" anchor="t"/>
          <a:lstStyle/>
          <a:p>
            <a:pPr indent="0" marL="0">
              <a:buNone/>
            </a:pPr>
            <a:r>
              <a:rPr lang="en-US" sz="950" i="1" dirty="0">
                <a:solidFill>
                  <a:srgbClr val="64748B"/>
                </a:solidFill>
              </a:rPr>
              <a:t>model__n_neighbors = "the n_neighbors of the step called model". Copy it from the notebook.</a:t>
            </a:r>
            <a:endParaRPr lang="en-US" sz="950" dirty="0"/>
          </a:p>
        </p:txBody>
      </p:sp>
      <p:sp>
        <p:nvSpPr>
          <p:cNvPr id="12" name="Text 10"/>
          <p:cNvSpPr/>
          <p:nvPr/>
        </p:nvSpPr>
        <p:spPr>
          <a:xfrm>
            <a:off x="5532120" y="1463040"/>
            <a:ext cx="3154680" cy="274320"/>
          </a:xfrm>
          <a:prstGeom prst="rect">
            <a:avLst/>
          </a:prstGeom>
          <a:noFill/>
          <a:ln/>
        </p:spPr>
        <p:txBody>
          <a:bodyPr wrap="square" lIns="0" tIns="0" rIns="0" bIns="0" rtlCol="0" anchor="ctr"/>
          <a:lstStyle/>
          <a:p>
            <a:pPr indent="0" marL="0">
              <a:buNone/>
            </a:pPr>
            <a:r>
              <a:rPr lang="en-US" sz="1100" b="1" dirty="0">
                <a:solidFill>
                  <a:srgbClr val="0A2342"/>
                </a:solidFill>
              </a:rPr>
              <a:t>One knob per model that matters most</a:t>
            </a:r>
            <a:endParaRPr lang="en-US" sz="1100" dirty="0"/>
          </a:p>
        </p:txBody>
      </p:sp>
      <p:sp>
        <p:nvSpPr>
          <p:cNvPr id="13" name="Shape 11"/>
          <p:cNvSpPr/>
          <p:nvPr/>
        </p:nvSpPr>
        <p:spPr>
          <a:xfrm>
            <a:off x="5532120" y="1810512"/>
            <a:ext cx="3154680" cy="77724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5623560" y="1810512"/>
            <a:ext cx="2971800" cy="777240"/>
          </a:xfrm>
          <a:prstGeom prst="rect">
            <a:avLst/>
          </a:prstGeom>
          <a:noFill/>
          <a:ln/>
        </p:spPr>
        <p:txBody>
          <a:bodyPr wrap="square" lIns="0" tIns="0" rIns="0" bIns="0" rtlCol="0" anchor="ctr"/>
          <a:lstStyle/>
          <a:p>
            <a:pPr indent="0" marL="0">
              <a:buNone/>
            </a:pPr>
            <a:r>
              <a:rPr lang="en-US" sz="1050" b="1" dirty="0">
                <a:solidFill>
                  <a:srgbClr val="0D9488"/>
                </a:solidFill>
              </a:rPr>
              <a:t>KNN  </a:t>
            </a:r>
            <a:pPr indent="0" marL="0">
              <a:buNone/>
            </a:pPr>
            <a:r>
              <a:rPr lang="en-US" sz="1050" b="1" dirty="0">
                <a:solidFill>
                  <a:srgbClr val="1E293B"/>
                </a:solidFill>
                <a:latin typeface="Consolas" pitchFamily="34" charset="0"/>
                <a:ea typeface="Consolas" pitchFamily="34" charset="-122"/>
                <a:cs typeface="Consolas" pitchFamily="34" charset="-120"/>
              </a:rPr>
              <a:t>n_neighbors</a:t>
            </a:r>
            <a:endParaRPr lang="en-US" sz="1050" dirty="0"/>
          </a:p>
          <a:p>
            <a:pPr indent="0" marL="0">
              <a:buNone/>
            </a:pPr>
            <a:r>
              <a:rPr lang="en-US" sz="950" dirty="0">
                <a:solidFill>
                  <a:srgbClr val="64748B"/>
                </a:solidFill>
              </a:rPr>
              <a:t>how many neighbours vote</a:t>
            </a:r>
            <a:endParaRPr lang="en-US" sz="1050" dirty="0"/>
          </a:p>
        </p:txBody>
      </p:sp>
      <p:sp>
        <p:nvSpPr>
          <p:cNvPr id="15" name="Shape 13"/>
          <p:cNvSpPr/>
          <p:nvPr/>
        </p:nvSpPr>
        <p:spPr>
          <a:xfrm>
            <a:off x="5532120" y="2679192"/>
            <a:ext cx="3154680" cy="77724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623560" y="2679192"/>
            <a:ext cx="2971800" cy="777240"/>
          </a:xfrm>
          <a:prstGeom prst="rect">
            <a:avLst/>
          </a:prstGeom>
          <a:noFill/>
          <a:ln/>
        </p:spPr>
        <p:txBody>
          <a:bodyPr wrap="square" lIns="0" tIns="0" rIns="0" bIns="0" rtlCol="0" anchor="ctr"/>
          <a:lstStyle/>
          <a:p>
            <a:pPr indent="0" marL="0">
              <a:buNone/>
            </a:pPr>
            <a:r>
              <a:rPr lang="en-US" sz="1050" b="1" dirty="0">
                <a:solidFill>
                  <a:srgbClr val="0D9488"/>
                </a:solidFill>
              </a:rPr>
              <a:t>Logistic regression  </a:t>
            </a:r>
            <a:pPr indent="0" marL="0">
              <a:buNone/>
            </a:pPr>
            <a:r>
              <a:rPr lang="en-US" sz="1050" b="1" dirty="0">
                <a:solidFill>
                  <a:srgbClr val="1E293B"/>
                </a:solidFill>
                <a:latin typeface="Consolas" pitchFamily="34" charset="0"/>
                <a:ea typeface="Consolas" pitchFamily="34" charset="-122"/>
                <a:cs typeface="Consolas" pitchFamily="34" charset="-120"/>
              </a:rPr>
              <a:t>C</a:t>
            </a:r>
            <a:endParaRPr lang="en-US" sz="1050" dirty="0"/>
          </a:p>
          <a:p>
            <a:pPr indent="0" marL="0">
              <a:buNone/>
            </a:pPr>
            <a:r>
              <a:rPr lang="en-US" sz="950" dirty="0">
                <a:solidFill>
                  <a:srgbClr val="64748B"/>
                </a:solidFill>
              </a:rPr>
              <a:t>how eagerly it bends towards the training data — small = cautious</a:t>
            </a:r>
            <a:endParaRPr lang="en-US" sz="1050" dirty="0"/>
          </a:p>
        </p:txBody>
      </p:sp>
      <p:sp>
        <p:nvSpPr>
          <p:cNvPr id="17" name="Shape 15"/>
          <p:cNvSpPr/>
          <p:nvPr/>
        </p:nvSpPr>
        <p:spPr>
          <a:xfrm>
            <a:off x="5532120" y="3547872"/>
            <a:ext cx="3154680" cy="77724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5623560" y="3547872"/>
            <a:ext cx="2971800" cy="777240"/>
          </a:xfrm>
          <a:prstGeom prst="rect">
            <a:avLst/>
          </a:prstGeom>
          <a:noFill/>
          <a:ln/>
        </p:spPr>
        <p:txBody>
          <a:bodyPr wrap="square" lIns="0" tIns="0" rIns="0" bIns="0" rtlCol="0" anchor="ctr"/>
          <a:lstStyle/>
          <a:p>
            <a:pPr indent="0" marL="0">
              <a:buNone/>
            </a:pPr>
            <a:r>
              <a:rPr lang="en-US" sz="1050" b="1" dirty="0">
                <a:solidFill>
                  <a:srgbClr val="0D9488"/>
                </a:solidFill>
              </a:rPr>
              <a:t>Decision tree  </a:t>
            </a:r>
            <a:pPr indent="0" marL="0">
              <a:buNone/>
            </a:pPr>
            <a:r>
              <a:rPr lang="en-US" sz="1050" b="1" dirty="0">
                <a:solidFill>
                  <a:srgbClr val="1E293B"/>
                </a:solidFill>
                <a:latin typeface="Consolas" pitchFamily="34" charset="0"/>
                <a:ea typeface="Consolas" pitchFamily="34" charset="-122"/>
                <a:cs typeface="Consolas" pitchFamily="34" charset="-120"/>
              </a:rPr>
              <a:t>max_depth</a:t>
            </a:r>
            <a:endParaRPr lang="en-US" sz="1050" dirty="0"/>
          </a:p>
          <a:p>
            <a:pPr indent="0" marL="0">
              <a:buNone/>
            </a:pPr>
            <a:r>
              <a:rPr lang="en-US" sz="950" dirty="0">
                <a:solidFill>
                  <a:srgbClr val="64748B"/>
                </a:solidFill>
              </a:rPr>
              <a:t>how many questions deep — deep = memorising (overfitting)</a:t>
            </a:r>
            <a:endParaRPr lang="en-US" sz="1050" dirty="0"/>
          </a:p>
        </p:txBody>
      </p:sp>
      <p:sp>
        <p:nvSpPr>
          <p:cNvPr id="19" name="Text 17"/>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20" name="Text 18"/>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7</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7</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The final exam, once: one table</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Open the envelope. Every tuned model takes the test once. Lazy model on row 1.</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gridCol w="1143000"/>
                <a:gridCol w="914400"/>
                <a:gridCol w="1234440"/>
                <a:gridCol w="914400"/>
                <a:gridCol w="1143000"/>
                <a:gridCol w="1143000"/>
              </a:tblGrid>
              <a:tr h="329184">
                <a:tc>
                  <a:txBody>
                    <a:bodyPr/>
                    <a:lstStyle/>
                    <a:p>
                      <a:pPr algn="ctr" indent="0" marL="0">
                        <a:buNone/>
                      </a:pPr>
                      <a:r>
                        <a:rPr lang="en-US" sz="1050" b="1" dirty="0">
                          <a:solidFill>
                            <a:srgbClr val="FFFFFF"/>
                          </a:solidFill>
                        </a:rPr>
                        <a:t>model</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best setting</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train F1</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practice F1</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test F1</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precision</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c>
                  <a:txBody>
                    <a:bodyPr/>
                    <a:lstStyle/>
                    <a:p>
                      <a:pPr algn="ctr" indent="0" marL="0">
                        <a:buNone/>
                      </a:pPr>
                      <a:r>
                        <a:rPr lang="en-US" sz="1050" b="1" dirty="0">
                          <a:solidFill>
                            <a:srgbClr val="FFFFFF"/>
                          </a:solidFill>
                        </a:rPr>
                        <a:t>recall</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2342"/>
                    </a:solidFill>
                  </a:tcPr>
                </a:tc>
              </a:tr>
              <a:tr h="329184">
                <a:tc>
                  <a:txBody>
                    <a:bodyPr/>
                    <a:lstStyle/>
                    <a:p>
                      <a:pPr algn="l" indent="0" marL="0">
                        <a:buNone/>
                      </a:pPr>
                      <a:r>
                        <a:rPr lang="en-US" sz="1050" b="1" dirty="0">
                          <a:solidFill>
                            <a:srgbClr val="1E293B"/>
                          </a:solidFill>
                        </a:rPr>
                        <a:t>Lazy model</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0.00</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0.00</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0.00</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0.00</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1E293B"/>
                          </a:solidFill>
                        </a:rPr>
                        <a:t>0.00</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8F0"/>
                    </a:solidFill>
                  </a:tcPr>
                </a:tc>
              </a:tr>
              <a:tr h="329184">
                <a:tc>
                  <a:txBody>
                    <a:bodyPr/>
                    <a:lstStyle/>
                    <a:p>
                      <a:pPr algn="l" indent="0" marL="0">
                        <a:buNone/>
                      </a:pPr>
                      <a:r>
                        <a:rPr lang="en-US" sz="1050" b="1" dirty="0">
                          <a:solidFill>
                            <a:srgbClr val="1E293B"/>
                          </a:solidFill>
                        </a:rPr>
                        <a:t>KNN</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k = 17</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0.76</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0.75 ± 0.04</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0.73</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0.82</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0.65</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E293B"/>
                          </a:solidFill>
                        </a:rPr>
                        <a:t>Logistic regression</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C = 1</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0.74</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0.73 ± 0.03</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0.72</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0.79</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0.67</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E293B"/>
                          </a:solidFill>
                        </a:rPr>
                        <a:t>Decision tree</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depth 4</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0.76</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0.73 ± 0.03</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C2626"/>
                          </a:solidFill>
                        </a:rPr>
                        <a:t>0.67</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0.86</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93B"/>
                          </a:solidFill>
                        </a:rPr>
                        <a:t>0.55</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Shape 7"/>
          <p:cNvSpPr/>
          <p:nvPr/>
        </p:nvSpPr>
        <p:spPr>
          <a:xfrm>
            <a:off x="457200" y="3246120"/>
            <a:ext cx="2651760" cy="141732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457200" y="3246120"/>
            <a:ext cx="2651760" cy="347472"/>
          </a:xfrm>
          <a:prstGeom prst="rect">
            <a:avLst/>
          </a:prstGeom>
          <a:solidFill>
            <a:srgbClr val="F97316"/>
          </a:solidFill>
          <a:ln w="12700">
            <a:solidFill>
              <a:srgbClr val="F97316"/>
            </a:solidFill>
            <a:prstDash val="solid"/>
          </a:ln>
        </p:spPr>
      </p:sp>
      <p:sp>
        <p:nvSpPr>
          <p:cNvPr id="12" name="Text 9"/>
          <p:cNvSpPr/>
          <p:nvPr/>
        </p:nvSpPr>
        <p:spPr>
          <a:xfrm>
            <a:off x="566928" y="324612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Gap = overfitting</a:t>
            </a:r>
            <a:endParaRPr lang="en-US" sz="1150" dirty="0"/>
          </a:p>
        </p:txBody>
      </p:sp>
      <p:sp>
        <p:nvSpPr>
          <p:cNvPr id="13" name="Text 10"/>
          <p:cNvSpPr/>
          <p:nvPr/>
        </p:nvSpPr>
        <p:spPr>
          <a:xfrm>
            <a:off x="566928" y="3657600"/>
            <a:ext cx="2432304" cy="941832"/>
          </a:xfrm>
          <a:prstGeom prst="rect">
            <a:avLst/>
          </a:prstGeom>
          <a:noFill/>
          <a:ln/>
        </p:spPr>
        <p:txBody>
          <a:bodyPr wrap="square" lIns="0" tIns="0" rIns="0" bIns="0" rtlCol="0" anchor="t"/>
          <a:lstStyle/>
          <a:p>
            <a:pPr indent="0" marL="0">
              <a:buNone/>
            </a:pPr>
            <a:r>
              <a:rPr lang="en-US" sz="1000" dirty="0">
                <a:solidFill>
                  <a:srgbClr val="1E293B"/>
                </a:solidFill>
              </a:rPr>
              <a:t>train much higher than practice or test? It memorised. The tree drops the most on the test.</a:t>
            </a:r>
            <a:endParaRPr lang="en-US" sz="1000" dirty="0"/>
          </a:p>
        </p:txBody>
      </p:sp>
      <p:sp>
        <p:nvSpPr>
          <p:cNvPr id="14" name="Shape 11"/>
          <p:cNvSpPr/>
          <p:nvPr/>
        </p:nvSpPr>
        <p:spPr>
          <a:xfrm>
            <a:off x="3246120" y="3246120"/>
            <a:ext cx="2651760" cy="141732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5" name="Shape 12"/>
          <p:cNvSpPr/>
          <p:nvPr/>
        </p:nvSpPr>
        <p:spPr>
          <a:xfrm>
            <a:off x="3246120" y="3246120"/>
            <a:ext cx="2651760" cy="347472"/>
          </a:xfrm>
          <a:prstGeom prst="rect">
            <a:avLst/>
          </a:prstGeom>
          <a:solidFill>
            <a:srgbClr val="0D9488"/>
          </a:solidFill>
          <a:ln w="12700">
            <a:solidFill>
              <a:srgbClr val="0D9488"/>
            </a:solidFill>
            <a:prstDash val="solid"/>
          </a:ln>
        </p:spPr>
      </p:sp>
      <p:sp>
        <p:nvSpPr>
          <p:cNvPr id="16" name="Text 13"/>
          <p:cNvSpPr/>
          <p:nvPr/>
        </p:nvSpPr>
        <p:spPr>
          <a:xfrm>
            <a:off x="3355848" y="324612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Inside the luck band = a tie</a:t>
            </a:r>
            <a:endParaRPr lang="en-US" sz="1150" dirty="0"/>
          </a:p>
        </p:txBody>
      </p:sp>
      <p:sp>
        <p:nvSpPr>
          <p:cNvPr id="17" name="Text 14"/>
          <p:cNvSpPr/>
          <p:nvPr/>
        </p:nvSpPr>
        <p:spPr>
          <a:xfrm>
            <a:off x="3355848" y="3657600"/>
            <a:ext cx="2432304" cy="941832"/>
          </a:xfrm>
          <a:prstGeom prst="rect">
            <a:avLst/>
          </a:prstGeom>
          <a:noFill/>
          <a:ln/>
        </p:spPr>
        <p:txBody>
          <a:bodyPr wrap="square" lIns="0" tIns="0" rIns="0" bIns="0" rtlCol="0" anchor="t"/>
          <a:lstStyle/>
          <a:p>
            <a:pPr indent="0" marL="0">
              <a:buNone/>
            </a:pPr>
            <a:r>
              <a:rPr lang="en-US" sz="1000" dirty="0">
                <a:solidFill>
                  <a:srgbClr val="1E293B"/>
                </a:solidFill>
              </a:rPr>
              <a:t>0.75 vs 0.73 with a spread of ±0.03 is luck, not skill. Choose on other grounds.</a:t>
            </a:r>
            <a:endParaRPr lang="en-US" sz="1000" dirty="0"/>
          </a:p>
        </p:txBody>
      </p:sp>
      <p:sp>
        <p:nvSpPr>
          <p:cNvPr id="18" name="Shape 15"/>
          <p:cNvSpPr/>
          <p:nvPr/>
        </p:nvSpPr>
        <p:spPr>
          <a:xfrm>
            <a:off x="6035040" y="3246120"/>
            <a:ext cx="2651760" cy="1417320"/>
          </a:xfrm>
          <a:prstGeom prst="rect">
            <a:avLst/>
          </a:prstGeom>
          <a:solidFill>
            <a:srgbClr val="FFFFFF"/>
          </a:solidFill>
          <a:ln w="12700">
            <a:solidFill>
              <a:srgbClr val="1C4587"/>
            </a:solidFill>
            <a:prstDash val="solid"/>
          </a:ln>
          <a:effectLst>
            <a:outerShdw sx="100000" sy="100000" kx="0" ky="0" algn="bl" rotWithShape="0" blurRad="101600" dist="38100" dir="8100000">
              <a:srgbClr val="000000">
                <a:alpha val="12000"/>
              </a:srgbClr>
            </a:outerShdw>
          </a:effectLst>
        </p:spPr>
      </p:sp>
      <p:sp>
        <p:nvSpPr>
          <p:cNvPr id="19" name="Shape 16"/>
          <p:cNvSpPr/>
          <p:nvPr/>
        </p:nvSpPr>
        <p:spPr>
          <a:xfrm>
            <a:off x="6035040" y="3246120"/>
            <a:ext cx="2651760" cy="347472"/>
          </a:xfrm>
          <a:prstGeom prst="rect">
            <a:avLst/>
          </a:prstGeom>
          <a:solidFill>
            <a:srgbClr val="1C4587"/>
          </a:solidFill>
          <a:ln w="12700">
            <a:solidFill>
              <a:srgbClr val="1C4587"/>
            </a:solidFill>
            <a:prstDash val="solid"/>
          </a:ln>
        </p:spPr>
      </p:sp>
      <p:sp>
        <p:nvSpPr>
          <p:cNvPr id="20" name="Text 17"/>
          <p:cNvSpPr/>
          <p:nvPr/>
        </p:nvSpPr>
        <p:spPr>
          <a:xfrm>
            <a:off x="6144768" y="3246120"/>
            <a:ext cx="2432304" cy="347472"/>
          </a:xfrm>
          <a:prstGeom prst="rect">
            <a:avLst/>
          </a:prstGeom>
          <a:noFill/>
          <a:ln/>
        </p:spPr>
        <p:txBody>
          <a:bodyPr wrap="square" lIns="0" tIns="0" rIns="0" bIns="0" rtlCol="0" anchor="ctr"/>
          <a:lstStyle/>
          <a:p>
            <a:pPr indent="0" marL="0">
              <a:buNone/>
            </a:pPr>
            <a:r>
              <a:rPr lang="en-US" sz="1150" b="1" dirty="0">
                <a:solidFill>
                  <a:srgbClr val="FFFFFF"/>
                </a:solidFill>
              </a:rPr>
              <a:t>Recommend with reasons</a:t>
            </a:r>
            <a:endParaRPr lang="en-US" sz="1150" dirty="0"/>
          </a:p>
        </p:txBody>
      </p:sp>
      <p:sp>
        <p:nvSpPr>
          <p:cNvPr id="21" name="Text 18"/>
          <p:cNvSpPr/>
          <p:nvPr/>
        </p:nvSpPr>
        <p:spPr>
          <a:xfrm>
            <a:off x="6144768" y="3657600"/>
            <a:ext cx="2432304" cy="941832"/>
          </a:xfrm>
          <a:prstGeom prst="rect">
            <a:avLst/>
          </a:prstGeom>
          <a:noFill/>
          <a:ln/>
        </p:spPr>
        <p:txBody>
          <a:bodyPr wrap="square" lIns="0" tIns="0" rIns="0" bIns="0" rtlCol="0" anchor="t"/>
          <a:lstStyle/>
          <a:p>
            <a:pPr indent="0" marL="0">
              <a:buNone/>
            </a:pPr>
            <a:r>
              <a:rPr lang="en-US" sz="1000" dirty="0">
                <a:solidFill>
                  <a:srgbClr val="1E293B"/>
                </a:solidFill>
              </a:rPr>
              <a:t>Logistic regression: gives a probability, every weight explainable. "None of them" is allowed too.</a:t>
            </a:r>
            <a:endParaRPr lang="en-US" sz="1000" dirty="0"/>
          </a:p>
        </p:txBody>
      </p:sp>
      <p:sp>
        <p:nvSpPr>
          <p:cNvPr id="22" name="Text 19"/>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23" name="Text 20"/>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4" name="Text 2"/>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WRAP-UP  ·  STEP 8</a:t>
            </a:r>
            <a:endParaRPr lang="en-US" sz="800" dirty="0"/>
          </a:p>
        </p:txBody>
      </p:sp>
      <p:sp>
        <p:nvSpPr>
          <p:cNvPr id="5" name="Shape 3"/>
          <p:cNvSpPr/>
          <p:nvPr/>
        </p:nvSpPr>
        <p:spPr>
          <a:xfrm>
            <a:off x="7818120" y="164592"/>
            <a:ext cx="868680" cy="868680"/>
          </a:xfrm>
          <a:prstGeom prst="ellipse">
            <a:avLst/>
          </a:prstGeom>
          <a:solidFill>
            <a:srgbClr val="0D9488"/>
          </a:solidFill>
          <a:ln w="12700">
            <a:solidFill>
              <a:srgbClr val="FFFFFF"/>
            </a:solidFill>
            <a:prstDash val="solid"/>
          </a:ln>
        </p:spPr>
      </p:sp>
      <p:sp>
        <p:nvSpPr>
          <p:cNvPr id="6" name="Text 4"/>
          <p:cNvSpPr/>
          <p:nvPr/>
        </p:nvSpPr>
        <p:spPr>
          <a:xfrm>
            <a:off x="7818120" y="164592"/>
            <a:ext cx="868680" cy="868680"/>
          </a:xfrm>
          <a:prstGeom prst="rect">
            <a:avLst/>
          </a:prstGeom>
          <a:noFill/>
          <a:ln/>
        </p:spPr>
        <p:txBody>
          <a:bodyPr wrap="square" lIns="0" tIns="0" rIns="0" bIns="0" rtlCol="0" anchor="ctr"/>
          <a:lstStyle/>
          <a:p>
            <a:pPr algn="ctr" indent="0" marL="0">
              <a:buNone/>
            </a:pPr>
            <a:r>
              <a:rPr lang="en-US" sz="700" b="1" dirty="0">
                <a:solidFill>
                  <a:srgbClr val="FFFFFF"/>
                </a:solidFill>
              </a:rPr>
              <a:t>STEP</a:t>
            </a:r>
            <a:endParaRPr lang="en-US" sz="700" dirty="0"/>
          </a:p>
          <a:p>
            <a:pPr algn="ctr" indent="0" marL="0">
              <a:buNone/>
            </a:pPr>
            <a:r>
              <a:rPr lang="en-US" sz="2200" b="1" dirty="0">
                <a:solidFill>
                  <a:srgbClr val="FFFFFF"/>
                </a:solidFill>
              </a:rPr>
              <a:t>8</a:t>
            </a:r>
            <a:endParaRPr lang="en-US" sz="700" dirty="0"/>
          </a:p>
        </p:txBody>
      </p:sp>
      <p:sp>
        <p:nvSpPr>
          <p:cNvPr id="7" name="Text 5"/>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A2342"/>
                </a:solidFill>
              </a:rPr>
              <a:t>Check the groups, then use it</a:t>
            </a:r>
            <a:endParaRPr lang="en-US" sz="2400" dirty="0"/>
          </a:p>
        </p:txBody>
      </p:sp>
      <p:sp>
        <p:nvSpPr>
          <p:cNvPr id="8" name="Text 6"/>
          <p:cNvSpPr/>
          <p:nvPr/>
        </p:nvSpPr>
        <p:spPr>
          <a:xfrm>
            <a:off x="457200" y="987552"/>
            <a:ext cx="8229600" cy="320040"/>
          </a:xfrm>
          <a:prstGeom prst="rect">
            <a:avLst/>
          </a:prstGeom>
          <a:noFill/>
          <a:ln/>
        </p:spPr>
        <p:txBody>
          <a:bodyPr wrap="square" lIns="0" tIns="0" rIns="0" bIns="0" rtlCol="0" anchor="ctr"/>
          <a:lstStyle/>
          <a:p>
            <a:pPr indent="0" marL="0">
              <a:buNone/>
            </a:pPr>
            <a:r>
              <a:rPr lang="en-US" sz="1300" i="1" dirty="0">
                <a:solidFill>
                  <a:srgbClr val="64748B"/>
                </a:solidFill>
              </a:rPr>
              <a:t>One average can hide that a model works for one group and fails another.</a:t>
            </a:r>
            <a:endParaRPr lang="en-US" sz="1300" dirty="0"/>
          </a:p>
        </p:txBody>
      </p:sp>
      <p:pic>
        <p:nvPicPr>
          <p:cNvPr id="9" name="Image 0" descr="Week 5/wrapup_assets/group_recall.png">    </p:cNvPr>
          <p:cNvPicPr>
            <a:picLocks noChangeAspect="1"/>
          </p:cNvPicPr>
          <p:nvPr/>
        </p:nvPicPr>
        <p:blipFill>
          <a:blip r:embed="rId1"/>
          <a:stretch>
            <a:fillRect/>
          </a:stretch>
        </p:blipFill>
        <p:spPr>
          <a:xfrm>
            <a:off x="457200" y="1371600"/>
            <a:ext cx="4572000" cy="2569464"/>
          </a:xfrm>
          <a:prstGeom prst="rect">
            <a:avLst/>
          </a:prstGeom>
        </p:spPr>
      </p:pic>
      <p:sp>
        <p:nvSpPr>
          <p:cNvPr id="10" name="Text 7"/>
          <p:cNvSpPr/>
          <p:nvPr/>
        </p:nvSpPr>
        <p:spPr>
          <a:xfrm>
            <a:off x="457200" y="3977640"/>
            <a:ext cx="4572000" cy="777240"/>
          </a:xfrm>
          <a:prstGeom prst="rect">
            <a:avLst/>
          </a:prstGeom>
          <a:noFill/>
          <a:ln/>
        </p:spPr>
        <p:txBody>
          <a:bodyPr wrap="square" lIns="0" tIns="0" rIns="0" bIns="0" rtlCol="0" anchor="t"/>
          <a:lstStyle/>
          <a:p>
            <a:pPr indent="0" marL="0">
              <a:buNone/>
            </a:pPr>
            <a:r>
              <a:rPr lang="en-US" sz="1050" b="1" dirty="0">
                <a:solidFill>
                  <a:srgbClr val="0A2342"/>
                </a:solidFill>
              </a:rPr>
              <a:t>It learned the rule of 1912 — "women and children first" — and turned it into "women survive, men do not".</a:t>
            </a:r>
            <a:endParaRPr lang="en-US" sz="1050" dirty="0"/>
          </a:p>
          <a:p>
            <a:pPr indent="0" marL="0">
              <a:buNone/>
            </a:pPr>
            <a:r>
              <a:rPr lang="en-US" sz="1050" dirty="0">
                <a:solidFill>
                  <a:srgbClr val="1E293B"/>
                </a:solidFill>
              </a:rPr>
              <a:t>The history inside the data becomes the model's rule. All three models learned it; a better algorithm does not fix it — checking and writing it down does.</a:t>
            </a:r>
            <a:endParaRPr lang="en-US" sz="1050" dirty="0"/>
          </a:p>
        </p:txBody>
      </p:sp>
      <p:sp>
        <p:nvSpPr>
          <p:cNvPr id="11" name="Text 8"/>
          <p:cNvSpPr/>
          <p:nvPr/>
        </p:nvSpPr>
        <p:spPr>
          <a:xfrm>
            <a:off x="5303520" y="1417320"/>
            <a:ext cx="3383280" cy="457200"/>
          </a:xfrm>
          <a:prstGeom prst="rect">
            <a:avLst/>
          </a:prstGeom>
          <a:noFill/>
          <a:ln/>
        </p:spPr>
        <p:txBody>
          <a:bodyPr wrap="square" lIns="0" tIns="0" rIns="0" bIns="0" rtlCol="0" anchor="t"/>
          <a:lstStyle/>
          <a:p>
            <a:pPr indent="0" marL="0">
              <a:buNone/>
            </a:pPr>
            <a:r>
              <a:rPr lang="en-US" sz="1100" b="1" dirty="0">
                <a:solidFill>
                  <a:srgbClr val="0A2342"/>
                </a:solidFill>
              </a:rPr>
              <a:t>Then use it: a new case in, an answer and a probability out</a:t>
            </a:r>
            <a:endParaRPr lang="en-US" sz="1100" dirty="0"/>
          </a:p>
        </p:txBody>
      </p:sp>
      <p:sp>
        <p:nvSpPr>
          <p:cNvPr id="12" name="Shape 9"/>
          <p:cNvSpPr/>
          <p:nvPr/>
        </p:nvSpPr>
        <p:spPr>
          <a:xfrm>
            <a:off x="5303520" y="1920240"/>
            <a:ext cx="3383280" cy="1828800"/>
          </a:xfrm>
          <a:prstGeom prst="rect">
            <a:avLst/>
          </a:prstGeom>
          <a:solidFill>
            <a:srgbClr val="1E1E2E"/>
          </a:solidFill>
          <a:ln w="12700">
            <a:solidFill>
              <a:srgbClr val="374151"/>
            </a:solidFill>
            <a:prstDash val="solid"/>
          </a:ln>
          <a:effectLst>
            <a:outerShdw sx="100000" sy="100000" kx="0" ky="0" algn="bl" rotWithShape="0" blurRad="101600" dist="38100" dir="8100000">
              <a:srgbClr val="000000">
                <a:alpha val="12000"/>
              </a:srgbClr>
            </a:outerShdw>
          </a:effectLst>
        </p:spPr>
      </p:sp>
      <p:sp>
        <p:nvSpPr>
          <p:cNvPr id="13" name="Text 10"/>
          <p:cNvSpPr/>
          <p:nvPr/>
        </p:nvSpPr>
        <p:spPr>
          <a:xfrm>
            <a:off x="5440680" y="2011680"/>
            <a:ext cx="3108960" cy="1645920"/>
          </a:xfrm>
          <a:prstGeom prst="rect">
            <a:avLst/>
          </a:prstGeom>
          <a:noFill/>
          <a:ln/>
        </p:spPr>
        <p:txBody>
          <a:bodyPr wrap="square" lIns="0" tIns="0" rIns="0" bIns="0" rtlCol="0" anchor="t"/>
          <a:lstStyle/>
          <a:p>
            <a:pPr indent="0" marL="0">
              <a:buNone/>
            </a:pPr>
            <a:r>
              <a:rPr lang="en-US" sz="950" dirty="0">
                <a:solidFill>
                  <a:srgbClr val="A8FF60"/>
                </a:solidFill>
                <a:latin typeface="Consolas" pitchFamily="34" charset="0"/>
                <a:ea typeface="Consolas" pitchFamily="34" charset="-122"/>
                <a:cs typeface="Consolas" pitchFamily="34" charset="-120"/>
              </a:rPr>
              <a:t>new = pd.DataFrame([{"pclass": 3,</a:t>
            </a: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    "sex": "male", "age": 25,</a:t>
            </a: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    "sibsp": 0, "parch": 0,</a:t>
            </a: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    "fare": 8.0, "embarked": "S"}])</a:t>
            </a:r>
            <a:endParaRPr lang="en-US" sz="950" dirty="0"/>
          </a:p>
          <a:p>
            <a:pPr indent="0" marL="0">
              <a:buNone/>
            </a:pP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model.predict(new)        # [0]</a:t>
            </a:r>
            <a:endParaRPr lang="en-US" sz="950" dirty="0"/>
          </a:p>
          <a:p>
            <a:pPr indent="0" marL="0">
              <a:buNone/>
            </a:pPr>
            <a:r>
              <a:rPr lang="en-US" sz="950" dirty="0">
                <a:solidFill>
                  <a:srgbClr val="A8FF60"/>
                </a:solidFill>
                <a:latin typeface="Consolas" pitchFamily="34" charset="0"/>
                <a:ea typeface="Consolas" pitchFamily="34" charset="-122"/>
                <a:cs typeface="Consolas" pitchFamily="34" charset="-120"/>
              </a:rPr>
              <a:t>model.predict_proba(new)  # 10 % survive</a:t>
            </a:r>
            <a:endParaRPr lang="en-US" sz="950" dirty="0"/>
          </a:p>
        </p:txBody>
      </p:sp>
      <p:sp>
        <p:nvSpPr>
          <p:cNvPr id="14" name="Text 11"/>
          <p:cNvSpPr/>
          <p:nvPr/>
        </p:nvSpPr>
        <p:spPr>
          <a:xfrm>
            <a:off x="5303520" y="3840480"/>
            <a:ext cx="3383280" cy="731520"/>
          </a:xfrm>
          <a:prstGeom prst="rect">
            <a:avLst/>
          </a:prstGeom>
          <a:noFill/>
          <a:ln/>
        </p:spPr>
        <p:txBody>
          <a:bodyPr wrap="square" lIns="0" tIns="0" rIns="0" bIns="0" rtlCol="0" anchor="t"/>
          <a:lstStyle/>
          <a:p>
            <a:pPr indent="0" marL="0">
              <a:buNone/>
            </a:pPr>
            <a:r>
              <a:rPr lang="en-US" sz="1000" i="1" dirty="0">
                <a:solidFill>
                  <a:srgbClr val="0D9488"/>
                </a:solidFill>
              </a:rPr>
              <a:t>Always show the probability: "survived, 51 % sure" is a very different message from "95 % sure".</a:t>
            </a:r>
            <a:endParaRPr lang="en-US" sz="1000" dirty="0"/>
          </a:p>
        </p:txBody>
      </p:sp>
      <p:sp>
        <p:nvSpPr>
          <p:cNvPr id="15" name="Text 12"/>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16" name="Text 13"/>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sp>
      <p:sp>
        <p:nvSpPr>
          <p:cNvPr id="3" name="Shape 1"/>
          <p:cNvSpPr/>
          <p:nvPr/>
        </p:nvSpPr>
        <p:spPr>
          <a:xfrm>
            <a:off x="5943600" y="73152"/>
            <a:ext cx="3200400" cy="5070348"/>
          </a:xfrm>
          <a:prstGeom prst="rect">
            <a:avLst/>
          </a:prstGeom>
          <a:solidFill>
            <a:srgbClr val="0D9488"/>
          </a:solidFill>
          <a:ln w="12700">
            <a:solidFill>
              <a:srgbClr val="0D9488"/>
            </a:solidFill>
            <a:prstDash val="solid"/>
          </a:ln>
        </p:spPr>
      </p:sp>
      <p:sp>
        <p:nvSpPr>
          <p:cNvPr id="4" name="Shape 2"/>
          <p:cNvSpPr/>
          <p:nvPr/>
        </p:nvSpPr>
        <p:spPr>
          <a:xfrm>
            <a:off x="5943600" y="73152"/>
            <a:ext cx="3200400" cy="5070348"/>
          </a:xfrm>
          <a:prstGeom prst="rect">
            <a:avLst/>
          </a:prstGeom>
          <a:solidFill>
            <a:srgbClr val="1C4587">
              <a:alpha val="60000"/>
            </a:srgbClr>
          </a:solidFill>
          <a:ln w="12700">
            <a:solidFill>
              <a:srgbClr val="1C4587">
                <a:alpha val="60000"/>
              </a:srgbClr>
            </a:solidFill>
            <a:prstDash val="solid"/>
          </a:ln>
        </p:spPr>
      </p:sp>
      <p:sp>
        <p:nvSpPr>
          <p:cNvPr id="5" name="Shape 3"/>
          <p:cNvSpPr/>
          <p:nvPr/>
        </p:nvSpPr>
        <p:spPr>
          <a:xfrm>
            <a:off x="457200" y="201168"/>
            <a:ext cx="2377440" cy="274320"/>
          </a:xfrm>
          <a:prstGeom prst="roundRect">
            <a:avLst>
              <a:gd name="adj" fmla="val 33333"/>
            </a:avLst>
          </a:prstGeom>
          <a:solidFill>
            <a:srgbClr val="F97316"/>
          </a:solidFill>
          <a:ln w="12700">
            <a:solidFill>
              <a:srgbClr val="F97316"/>
            </a:solidFill>
            <a:prstDash val="solid"/>
          </a:ln>
        </p:spPr>
      </p:sp>
      <p:sp>
        <p:nvSpPr>
          <p:cNvPr id="6" name="Text 4"/>
          <p:cNvSpPr/>
          <p:nvPr/>
        </p:nvSpPr>
        <p:spPr>
          <a:xfrm>
            <a:off x="457200" y="201168"/>
            <a:ext cx="237744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rPr>
              <a:t>CHECKLIST  ·  BEFORE FRIDAY</a:t>
            </a:r>
            <a:endParaRPr lang="en-US" sz="800" dirty="0"/>
          </a:p>
        </p:txBody>
      </p:sp>
      <p:sp>
        <p:nvSpPr>
          <p:cNvPr id="7" name="Text 5"/>
          <p:cNvSpPr/>
          <p:nvPr/>
        </p:nvSpPr>
        <p:spPr>
          <a:xfrm>
            <a:off x="457200" y="548640"/>
            <a:ext cx="5303520" cy="502920"/>
          </a:xfrm>
          <a:prstGeom prst="rect">
            <a:avLst/>
          </a:prstGeom>
          <a:noFill/>
          <a:ln/>
        </p:spPr>
        <p:txBody>
          <a:bodyPr wrap="square" lIns="0" tIns="0" rIns="0" bIns="0" rtlCol="0" anchor="ctr"/>
          <a:lstStyle/>
          <a:p>
            <a:pPr indent="0" marL="0">
              <a:buNone/>
            </a:pPr>
            <a:r>
              <a:rPr lang="en-US" sz="2400" b="1" dirty="0">
                <a:solidFill>
                  <a:srgbClr val="FFFFFF"/>
                </a:solidFill>
              </a:rPr>
              <a:t>Ways to fail without noticing</a:t>
            </a:r>
            <a:endParaRPr lang="en-US" sz="2400" dirty="0"/>
          </a:p>
        </p:txBody>
      </p:sp>
      <p:sp>
        <p:nvSpPr>
          <p:cNvPr id="8" name="Text 6"/>
          <p:cNvSpPr/>
          <p:nvPr/>
        </p:nvSpPr>
        <p:spPr>
          <a:xfrm>
            <a:off x="457200" y="1188720"/>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9" name="Text 7"/>
          <p:cNvSpPr/>
          <p:nvPr/>
        </p:nvSpPr>
        <p:spPr>
          <a:xfrm>
            <a:off x="822960" y="1188720"/>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looked at gaps, balance, weird values and cheat columns — and wrote down what I decided</a:t>
            </a:r>
            <a:endParaRPr lang="en-US" sz="1050" dirty="0"/>
          </a:p>
        </p:txBody>
      </p:sp>
      <p:sp>
        <p:nvSpPr>
          <p:cNvPr id="10" name="Text 8"/>
          <p:cNvSpPr/>
          <p:nvPr/>
        </p:nvSpPr>
        <p:spPr>
          <a:xfrm>
            <a:off x="457200" y="1572768"/>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11" name="Text 9"/>
          <p:cNvSpPr/>
          <p:nvPr/>
        </p:nvSpPr>
        <p:spPr>
          <a:xfrm>
            <a:off x="822960" y="1572768"/>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split first, with stratify and a random_state</a:t>
            </a:r>
            <a:endParaRPr lang="en-US" sz="1050" dirty="0"/>
          </a:p>
        </p:txBody>
      </p:sp>
      <p:sp>
        <p:nvSpPr>
          <p:cNvPr id="12" name="Text 10"/>
          <p:cNvSpPr/>
          <p:nvPr/>
        </p:nvSpPr>
        <p:spPr>
          <a:xfrm>
            <a:off x="457200" y="1956816"/>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13" name="Text 11"/>
          <p:cNvSpPr/>
          <p:nvPr/>
        </p:nvSpPr>
        <p:spPr>
          <a:xfrm>
            <a:off x="822960" y="1956816"/>
            <a:ext cx="4937760" cy="329184"/>
          </a:xfrm>
          <a:prstGeom prst="rect">
            <a:avLst/>
          </a:prstGeom>
          <a:noFill/>
          <a:ln/>
        </p:spPr>
        <p:txBody>
          <a:bodyPr wrap="square" lIns="0" tIns="0" rIns="0" bIns="0" rtlCol="0" anchor="ctr"/>
          <a:lstStyle/>
          <a:p>
            <a:pPr indent="0" marL="0">
              <a:buNone/>
            </a:pPr>
            <a:r>
              <a:rPr lang="en-US" sz="1050" dirty="0">
                <a:solidFill>
                  <a:srgbClr val="E2E8F0"/>
                </a:solidFill>
              </a:rPr>
              <a:t>All cleaning is inside a Pipeline</a:t>
            </a:r>
            <a:endParaRPr lang="en-US" sz="1050" dirty="0"/>
          </a:p>
        </p:txBody>
      </p:sp>
      <p:sp>
        <p:nvSpPr>
          <p:cNvPr id="14" name="Text 12"/>
          <p:cNvSpPr/>
          <p:nvPr/>
        </p:nvSpPr>
        <p:spPr>
          <a:xfrm>
            <a:off x="457200" y="2340864"/>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15" name="Text 13"/>
          <p:cNvSpPr/>
          <p:nvPr/>
        </p:nvSpPr>
        <p:spPr>
          <a:xfrm>
            <a:off x="822960" y="2340864"/>
            <a:ext cx="4937760" cy="329184"/>
          </a:xfrm>
          <a:prstGeom prst="rect">
            <a:avLst/>
          </a:prstGeom>
          <a:noFill/>
          <a:ln/>
        </p:spPr>
        <p:txBody>
          <a:bodyPr wrap="square" lIns="0" tIns="0" rIns="0" bIns="0" rtlCol="0" anchor="ctr"/>
          <a:lstStyle/>
          <a:p>
            <a:pPr indent="0" marL="0">
              <a:buNone/>
            </a:pPr>
            <a:r>
              <a:rPr lang="en-US" sz="1050" dirty="0">
                <a:solidFill>
                  <a:srgbClr val="E2E8F0"/>
                </a:solidFill>
              </a:rPr>
              <a:t>My models beat the lazy model</a:t>
            </a:r>
            <a:endParaRPr lang="en-US" sz="1050" dirty="0"/>
          </a:p>
        </p:txBody>
      </p:sp>
      <p:sp>
        <p:nvSpPr>
          <p:cNvPr id="16" name="Text 14"/>
          <p:cNvSpPr/>
          <p:nvPr/>
        </p:nvSpPr>
        <p:spPr>
          <a:xfrm>
            <a:off x="457200" y="2724912"/>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17" name="Text 15"/>
          <p:cNvSpPr/>
          <p:nvPr/>
        </p:nvSpPr>
        <p:spPr>
          <a:xfrm>
            <a:off x="822960" y="2724912"/>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chose my scoreboard before training — for the people, not the number</a:t>
            </a:r>
            <a:endParaRPr lang="en-US" sz="1050" dirty="0"/>
          </a:p>
        </p:txBody>
      </p:sp>
      <p:sp>
        <p:nvSpPr>
          <p:cNvPr id="18" name="Text 16"/>
          <p:cNvSpPr/>
          <p:nvPr/>
        </p:nvSpPr>
        <p:spPr>
          <a:xfrm>
            <a:off x="457200" y="3108960"/>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19" name="Text 17"/>
          <p:cNvSpPr/>
          <p:nvPr/>
        </p:nvSpPr>
        <p:spPr>
          <a:xfrm>
            <a:off x="822960" y="3108960"/>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tuned with practice exams only, the same ones for every model</a:t>
            </a:r>
            <a:endParaRPr lang="en-US" sz="1050" dirty="0"/>
          </a:p>
        </p:txBody>
      </p:sp>
      <p:sp>
        <p:nvSpPr>
          <p:cNvPr id="20" name="Text 18"/>
          <p:cNvSpPr/>
          <p:nvPr/>
        </p:nvSpPr>
        <p:spPr>
          <a:xfrm>
            <a:off x="457200" y="3493008"/>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21" name="Text 19"/>
          <p:cNvSpPr/>
          <p:nvPr/>
        </p:nvSpPr>
        <p:spPr>
          <a:xfrm>
            <a:off x="822960" y="3493008"/>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opened the envelope once, and did not re-tune after</a:t>
            </a:r>
            <a:endParaRPr lang="en-US" sz="1050" dirty="0"/>
          </a:p>
        </p:txBody>
      </p:sp>
      <p:sp>
        <p:nvSpPr>
          <p:cNvPr id="22" name="Text 20"/>
          <p:cNvSpPr/>
          <p:nvPr/>
        </p:nvSpPr>
        <p:spPr>
          <a:xfrm>
            <a:off x="457200" y="3877056"/>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23" name="Text 21"/>
          <p:cNvSpPr/>
          <p:nvPr/>
        </p:nvSpPr>
        <p:spPr>
          <a:xfrm>
            <a:off x="822960" y="3877056"/>
            <a:ext cx="4937760" cy="329184"/>
          </a:xfrm>
          <a:prstGeom prst="rect">
            <a:avLst/>
          </a:prstGeom>
          <a:noFill/>
          <a:ln/>
        </p:spPr>
        <p:txBody>
          <a:bodyPr wrap="square" lIns="0" tIns="0" rIns="0" bIns="0" rtlCol="0" anchor="ctr"/>
          <a:lstStyle/>
          <a:p>
            <a:pPr indent="0" marL="0">
              <a:buNone/>
            </a:pPr>
            <a:r>
              <a:rPr lang="en-US" sz="1050" dirty="0">
                <a:solidFill>
                  <a:srgbClr val="E2E8F0"/>
                </a:solidFill>
              </a:rPr>
              <a:t>I checked the groups and wrote down who it serves worst</a:t>
            </a:r>
            <a:endParaRPr lang="en-US" sz="1050" dirty="0"/>
          </a:p>
        </p:txBody>
      </p:sp>
      <p:sp>
        <p:nvSpPr>
          <p:cNvPr id="24" name="Text 22"/>
          <p:cNvSpPr/>
          <p:nvPr/>
        </p:nvSpPr>
        <p:spPr>
          <a:xfrm>
            <a:off x="457200" y="4261104"/>
            <a:ext cx="320040" cy="329184"/>
          </a:xfrm>
          <a:prstGeom prst="rect">
            <a:avLst/>
          </a:prstGeom>
          <a:noFill/>
          <a:ln/>
        </p:spPr>
        <p:txBody>
          <a:bodyPr wrap="square" lIns="0" tIns="0" rIns="0" bIns="0" rtlCol="0" anchor="ctr"/>
          <a:lstStyle/>
          <a:p>
            <a:pPr indent="0" marL="0">
              <a:buNone/>
            </a:pPr>
            <a:r>
              <a:rPr lang="en-US" sz="1300" dirty="0">
                <a:solidFill>
                  <a:srgbClr val="0D9488"/>
                </a:solidFill>
              </a:rPr>
              <a:t>☐</a:t>
            </a:r>
            <a:endParaRPr lang="en-US" sz="1300" dirty="0"/>
          </a:p>
        </p:txBody>
      </p:sp>
      <p:sp>
        <p:nvSpPr>
          <p:cNvPr id="25" name="Text 23"/>
          <p:cNvSpPr/>
          <p:nvPr/>
        </p:nvSpPr>
        <p:spPr>
          <a:xfrm>
            <a:off x="822960" y="4261104"/>
            <a:ext cx="4937760" cy="329184"/>
          </a:xfrm>
          <a:prstGeom prst="rect">
            <a:avLst/>
          </a:prstGeom>
          <a:noFill/>
          <a:ln/>
        </p:spPr>
        <p:txBody>
          <a:bodyPr wrap="square" lIns="0" tIns="0" rIns="0" bIns="0" rtlCol="0" anchor="ctr"/>
          <a:lstStyle/>
          <a:p>
            <a:pPr indent="0" marL="0">
              <a:buNone/>
            </a:pPr>
            <a:r>
              <a:rPr lang="en-US" sz="1050" dirty="0">
                <a:solidFill>
                  <a:srgbClr val="E2E8F0"/>
                </a:solidFill>
              </a:rPr>
              <a:t>Restart &amp; Run All works, from raw file to final table</a:t>
            </a:r>
            <a:endParaRPr lang="en-US" sz="1050" dirty="0"/>
          </a:p>
        </p:txBody>
      </p:sp>
      <p:sp>
        <p:nvSpPr>
          <p:cNvPr id="26" name="Text 24"/>
          <p:cNvSpPr/>
          <p:nvPr/>
        </p:nvSpPr>
        <p:spPr>
          <a:xfrm>
            <a:off x="6126480" y="731520"/>
            <a:ext cx="2834640" cy="411480"/>
          </a:xfrm>
          <a:prstGeom prst="rect">
            <a:avLst/>
          </a:prstGeom>
          <a:noFill/>
          <a:ln/>
        </p:spPr>
        <p:txBody>
          <a:bodyPr wrap="square" lIns="0" tIns="0" rIns="0" bIns="0" rtlCol="0" anchor="ctr"/>
          <a:lstStyle/>
          <a:p>
            <a:pPr algn="ctr" indent="0" marL="0">
              <a:buNone/>
            </a:pPr>
            <a:r>
              <a:rPr lang="en-US" sz="2000" b="1" dirty="0">
                <a:solidFill>
                  <a:srgbClr val="FFFFFF"/>
                </a:solidFill>
              </a:rPr>
              <a:t>Homework</a:t>
            </a:r>
            <a:endParaRPr lang="en-US" sz="2000" dirty="0"/>
          </a:p>
        </p:txBody>
      </p:sp>
      <p:sp>
        <p:nvSpPr>
          <p:cNvPr id="27" name="Text 25"/>
          <p:cNvSpPr/>
          <p:nvPr/>
        </p:nvSpPr>
        <p:spPr>
          <a:xfrm>
            <a:off x="6126480" y="1234440"/>
            <a:ext cx="2834640" cy="2103120"/>
          </a:xfrm>
          <a:prstGeom prst="rect">
            <a:avLst/>
          </a:prstGeom>
          <a:noFill/>
          <a:ln/>
        </p:spPr>
        <p:txBody>
          <a:bodyPr wrap="square" lIns="0" tIns="0" rIns="0" bIns="0" rtlCol="0" anchor="t"/>
          <a:lstStyle/>
          <a:p>
            <a:pPr algn="ctr" indent="0" marL="0">
              <a:buNone/>
            </a:pPr>
            <a:r>
              <a:rPr lang="en-US" sz="1150" dirty="0">
                <a:solidFill>
                  <a:srgbClr val="FFFFFF"/>
                </a:solidFill>
              </a:rPr>
              <a:t>Run the last section of today's notebook to the end.</a:t>
            </a:r>
            <a:endParaRPr lang="en-US" sz="1150" dirty="0"/>
          </a:p>
          <a:p>
            <a:pPr algn="ctr" indent="0" marL="0">
              <a:buNone/>
            </a:pPr>
            <a:endParaRPr lang="en-US" sz="1150" dirty="0"/>
          </a:p>
          <a:p>
            <a:pPr algn="ctr" indent="0" marL="0">
              <a:buNone/>
            </a:pPr>
            <a:r>
              <a:rPr lang="en-US" sz="1150" dirty="0">
                <a:solidFill>
                  <a:srgbClr val="FFFFFF"/>
                </a:solidFill>
              </a:rPr>
              <a:t>Do the four "Your turn" cells.</a:t>
            </a:r>
            <a:endParaRPr lang="en-US" sz="1150" dirty="0"/>
          </a:p>
          <a:p>
            <a:pPr algn="ctr" indent="0" marL="0">
              <a:buNone/>
            </a:pPr>
            <a:endParaRPr lang="en-US" sz="1150" dirty="0"/>
          </a:p>
          <a:p>
            <a:pPr algn="ctr" indent="0" marL="0">
              <a:buNone/>
            </a:pPr>
            <a:r>
              <a:rPr lang="en-US" sz="1150" dirty="0">
                <a:solidFill>
                  <a:srgbClr val="FFFFFF"/>
                </a:solidFill>
              </a:rPr>
              <a:t>Check that pandas, scikit-learn and matplotlib import in your editor.</a:t>
            </a:r>
            <a:endParaRPr lang="en-US" sz="1150" dirty="0"/>
          </a:p>
        </p:txBody>
      </p:sp>
      <p:sp>
        <p:nvSpPr>
          <p:cNvPr id="28" name="Text 26"/>
          <p:cNvSpPr/>
          <p:nvPr/>
        </p:nvSpPr>
        <p:spPr>
          <a:xfrm>
            <a:off x="6126480" y="3429000"/>
            <a:ext cx="2834640" cy="1280160"/>
          </a:xfrm>
          <a:prstGeom prst="rect">
            <a:avLst/>
          </a:prstGeom>
          <a:noFill/>
          <a:ln/>
        </p:spPr>
        <p:txBody>
          <a:bodyPr wrap="square" lIns="0" tIns="0" rIns="0" bIns="0" rtlCol="0" anchor="t"/>
          <a:lstStyle/>
          <a:p>
            <a:pPr algn="ctr" indent="0" marL="0">
              <a:buNone/>
            </a:pPr>
            <a:r>
              <a:rPr lang="en-US" sz="1200" b="1" dirty="0">
                <a:solidFill>
                  <a:srgbClr val="CCFBF1"/>
                </a:solidFill>
              </a:rPr>
              <a:t>Friday: your pair, the SDG, and a dataset you find yourself.</a:t>
            </a:r>
            <a:endParaRPr lang="en-US" sz="1200" dirty="0"/>
          </a:p>
          <a:p>
            <a:pPr algn="ctr" indent="0" marL="0">
              <a:buNone/>
            </a:pPr>
            <a:endParaRPr lang="en-US" sz="1200" dirty="0"/>
          </a:p>
          <a:p>
            <a:pPr algn="ctr" indent="0" marL="0">
              <a:buNone/>
            </a:pPr>
            <a:r>
              <a:rPr lang="en-US" sz="1200" b="1" dirty="0">
                <a:solidFill>
                  <a:srgbClr val="CCFBF1"/>
                </a:solidFill>
              </a:rPr>
              <a:t>The model is one line.</a:t>
            </a:r>
            <a:endParaRPr lang="en-US" sz="1200" dirty="0"/>
          </a:p>
          <a:p>
            <a:pPr algn="ctr" indent="0" marL="0">
              <a:buNone/>
            </a:pPr>
            <a:r>
              <a:rPr lang="en-US" sz="1200" b="1" dirty="0">
                <a:solidFill>
                  <a:srgbClr val="CCFBF1"/>
                </a:solidFill>
              </a:rPr>
              <a:t>The recipe is the job.</a:t>
            </a:r>
            <a:endParaRPr lang="en-US" sz="1200" dirty="0"/>
          </a:p>
        </p:txBody>
      </p:sp>
      <p:sp>
        <p:nvSpPr>
          <p:cNvPr id="29" name="Text 27"/>
          <p:cNvSpPr/>
          <p:nvPr/>
        </p:nvSpPr>
        <p:spPr>
          <a:xfrm>
            <a:off x="457200" y="4846320"/>
            <a:ext cx="5486400" cy="228600"/>
          </a:xfrm>
          <a:prstGeom prst="rect">
            <a:avLst/>
          </a:prstGeom>
          <a:noFill/>
          <a:ln/>
        </p:spPr>
        <p:txBody>
          <a:bodyPr wrap="square" lIns="0" tIns="0" rIns="0" bIns="0" rtlCol="0" anchor="ctr"/>
          <a:lstStyle/>
          <a:p>
            <a:pPr indent="0" marL="0">
              <a:buNone/>
            </a:pPr>
            <a:r>
              <a:rPr lang="en-US" sz="800" dirty="0">
                <a:solidFill>
                  <a:srgbClr val="64748B"/>
                </a:solidFill>
              </a:rPr>
              <a:t>AI for Good  ·  Week 5 Thursday  ·  scikit-learn, done properly</a:t>
            </a:r>
            <a:endParaRPr lang="en-US" sz="800" dirty="0"/>
          </a:p>
        </p:txBody>
      </p:sp>
      <p:sp>
        <p:nvSpPr>
          <p:cNvPr id="30" name="Text 28"/>
          <p:cNvSpPr/>
          <p:nvPr/>
        </p:nvSpPr>
        <p:spPr>
          <a:xfrm>
            <a:off x="8046720" y="4846320"/>
            <a:ext cx="640080" cy="228600"/>
          </a:xfrm>
          <a:prstGeom prst="rect">
            <a:avLst/>
          </a:prstGeom>
          <a:noFill/>
          <a:ln/>
        </p:spPr>
        <p:txBody>
          <a:bodyPr wrap="square" lIns="0" tIns="0" rIns="0" bIns="0" rtlCol="0" anchor="ctr"/>
          <a:lstStyle/>
          <a:p>
            <a:pPr algn="r" indent="0" marL="0">
              <a:buNone/>
            </a:pPr>
            <a:r>
              <a:rPr lang="en-US" sz="800" dirty="0">
                <a:solidFill>
                  <a:srgbClr val="64748B"/>
                </a:solidFill>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 Wrap-up: scikit-learn, done properly</dc:title>
  <dc:subject>PptxGenJS Presentation</dc:subject>
  <dc:creator>AI for Good – Minor ADSAI</dc:creator>
  <cp:lastModifiedBy>AI for Good – Minor ADSAI</cp:lastModifiedBy>
  <cp:revision>1</cp:revision>
  <dcterms:created xsi:type="dcterms:W3CDTF">2026-09-28T18:18:22Z</dcterms:created>
  <dcterms:modified xsi:type="dcterms:W3CDTF">2026-09-28T18:18:22Z</dcterms:modified>
</cp:coreProperties>
</file>